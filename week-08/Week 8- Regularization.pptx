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6.xml" ContentType="application/vnd.openxmlformats-officedocument.presentationml.notesSlide+xml"/>
  <Override PartName="/ppt/charts/chart7.xml" ContentType="application/vnd.openxmlformats-officedocument.drawingml.chart+xml"/>
  <Override PartName="/ppt/notesSlides/notesSlide17.xml" ContentType="application/vnd.openxmlformats-officedocument.presentationml.notesSlide+xml"/>
  <Override PartName="/ppt/charts/chart8.xml" ContentType="application/vnd.openxmlformats-officedocument.drawingml.chart+xml"/>
  <Override PartName="/ppt/notesSlides/notesSlide18.xml" ContentType="application/vnd.openxmlformats-officedocument.presentationml.notesSlide+xml"/>
  <Override PartName="/ppt/charts/chart9.xml" ContentType="application/vnd.openxmlformats-officedocument.drawingml.chart+xml"/>
  <Override PartName="/ppt/notesSlides/notesSlide19.xml" ContentType="application/vnd.openxmlformats-officedocument.presentationml.notesSlide+xml"/>
  <Override PartName="/ppt/charts/chart10.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85" r:id="rId2"/>
    <p:sldId id="258" r:id="rId3"/>
    <p:sldId id="286" r:id="rId4"/>
    <p:sldId id="260" r:id="rId5"/>
    <p:sldId id="261" r:id="rId6"/>
    <p:sldId id="262" r:id="rId7"/>
    <p:sldId id="263" r:id="rId8"/>
    <p:sldId id="264" r:id="rId9"/>
    <p:sldId id="287" r:id="rId10"/>
    <p:sldId id="266" r:id="rId11"/>
    <p:sldId id="288" r:id="rId12"/>
    <p:sldId id="289" r:id="rId13"/>
    <p:sldId id="267" r:id="rId14"/>
    <p:sldId id="268" r:id="rId15"/>
    <p:sldId id="269" r:id="rId16"/>
    <p:sldId id="270" r:id="rId17"/>
    <p:sldId id="271" r:id="rId18"/>
    <p:sldId id="272" r:id="rId19"/>
    <p:sldId id="290"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A950FEE-1481-A8FC-652E-A77089BEFFDB}">
          <p14:sldIdLst>
            <p14:sldId id="285"/>
            <p14:sldId id="258"/>
          </p14:sldIdLst>
        </p14:section>
        <p14:section name="Part 1" id="{78F5E68B-8D61-B035-3B86-1FDFEF31B880}">
          <p14:sldIdLst>
            <p14:sldId id="286"/>
            <p14:sldId id="260"/>
            <p14:sldId id="261"/>
            <p14:sldId id="262"/>
            <p14:sldId id="263"/>
            <p14:sldId id="264"/>
          </p14:sldIdLst>
        </p14:section>
        <p14:section name="Part 2" id="{EFDB36B4-6F5F-E646-98BB-8C5F9AC98005}">
          <p14:sldIdLst>
            <p14:sldId id="287"/>
            <p14:sldId id="266"/>
            <p14:sldId id="288"/>
            <p14:sldId id="289"/>
            <p14:sldId id="267"/>
            <p14:sldId id="268"/>
            <p14:sldId id="269"/>
            <p14:sldId id="270"/>
            <p14:sldId id="271"/>
            <p14:sldId id="272"/>
          </p14:sldIdLst>
        </p14:section>
        <p14:section name="Part 3" id="{3C4911D1-0651-FA45-DD3B-D449045F42AB}">
          <p14:sldIdLst>
            <p14:sldId id="290"/>
            <p14:sldId id="274"/>
            <p14:sldId id="275"/>
            <p14:sldId id="276"/>
            <p14:sldId id="277"/>
            <p14:sldId id="278"/>
            <p14:sldId id="279"/>
            <p14:sldId id="280"/>
            <p14:sldId id="281"/>
            <p14:sldId id="282"/>
          </p14:sldIdLst>
        </p14:section>
        <p14:section name="Wrap-up" id="{0AE463E0-A794-0A00-F6ED-B0EE3F102776}">
          <p14:sldIdLst>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0" d="100"/>
          <a:sy n="60"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E2841"/>
                </a:solidFill>
                <a:latin typeface="+mn-lt"/>
              </a:defRPr>
            </a:pPr>
            <a:r>
              <a:rPr lang="en-US" sz="1400" b="0" i="0" u="none" strike="noStrike">
                <a:solidFill>
                  <a:srgbClr val="0E2841"/>
                </a:solidFill>
                <a:latin typeface="+mn-lt"/>
              </a:rPr>
              <a:t>Simulated data: error vs. number of features (MSE)</a:t>
            </a:r>
          </a:p>
        </c:rich>
      </c:tx>
      <c:overlay val="0"/>
    </c:title>
    <c:autoTitleDeleted val="0"/>
    <c:plotArea>
      <c:layout/>
      <c:lineChart>
        <c:grouping val="standard"/>
        <c:varyColors val="0"/>
        <c:ser>
          <c:idx val="0"/>
          <c:order val="0"/>
          <c:tx>
            <c:strRef>
              <c:f>Sheet1!$B$1</c:f>
              <c:strCache>
                <c:ptCount val="1"/>
                <c:pt idx="0">
                  <c:v>Training error</c:v>
                </c:pt>
              </c:strCache>
            </c:strRef>
          </c:tx>
          <c:spPr>
            <a:ln w="38100" cap="flat">
              <a:solidFill>
                <a:srgbClr val="156082"/>
              </a:solidFill>
              <a:prstDash val="solid"/>
              <a:round/>
            </a:ln>
            <a:effectLst/>
          </c:spPr>
          <c:marker>
            <c:symbol val="circle"/>
            <c:size val="7"/>
            <c:spPr>
              <a:solidFill>
                <a:srgbClr val="156082"/>
              </a:solidFill>
              <a:ln w="9525" cap="flat">
                <a:solidFill>
                  <a:srgbClr val="156082"/>
                </a:solidFill>
                <a:prstDash val="solid"/>
                <a:round/>
              </a:ln>
              <a:effectLst/>
            </c:spPr>
          </c:marker>
          <c:cat>
            <c:strRef>
              <c:f>Sheet1!$A$2:$A$7</c:f>
              <c:strCache>
                <c:ptCount val="6"/>
                <c:pt idx="0">
                  <c:v>1</c:v>
                </c:pt>
                <c:pt idx="1">
                  <c:v>5</c:v>
                </c:pt>
                <c:pt idx="2">
                  <c:v>10</c:v>
                </c:pt>
                <c:pt idx="3">
                  <c:v>20</c:v>
                </c:pt>
                <c:pt idx="4">
                  <c:v>30</c:v>
                </c:pt>
                <c:pt idx="5">
                  <c:v>35</c:v>
                </c:pt>
              </c:strCache>
            </c:strRef>
          </c:cat>
          <c:val>
            <c:numRef>
              <c:f>Sheet1!$B$2:$B$7</c:f>
              <c:numCache>
                <c:formatCode>General</c:formatCode>
                <c:ptCount val="6"/>
                <c:pt idx="0">
                  <c:v>14.007609553507962</c:v>
                </c:pt>
                <c:pt idx="1">
                  <c:v>3.6092653716345122</c:v>
                </c:pt>
                <c:pt idx="2">
                  <c:v>3.0936716407396014</c:v>
                </c:pt>
                <c:pt idx="3">
                  <c:v>2.0285112221779</c:v>
                </c:pt>
                <c:pt idx="4">
                  <c:v>1.0302202210103619</c:v>
                </c:pt>
                <c:pt idx="5">
                  <c:v>0.4597149837223764</c:v>
                </c:pt>
              </c:numCache>
            </c:numRef>
          </c:val>
          <c:smooth val="0"/>
          <c:extLst>
            <c:ext xmlns:c16="http://schemas.microsoft.com/office/drawing/2014/chart" uri="{C3380CC4-5D6E-409C-BE32-E72D297353CC}">
              <c16:uniqueId val="{00000000-45A6-4CA9-AF78-3FB8C739CD43}"/>
            </c:ext>
          </c:extLst>
        </c:ser>
        <c:ser>
          <c:idx val="1"/>
          <c:order val="1"/>
          <c:tx>
            <c:strRef>
              <c:f>Sheet1!$C$1</c:f>
              <c:strCache>
                <c:ptCount val="1"/>
                <c:pt idx="0">
                  <c:v>Test error</c:v>
                </c:pt>
              </c:strCache>
            </c:strRef>
          </c:tx>
          <c:spPr>
            <a:ln w="38100" cap="flat">
              <a:solidFill>
                <a:srgbClr val="E97132"/>
              </a:solidFill>
              <a:prstDash val="solid"/>
              <a:round/>
            </a:ln>
            <a:effectLst/>
          </c:spPr>
          <c:marker>
            <c:symbol val="circle"/>
            <c:size val="7"/>
            <c:spPr>
              <a:solidFill>
                <a:srgbClr val="E97132"/>
              </a:solidFill>
              <a:ln w="9525" cap="flat">
                <a:solidFill>
                  <a:srgbClr val="E97132"/>
                </a:solidFill>
                <a:prstDash val="solid"/>
                <a:round/>
              </a:ln>
              <a:effectLst/>
            </c:spPr>
          </c:marker>
          <c:cat>
            <c:strRef>
              <c:f>Sheet1!$A$2:$A$7</c:f>
              <c:strCache>
                <c:ptCount val="6"/>
                <c:pt idx="0">
                  <c:v>1</c:v>
                </c:pt>
                <c:pt idx="1">
                  <c:v>5</c:v>
                </c:pt>
                <c:pt idx="2">
                  <c:v>10</c:v>
                </c:pt>
                <c:pt idx="3">
                  <c:v>20</c:v>
                </c:pt>
                <c:pt idx="4">
                  <c:v>30</c:v>
                </c:pt>
                <c:pt idx="5">
                  <c:v>35</c:v>
                </c:pt>
              </c:strCache>
            </c:strRef>
          </c:cat>
          <c:val>
            <c:numRef>
              <c:f>Sheet1!$C$2:$C$7</c:f>
              <c:numCache>
                <c:formatCode>General</c:formatCode>
                <c:ptCount val="6"/>
                <c:pt idx="0">
                  <c:v>16.000009356118081</c:v>
                </c:pt>
                <c:pt idx="1">
                  <c:v>4.7311022069660478</c:v>
                </c:pt>
                <c:pt idx="2">
                  <c:v>5.6039082046018898</c:v>
                </c:pt>
                <c:pt idx="3">
                  <c:v>8.564687802275305</c:v>
                </c:pt>
                <c:pt idx="4">
                  <c:v>17.847108974294013</c:v>
                </c:pt>
                <c:pt idx="5">
                  <c:v>46.763600029015066</c:v>
                </c:pt>
              </c:numCache>
            </c:numRef>
          </c:val>
          <c:smooth val="0"/>
          <c:extLst>
            <c:ext xmlns:c16="http://schemas.microsoft.com/office/drawing/2014/chart" uri="{C3380CC4-5D6E-409C-BE32-E72D297353CC}">
              <c16:uniqueId val="{00000001-45A6-4CA9-AF78-3FB8C739CD4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4A5568"/>
                    </a:solidFill>
                    <a:latin typeface="+mn-lt"/>
                  </a:defRPr>
                </a:pPr>
                <a:r>
                  <a:rPr lang="en-US" sz="1200" b="0" i="0" u="none" strike="noStrike">
                    <a:solidFill>
                      <a:srgbClr val="4A5568"/>
                    </a:solidFill>
                    <a:latin typeface="+mn-lt"/>
                  </a:rPr>
                  <a:t>Number of features used (40 training rows)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1E1E1"/>
              </a:solidFill>
              <a:prstDash val="solid"/>
              <a:round/>
            </a:ln>
          </c:spPr>
        </c:majorGridlines>
        <c:title>
          <c:tx>
            <c:rich>
              <a:bodyPr/>
              <a:lstStyle/>
              <a:p>
                <a:pPr>
                  <a:defRPr sz="1200" b="0" i="0" u="none" strike="noStrike">
                    <a:solidFill>
                      <a:srgbClr val="4A5568"/>
                    </a:solidFill>
                    <a:latin typeface="+mn-lt"/>
                  </a:defRPr>
                </a:pPr>
                <a:r>
                  <a:rPr lang="en-US" sz="1200" b="0" i="0" u="none" strike="noStrike">
                    <a:solidFill>
                      <a:srgbClr val="4A5568"/>
                    </a:solidFill>
                    <a:latin typeface="+mn-lt"/>
                  </a:rPr>
                  <a:t>Mean squared error</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E28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E2841"/>
                </a:solidFill>
                <a:latin typeface="+mn-lt"/>
              </a:defRPr>
            </a:pPr>
            <a:r>
              <a:rPr lang="en-US" sz="1400" b="0" i="0" u="none" strike="noStrike">
                <a:solidFill>
                  <a:srgbClr val="0E2841"/>
                </a:solidFill>
                <a:latin typeface="+mn-lt"/>
              </a:rPr>
              <a:t>Illustrative curves (not real data)</a:t>
            </a:r>
          </a:p>
        </c:rich>
      </c:tx>
      <c:overlay val="0"/>
    </c:title>
    <c:autoTitleDeleted val="0"/>
    <c:plotArea>
      <c:layout/>
      <c:lineChart>
        <c:grouping val="standard"/>
        <c:varyColors val="0"/>
        <c:ser>
          <c:idx val="0"/>
          <c:order val="0"/>
          <c:tx>
            <c:strRef>
              <c:f>Sheet1!$B$1</c:f>
              <c:strCache>
                <c:ptCount val="1"/>
                <c:pt idx="0">
                  <c:v>Bias²</c:v>
                </c:pt>
              </c:strCache>
            </c:strRef>
          </c:tx>
          <c:spPr>
            <a:ln w="38100" cap="flat">
              <a:solidFill>
                <a:srgbClr val="156082"/>
              </a:solidFill>
              <a:prstDash val="solid"/>
              <a:round/>
            </a:ln>
            <a:effectLst/>
          </c:spPr>
          <c:marker>
            <c:symbol val="circle"/>
            <c:size val="5"/>
            <c:spPr>
              <a:solidFill>
                <a:srgbClr val="156082"/>
              </a:solidFill>
              <a:ln w="9525" cap="flat">
                <a:solidFill>
                  <a:srgbClr val="156082"/>
                </a:solidFill>
                <a:prstDash val="solid"/>
                <a:round/>
              </a:ln>
              <a:effectLst/>
            </c:spPr>
          </c:marker>
          <c:cat>
            <c:strRef>
              <c:f>Sheet1!$A$2:$A$9</c:f>
              <c:strCache>
                <c:ptCount val="8"/>
                <c:pt idx="0">
                  <c:v>Low</c:v>
                </c:pt>
                <c:pt idx="7">
                  <c:v>High</c:v>
                </c:pt>
              </c:strCache>
            </c:strRef>
          </c:cat>
          <c:val>
            <c:numRef>
              <c:f>Sheet1!$B$2:$B$9</c:f>
              <c:numCache>
                <c:formatCode>General</c:formatCode>
                <c:ptCount val="8"/>
                <c:pt idx="0">
                  <c:v>9</c:v>
                </c:pt>
                <c:pt idx="1">
                  <c:v>5.5</c:v>
                </c:pt>
                <c:pt idx="2">
                  <c:v>3.2</c:v>
                </c:pt>
                <c:pt idx="3">
                  <c:v>2</c:v>
                </c:pt>
                <c:pt idx="4">
                  <c:v>1.2</c:v>
                </c:pt>
                <c:pt idx="5">
                  <c:v>0.7</c:v>
                </c:pt>
                <c:pt idx="6">
                  <c:v>0.4</c:v>
                </c:pt>
                <c:pt idx="7">
                  <c:v>0.2</c:v>
                </c:pt>
              </c:numCache>
            </c:numRef>
          </c:val>
          <c:smooth val="0"/>
          <c:extLst>
            <c:ext xmlns:c16="http://schemas.microsoft.com/office/drawing/2014/chart" uri="{C3380CC4-5D6E-409C-BE32-E72D297353CC}">
              <c16:uniqueId val="{00000000-F648-456D-89E9-E6139AD9801F}"/>
            </c:ext>
          </c:extLst>
        </c:ser>
        <c:ser>
          <c:idx val="1"/>
          <c:order val="1"/>
          <c:tx>
            <c:strRef>
              <c:f>Sheet1!$C$1</c:f>
              <c:strCache>
                <c:ptCount val="1"/>
                <c:pt idx="0">
                  <c:v>Variance</c:v>
                </c:pt>
              </c:strCache>
            </c:strRef>
          </c:tx>
          <c:spPr>
            <a:ln w="38100" cap="flat">
              <a:solidFill>
                <a:srgbClr val="E97132"/>
              </a:solidFill>
              <a:prstDash val="solid"/>
              <a:round/>
            </a:ln>
            <a:effectLst/>
          </c:spPr>
          <c:marker>
            <c:symbol val="circle"/>
            <c:size val="5"/>
            <c:spPr>
              <a:solidFill>
                <a:srgbClr val="E97132"/>
              </a:solidFill>
              <a:ln w="9525" cap="flat">
                <a:solidFill>
                  <a:srgbClr val="E97132"/>
                </a:solidFill>
                <a:prstDash val="solid"/>
                <a:round/>
              </a:ln>
              <a:effectLst/>
            </c:spPr>
          </c:marker>
          <c:cat>
            <c:strRef>
              <c:f>Sheet1!$A$2:$A$9</c:f>
              <c:strCache>
                <c:ptCount val="8"/>
                <c:pt idx="0">
                  <c:v>Low</c:v>
                </c:pt>
                <c:pt idx="7">
                  <c:v>High</c:v>
                </c:pt>
              </c:strCache>
            </c:strRef>
          </c:cat>
          <c:val>
            <c:numRef>
              <c:f>Sheet1!$C$2:$C$9</c:f>
              <c:numCache>
                <c:formatCode>General</c:formatCode>
                <c:ptCount val="8"/>
                <c:pt idx="0">
                  <c:v>0.3</c:v>
                </c:pt>
                <c:pt idx="1">
                  <c:v>0.5</c:v>
                </c:pt>
                <c:pt idx="2">
                  <c:v>0.9</c:v>
                </c:pt>
                <c:pt idx="3">
                  <c:v>1.5</c:v>
                </c:pt>
                <c:pt idx="4">
                  <c:v>2.4</c:v>
                </c:pt>
                <c:pt idx="5">
                  <c:v>3.8</c:v>
                </c:pt>
                <c:pt idx="6">
                  <c:v>5.8</c:v>
                </c:pt>
                <c:pt idx="7">
                  <c:v>8.5</c:v>
                </c:pt>
              </c:numCache>
            </c:numRef>
          </c:val>
          <c:smooth val="0"/>
          <c:extLst>
            <c:ext xmlns:c16="http://schemas.microsoft.com/office/drawing/2014/chart" uri="{C3380CC4-5D6E-409C-BE32-E72D297353CC}">
              <c16:uniqueId val="{00000001-F648-456D-89E9-E6139AD9801F}"/>
            </c:ext>
          </c:extLst>
        </c:ser>
        <c:ser>
          <c:idx val="2"/>
          <c:order val="2"/>
          <c:tx>
            <c:strRef>
              <c:f>Sheet1!$D$1</c:f>
              <c:strCache>
                <c:ptCount val="1"/>
                <c:pt idx="0">
                  <c:v>Test error</c:v>
                </c:pt>
              </c:strCache>
            </c:strRef>
          </c:tx>
          <c:spPr>
            <a:ln w="38100" cap="flat">
              <a:solidFill>
                <a:srgbClr val="0E2841"/>
              </a:solidFill>
              <a:prstDash val="solid"/>
              <a:round/>
            </a:ln>
            <a:effectLst/>
          </c:spPr>
          <c:marker>
            <c:symbol val="circle"/>
            <c:size val="5"/>
            <c:spPr>
              <a:solidFill>
                <a:srgbClr val="0E2841"/>
              </a:solidFill>
              <a:ln w="9525" cap="flat">
                <a:solidFill>
                  <a:srgbClr val="0E2841"/>
                </a:solidFill>
                <a:prstDash val="solid"/>
                <a:round/>
              </a:ln>
              <a:effectLst/>
            </c:spPr>
          </c:marker>
          <c:cat>
            <c:strRef>
              <c:f>Sheet1!$A$2:$A$9</c:f>
              <c:strCache>
                <c:ptCount val="8"/>
                <c:pt idx="0">
                  <c:v>Low</c:v>
                </c:pt>
                <c:pt idx="7">
                  <c:v>High</c:v>
                </c:pt>
              </c:strCache>
            </c:strRef>
          </c:cat>
          <c:val>
            <c:numRef>
              <c:f>Sheet1!$D$2:$D$9</c:f>
              <c:numCache>
                <c:formatCode>General</c:formatCode>
                <c:ptCount val="8"/>
                <c:pt idx="0">
                  <c:v>10.8</c:v>
                </c:pt>
                <c:pt idx="1">
                  <c:v>7.5</c:v>
                </c:pt>
                <c:pt idx="2">
                  <c:v>5.6</c:v>
                </c:pt>
                <c:pt idx="3">
                  <c:v>5</c:v>
                </c:pt>
                <c:pt idx="4">
                  <c:v>5.0999999999999996</c:v>
                </c:pt>
                <c:pt idx="5">
                  <c:v>6</c:v>
                </c:pt>
                <c:pt idx="6">
                  <c:v>7.7</c:v>
                </c:pt>
                <c:pt idx="7">
                  <c:v>10.199999999999999</c:v>
                </c:pt>
              </c:numCache>
            </c:numRef>
          </c:val>
          <c:smooth val="0"/>
          <c:extLst>
            <c:ext xmlns:c16="http://schemas.microsoft.com/office/drawing/2014/chart" uri="{C3380CC4-5D6E-409C-BE32-E72D297353CC}">
              <c16:uniqueId val="{00000002-F648-456D-89E9-E6139AD9801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4A5568"/>
                    </a:solidFill>
                    <a:latin typeface="+mn-lt"/>
                  </a:defRPr>
                </a:pPr>
                <a:r>
                  <a:rPr lang="en-US" sz="1200" b="0" i="0" u="none" strike="noStrike">
                    <a:solidFill>
                      <a:srgbClr val="4A5568"/>
                    </a:solidFill>
                    <a:latin typeface="+mn-lt"/>
                  </a:rPr>
                  <a:t>Model flexibility</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1E1E1"/>
              </a:solidFill>
              <a:prstDash val="solid"/>
              <a:round/>
            </a:ln>
          </c:spPr>
        </c:majorGridlines>
        <c:title>
          <c:tx>
            <c:rich>
              <a:bodyPr/>
              <a:lstStyle/>
              <a:p>
                <a:pPr>
                  <a:defRPr sz="1200" b="0" i="0" u="none" strike="noStrike">
                    <a:solidFill>
                      <a:srgbClr val="4A5568"/>
                    </a:solidFill>
                    <a:latin typeface="+mn-lt"/>
                  </a:defRPr>
                </a:pPr>
                <a:r>
                  <a:rPr lang="en-US" sz="1200" b="0" i="0" u="none" strike="noStrike">
                    <a:solidFill>
                      <a:srgbClr val="4A5568"/>
                    </a:solidFill>
                    <a:latin typeface="+mn-lt"/>
                  </a:rPr>
                  <a:t>Error</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E28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E2841"/>
                </a:solidFill>
                <a:latin typeface="+mn-lt"/>
              </a:defRPr>
            </a:pPr>
            <a:r>
              <a:rPr lang="en-US" sz="1400" b="0" i="0" u="none" strike="noStrike">
                <a:solidFill>
                  <a:srgbClr val="0E2841"/>
                </a:solidFill>
                <a:latin typeface="+mn-lt"/>
              </a:rPr>
              <a:t>Diabetes data: ridge coefficients vs. </a:t>
            </a:r>
            <a:r>
              <a:rPr lang="el-GR" sz="1400" b="0" i="0" u="none" strike="noStrike">
                <a:solidFill>
                  <a:srgbClr val="0E2841"/>
                </a:solidFill>
                <a:latin typeface="+mn-lt"/>
              </a:rPr>
              <a:t>α</a:t>
            </a:r>
          </a:p>
        </c:rich>
      </c:tx>
      <c:overlay val="0"/>
    </c:title>
    <c:autoTitleDeleted val="0"/>
    <c:plotArea>
      <c:layout>
        <c:manualLayout>
          <c:layoutTarget val="inner"/>
          <c:xMode val="edge"/>
          <c:yMode val="edge"/>
          <c:x val="9.8469874954655062E-2"/>
          <c:y val="0.10260406151154183"/>
          <c:w val="0.82531061285022311"/>
          <c:h val="0.69010742647553669"/>
        </c:manualLayout>
      </c:layout>
      <c:lineChart>
        <c:grouping val="standard"/>
        <c:varyColors val="0"/>
        <c:ser>
          <c:idx val="0"/>
          <c:order val="0"/>
          <c:tx>
            <c:strRef>
              <c:f>Sheet1!$B$1</c:f>
              <c:strCache>
                <c:ptCount val="1"/>
                <c:pt idx="0">
                  <c:v>age</c:v>
                </c:pt>
              </c:strCache>
            </c:strRef>
          </c:tx>
          <c:spPr>
            <a:ln w="31750" cap="flat">
              <a:solidFill>
                <a:srgbClr val="B0B7C3"/>
              </a:solidFill>
              <a:prstDash val="solid"/>
              <a:round/>
            </a:ln>
            <a:effectLst/>
          </c:spPr>
          <c:marker>
            <c:symbol val="circle"/>
            <c:size val="5"/>
            <c:spPr>
              <a:solidFill>
                <a:srgbClr val="B0B7C3"/>
              </a:solidFill>
              <a:ln w="9525" cap="flat">
                <a:solidFill>
                  <a:srgbClr val="B0B7C3"/>
                </a:solidFill>
                <a:prstDash val="solid"/>
                <a:round/>
              </a:ln>
              <a:effectLst/>
            </c:spPr>
          </c:marker>
          <c:cat>
            <c:strRef>
              <c:f>Sheet1!$A$2:$A$7</c:f>
              <c:strCache>
                <c:ptCount val="6"/>
                <c:pt idx="0">
                  <c:v>0.01</c:v>
                </c:pt>
                <c:pt idx="1">
                  <c:v>0.1</c:v>
                </c:pt>
                <c:pt idx="2">
                  <c:v>1</c:v>
                </c:pt>
                <c:pt idx="3">
                  <c:v>10</c:v>
                </c:pt>
                <c:pt idx="4">
                  <c:v>100</c:v>
                </c:pt>
                <c:pt idx="5">
                  <c:v>1000</c:v>
                </c:pt>
              </c:strCache>
            </c:strRef>
          </c:cat>
          <c:val>
            <c:numRef>
              <c:f>Sheet1!$B$2:$B$7</c:f>
              <c:numCache>
                <c:formatCode>General</c:formatCode>
                <c:ptCount val="6"/>
                <c:pt idx="0">
                  <c:v>-0.47557985610816145</c:v>
                </c:pt>
                <c:pt idx="1">
                  <c:v>-0.47081379675801655</c:v>
                </c:pt>
                <c:pt idx="2">
                  <c:v>-0.43117265822489959</c:v>
                </c:pt>
                <c:pt idx="3">
                  <c:v>-0.25794900121144732</c:v>
                </c:pt>
                <c:pt idx="4">
                  <c:v>0.43614913091471869</c:v>
                </c:pt>
                <c:pt idx="5">
                  <c:v>1.6003631002546939</c:v>
                </c:pt>
              </c:numCache>
            </c:numRef>
          </c:val>
          <c:smooth val="0"/>
          <c:extLst>
            <c:ext xmlns:c16="http://schemas.microsoft.com/office/drawing/2014/chart" uri="{C3380CC4-5D6E-409C-BE32-E72D297353CC}">
              <c16:uniqueId val="{00000000-260A-46B9-8E91-CF0F21B18F0A}"/>
            </c:ext>
          </c:extLst>
        </c:ser>
        <c:ser>
          <c:idx val="1"/>
          <c:order val="1"/>
          <c:tx>
            <c:strRef>
              <c:f>Sheet1!$C$1</c:f>
              <c:strCache>
                <c:ptCount val="1"/>
                <c:pt idx="0">
                  <c:v>sex</c:v>
                </c:pt>
              </c:strCache>
            </c:strRef>
          </c:tx>
          <c:spPr>
            <a:ln w="31750" cap="flat">
              <a:solidFill>
                <a:srgbClr val="98A1B0"/>
              </a:solidFill>
              <a:prstDash val="solid"/>
              <a:round/>
            </a:ln>
            <a:effectLst/>
          </c:spPr>
          <c:marker>
            <c:symbol val="circle"/>
            <c:size val="5"/>
            <c:spPr>
              <a:solidFill>
                <a:srgbClr val="98A1B0"/>
              </a:solidFill>
              <a:ln w="9525" cap="flat">
                <a:solidFill>
                  <a:srgbClr val="98A1B0"/>
                </a:solidFill>
                <a:prstDash val="solid"/>
                <a:round/>
              </a:ln>
              <a:effectLst/>
            </c:spPr>
          </c:marker>
          <c:cat>
            <c:strRef>
              <c:f>Sheet1!$A$2:$A$7</c:f>
              <c:strCache>
                <c:ptCount val="6"/>
                <c:pt idx="0">
                  <c:v>0.01</c:v>
                </c:pt>
                <c:pt idx="1">
                  <c:v>0.1</c:v>
                </c:pt>
                <c:pt idx="2">
                  <c:v>1</c:v>
                </c:pt>
                <c:pt idx="3">
                  <c:v>10</c:v>
                </c:pt>
                <c:pt idx="4">
                  <c:v>100</c:v>
                </c:pt>
                <c:pt idx="5">
                  <c:v>1000</c:v>
                </c:pt>
              </c:strCache>
            </c:strRef>
          </c:cat>
          <c:val>
            <c:numRef>
              <c:f>Sheet1!$C$2:$C$7</c:f>
              <c:numCache>
                <c:formatCode>General</c:formatCode>
                <c:ptCount val="6"/>
                <c:pt idx="0">
                  <c:v>-11.406032029645768</c:v>
                </c:pt>
                <c:pt idx="1">
                  <c:v>-11.398632924900729</c:v>
                </c:pt>
                <c:pt idx="2">
                  <c:v>-11.333654931877646</c:v>
                </c:pt>
                <c:pt idx="3">
                  <c:v>-10.93635667389775</c:v>
                </c:pt>
                <c:pt idx="4">
                  <c:v>-8.4330679879517021</c:v>
                </c:pt>
                <c:pt idx="5">
                  <c:v>-1.6678163738554574</c:v>
                </c:pt>
              </c:numCache>
            </c:numRef>
          </c:val>
          <c:smooth val="0"/>
          <c:extLst>
            <c:ext xmlns:c16="http://schemas.microsoft.com/office/drawing/2014/chart" uri="{C3380CC4-5D6E-409C-BE32-E72D297353CC}">
              <c16:uniqueId val="{00000001-260A-46B9-8E91-CF0F21B18F0A}"/>
            </c:ext>
          </c:extLst>
        </c:ser>
        <c:ser>
          <c:idx val="2"/>
          <c:order val="2"/>
          <c:tx>
            <c:strRef>
              <c:f>Sheet1!$D$1</c:f>
              <c:strCache>
                <c:ptCount val="1"/>
                <c:pt idx="0">
                  <c:v>bmi</c:v>
                </c:pt>
              </c:strCache>
            </c:strRef>
          </c:tx>
          <c:spPr>
            <a:ln w="31750" cap="flat">
              <a:solidFill>
                <a:srgbClr val="156082"/>
              </a:solidFill>
              <a:prstDash val="solid"/>
              <a:round/>
            </a:ln>
            <a:effectLst/>
          </c:spPr>
          <c:marker>
            <c:symbol val="circle"/>
            <c:size val="5"/>
            <c:spPr>
              <a:solidFill>
                <a:srgbClr val="156082"/>
              </a:solidFill>
              <a:ln w="9525" cap="flat">
                <a:solidFill>
                  <a:srgbClr val="156082"/>
                </a:solidFill>
                <a:prstDash val="solid"/>
                <a:round/>
              </a:ln>
              <a:effectLst/>
            </c:spPr>
          </c:marker>
          <c:cat>
            <c:strRef>
              <c:f>Sheet1!$A$2:$A$7</c:f>
              <c:strCache>
                <c:ptCount val="6"/>
                <c:pt idx="0">
                  <c:v>0.01</c:v>
                </c:pt>
                <c:pt idx="1">
                  <c:v>0.1</c:v>
                </c:pt>
                <c:pt idx="2">
                  <c:v>1</c:v>
                </c:pt>
                <c:pt idx="3">
                  <c:v>10</c:v>
                </c:pt>
                <c:pt idx="4">
                  <c:v>100</c:v>
                </c:pt>
                <c:pt idx="5">
                  <c:v>1000</c:v>
                </c:pt>
              </c:strCache>
            </c:strRef>
          </c:cat>
          <c:val>
            <c:numRef>
              <c:f>Sheet1!$D$2:$D$7</c:f>
              <c:numCache>
                <c:formatCode>General</c:formatCode>
                <c:ptCount val="6"/>
                <c:pt idx="0">
                  <c:v>24.727225795893126</c:v>
                </c:pt>
                <c:pt idx="1">
                  <c:v>24.733060634520196</c:v>
                </c:pt>
                <c:pt idx="2">
                  <c:v>24.771241809473374</c:v>
                </c:pt>
                <c:pt idx="3">
                  <c:v>24.600094464817214</c:v>
                </c:pt>
                <c:pt idx="4">
                  <c:v>21.376606299061592</c:v>
                </c:pt>
                <c:pt idx="5">
                  <c:v>9.9272401993981987</c:v>
                </c:pt>
              </c:numCache>
            </c:numRef>
          </c:val>
          <c:smooth val="0"/>
          <c:extLst>
            <c:ext xmlns:c16="http://schemas.microsoft.com/office/drawing/2014/chart" uri="{C3380CC4-5D6E-409C-BE32-E72D297353CC}">
              <c16:uniqueId val="{00000002-260A-46B9-8E91-CF0F21B18F0A}"/>
            </c:ext>
          </c:extLst>
        </c:ser>
        <c:ser>
          <c:idx val="3"/>
          <c:order val="3"/>
          <c:tx>
            <c:strRef>
              <c:f>Sheet1!$E$1</c:f>
              <c:strCache>
                <c:ptCount val="1"/>
                <c:pt idx="0">
                  <c:v>bp</c:v>
                </c:pt>
              </c:strCache>
            </c:strRef>
          </c:tx>
          <c:spPr>
            <a:ln w="31750" cap="flat">
              <a:solidFill>
                <a:srgbClr val="0F9ED5"/>
              </a:solidFill>
              <a:prstDash val="solid"/>
              <a:round/>
            </a:ln>
            <a:effectLst/>
          </c:spPr>
          <c:marker>
            <c:symbol val="circle"/>
            <c:size val="5"/>
            <c:spPr>
              <a:solidFill>
                <a:srgbClr val="0F9ED5"/>
              </a:solidFill>
              <a:ln w="9525" cap="flat">
                <a:solidFill>
                  <a:srgbClr val="0F9ED5"/>
                </a:solidFill>
                <a:prstDash val="solid"/>
                <a:round/>
              </a:ln>
              <a:effectLst/>
            </c:spPr>
          </c:marker>
          <c:cat>
            <c:strRef>
              <c:f>Sheet1!$A$2:$A$7</c:f>
              <c:strCache>
                <c:ptCount val="6"/>
                <c:pt idx="0">
                  <c:v>0.01</c:v>
                </c:pt>
                <c:pt idx="1">
                  <c:v>0.1</c:v>
                </c:pt>
                <c:pt idx="2">
                  <c:v>1</c:v>
                </c:pt>
                <c:pt idx="3">
                  <c:v>10</c:v>
                </c:pt>
                <c:pt idx="4">
                  <c:v>100</c:v>
                </c:pt>
                <c:pt idx="5">
                  <c:v>1000</c:v>
                </c:pt>
              </c:strCache>
            </c:strRef>
          </c:cat>
          <c:val>
            <c:numRef>
              <c:f>Sheet1!$E$2:$E$7</c:f>
              <c:numCache>
                <c:formatCode>General</c:formatCode>
                <c:ptCount val="6"/>
                <c:pt idx="0">
                  <c:v>15.428755147500519</c:v>
                </c:pt>
                <c:pt idx="1">
                  <c:v>15.42301473075846</c:v>
                </c:pt>
                <c:pt idx="2">
                  <c:v>15.373472852971997</c:v>
                </c:pt>
                <c:pt idx="3">
                  <c:v>15.094382577753903</c:v>
                </c:pt>
                <c:pt idx="4">
                  <c:v>13.336895705428775</c:v>
                </c:pt>
                <c:pt idx="5">
                  <c:v>6.8186098880423494</c:v>
                </c:pt>
              </c:numCache>
            </c:numRef>
          </c:val>
          <c:smooth val="0"/>
          <c:extLst>
            <c:ext xmlns:c16="http://schemas.microsoft.com/office/drawing/2014/chart" uri="{C3380CC4-5D6E-409C-BE32-E72D297353CC}">
              <c16:uniqueId val="{00000003-260A-46B9-8E91-CF0F21B18F0A}"/>
            </c:ext>
          </c:extLst>
        </c:ser>
        <c:ser>
          <c:idx val="4"/>
          <c:order val="4"/>
          <c:tx>
            <c:strRef>
              <c:f>Sheet1!$F$1</c:f>
              <c:strCache>
                <c:ptCount val="1"/>
                <c:pt idx="0">
                  <c:v>s1</c:v>
                </c:pt>
              </c:strCache>
            </c:strRef>
          </c:tx>
          <c:spPr>
            <a:ln w="31750" cap="flat">
              <a:solidFill>
                <a:srgbClr val="E97132"/>
              </a:solidFill>
              <a:prstDash val="solid"/>
              <a:round/>
            </a:ln>
            <a:effectLst/>
          </c:spPr>
          <c:marker>
            <c:symbol val="circle"/>
            <c:size val="5"/>
            <c:spPr>
              <a:solidFill>
                <a:srgbClr val="E97132"/>
              </a:solidFill>
              <a:ln w="9525" cap="flat">
                <a:solidFill>
                  <a:srgbClr val="E97132"/>
                </a:solidFill>
                <a:prstDash val="solid"/>
                <a:round/>
              </a:ln>
              <a:effectLst/>
            </c:spPr>
          </c:marker>
          <c:cat>
            <c:strRef>
              <c:f>Sheet1!$A$2:$A$7</c:f>
              <c:strCache>
                <c:ptCount val="6"/>
                <c:pt idx="0">
                  <c:v>0.01</c:v>
                </c:pt>
                <c:pt idx="1">
                  <c:v>0.1</c:v>
                </c:pt>
                <c:pt idx="2">
                  <c:v>1</c:v>
                </c:pt>
                <c:pt idx="3">
                  <c:v>10</c:v>
                </c:pt>
                <c:pt idx="4">
                  <c:v>100</c:v>
                </c:pt>
                <c:pt idx="5">
                  <c:v>1000</c:v>
                </c:pt>
              </c:strCache>
            </c:strRef>
          </c:cat>
          <c:val>
            <c:numRef>
              <c:f>Sheet1!$F$2:$F$7</c:f>
              <c:numCache>
                <c:formatCode>General</c:formatCode>
                <c:ptCount val="6"/>
                <c:pt idx="0">
                  <c:v>-37.584240081666273</c:v>
                </c:pt>
                <c:pt idx="1">
                  <c:v>-36.744995274766012</c:v>
                </c:pt>
                <c:pt idx="2">
                  <c:v>-30.088400592593452</c:v>
                </c:pt>
                <c:pt idx="3">
                  <c:v>-11.295618269483565</c:v>
                </c:pt>
                <c:pt idx="4">
                  <c:v>-2.066497255084724</c:v>
                </c:pt>
                <c:pt idx="5">
                  <c:v>1.0755369847663687</c:v>
                </c:pt>
              </c:numCache>
            </c:numRef>
          </c:val>
          <c:smooth val="0"/>
          <c:extLst>
            <c:ext xmlns:c16="http://schemas.microsoft.com/office/drawing/2014/chart" uri="{C3380CC4-5D6E-409C-BE32-E72D297353CC}">
              <c16:uniqueId val="{00000004-260A-46B9-8E91-CF0F21B18F0A}"/>
            </c:ext>
          </c:extLst>
        </c:ser>
        <c:ser>
          <c:idx val="5"/>
          <c:order val="5"/>
          <c:tx>
            <c:strRef>
              <c:f>Sheet1!$G$1</c:f>
              <c:strCache>
                <c:ptCount val="1"/>
                <c:pt idx="0">
                  <c:v>s2</c:v>
                </c:pt>
              </c:strCache>
            </c:strRef>
          </c:tx>
          <c:spPr>
            <a:ln w="31750" cap="flat">
              <a:solidFill>
                <a:srgbClr val="A02B93"/>
              </a:solidFill>
              <a:prstDash val="solid"/>
              <a:round/>
            </a:ln>
            <a:effectLst/>
          </c:spPr>
          <c:marker>
            <c:symbol val="circle"/>
            <c:size val="5"/>
            <c:spPr>
              <a:solidFill>
                <a:srgbClr val="A02B93"/>
              </a:solidFill>
              <a:ln w="9525" cap="flat">
                <a:solidFill>
                  <a:srgbClr val="A02B93"/>
                </a:solidFill>
                <a:prstDash val="solid"/>
                <a:round/>
              </a:ln>
              <a:effectLst/>
            </c:spPr>
          </c:marker>
          <c:cat>
            <c:strRef>
              <c:f>Sheet1!$A$2:$A$7</c:f>
              <c:strCache>
                <c:ptCount val="6"/>
                <c:pt idx="0">
                  <c:v>0.01</c:v>
                </c:pt>
                <c:pt idx="1">
                  <c:v>0.1</c:v>
                </c:pt>
                <c:pt idx="2">
                  <c:v>1</c:v>
                </c:pt>
                <c:pt idx="3">
                  <c:v>10</c:v>
                </c:pt>
                <c:pt idx="4">
                  <c:v>100</c:v>
                </c:pt>
                <c:pt idx="5">
                  <c:v>1000</c:v>
                </c:pt>
              </c:strCache>
            </c:strRef>
          </c:cat>
          <c:val>
            <c:numRef>
              <c:f>Sheet1!$G$2:$G$7</c:f>
              <c:numCache>
                <c:formatCode>General</c:formatCode>
                <c:ptCount val="6"/>
                <c:pt idx="0">
                  <c:v>22.600215260915039</c:v>
                </c:pt>
                <c:pt idx="1">
                  <c:v>21.93428584755079</c:v>
                </c:pt>
                <c:pt idx="2">
                  <c:v>16.653152303352492</c:v>
                </c:pt>
                <c:pt idx="3">
                  <c:v>1.8087677641153939</c:v>
                </c:pt>
                <c:pt idx="4">
                  <c:v>-3.707330020171665</c:v>
                </c:pt>
                <c:pt idx="5">
                  <c:v>4.3347917325526383E-2</c:v>
                </c:pt>
              </c:numCache>
            </c:numRef>
          </c:val>
          <c:smooth val="0"/>
          <c:extLst>
            <c:ext xmlns:c16="http://schemas.microsoft.com/office/drawing/2014/chart" uri="{C3380CC4-5D6E-409C-BE32-E72D297353CC}">
              <c16:uniqueId val="{00000005-260A-46B9-8E91-CF0F21B18F0A}"/>
            </c:ext>
          </c:extLst>
        </c:ser>
        <c:ser>
          <c:idx val="6"/>
          <c:order val="6"/>
          <c:tx>
            <c:strRef>
              <c:f>Sheet1!$H$1</c:f>
              <c:strCache>
                <c:ptCount val="1"/>
                <c:pt idx="0">
                  <c:v>s3</c:v>
                </c:pt>
              </c:strCache>
            </c:strRef>
          </c:tx>
          <c:spPr>
            <a:ln w="31750" cap="flat">
              <a:solidFill>
                <a:srgbClr val="196B24"/>
              </a:solidFill>
              <a:prstDash val="solid"/>
              <a:round/>
            </a:ln>
            <a:effectLst/>
          </c:spPr>
          <c:marker>
            <c:symbol val="circle"/>
            <c:size val="5"/>
            <c:spPr>
              <a:solidFill>
                <a:srgbClr val="196B24"/>
              </a:solidFill>
              <a:ln w="9525" cap="flat">
                <a:solidFill>
                  <a:srgbClr val="196B24"/>
                </a:solidFill>
                <a:prstDash val="solid"/>
                <a:round/>
              </a:ln>
              <a:effectLst/>
            </c:spPr>
          </c:marker>
          <c:cat>
            <c:strRef>
              <c:f>Sheet1!$A$2:$A$7</c:f>
              <c:strCache>
                <c:ptCount val="6"/>
                <c:pt idx="0">
                  <c:v>0.01</c:v>
                </c:pt>
                <c:pt idx="1">
                  <c:v>0.1</c:v>
                </c:pt>
                <c:pt idx="2">
                  <c:v>1</c:v>
                </c:pt>
                <c:pt idx="3">
                  <c:v>10</c:v>
                </c:pt>
                <c:pt idx="4">
                  <c:v>100</c:v>
                </c:pt>
                <c:pt idx="5">
                  <c:v>1000</c:v>
                </c:pt>
              </c:strCache>
            </c:strRef>
          </c:cat>
          <c:val>
            <c:numRef>
              <c:f>Sheet1!$H$2:$H$7</c:f>
              <c:numCache>
                <c:formatCode>General</c:formatCode>
                <c:ptCount val="6"/>
                <c:pt idx="0">
                  <c:v>4.7638550323849804</c:v>
                </c:pt>
                <c:pt idx="1">
                  <c:v>4.3932110533558184</c:v>
                </c:pt>
                <c:pt idx="2">
                  <c:v>1.4621070111045091</c:v>
                </c:pt>
                <c:pt idx="3">
                  <c:v>-6.5618051549811289</c:v>
                </c:pt>
                <c:pt idx="4">
                  <c:v>-8.9759432647642221</c:v>
                </c:pt>
                <c:pt idx="5">
                  <c:v>-5.4713344828363741</c:v>
                </c:pt>
              </c:numCache>
            </c:numRef>
          </c:val>
          <c:smooth val="0"/>
          <c:extLst>
            <c:ext xmlns:c16="http://schemas.microsoft.com/office/drawing/2014/chart" uri="{C3380CC4-5D6E-409C-BE32-E72D297353CC}">
              <c16:uniqueId val="{00000006-260A-46B9-8E91-CF0F21B18F0A}"/>
            </c:ext>
          </c:extLst>
        </c:ser>
        <c:ser>
          <c:idx val="7"/>
          <c:order val="7"/>
          <c:tx>
            <c:strRef>
              <c:f>Sheet1!$I$1</c:f>
              <c:strCache>
                <c:ptCount val="1"/>
                <c:pt idx="0">
                  <c:v>s4</c:v>
                </c:pt>
              </c:strCache>
            </c:strRef>
          </c:tx>
          <c:spPr>
            <a:ln w="31750" cap="flat">
              <a:solidFill>
                <a:srgbClr val="C9CED6"/>
              </a:solidFill>
              <a:prstDash val="solid"/>
              <a:round/>
            </a:ln>
            <a:effectLst/>
          </c:spPr>
          <c:marker>
            <c:symbol val="circle"/>
            <c:size val="5"/>
            <c:spPr>
              <a:solidFill>
                <a:srgbClr val="C9CED6"/>
              </a:solidFill>
              <a:ln w="9525" cap="flat">
                <a:solidFill>
                  <a:srgbClr val="C9CED6"/>
                </a:solidFill>
                <a:prstDash val="solid"/>
                <a:round/>
              </a:ln>
              <a:effectLst/>
            </c:spPr>
          </c:marker>
          <c:cat>
            <c:strRef>
              <c:f>Sheet1!$A$2:$A$7</c:f>
              <c:strCache>
                <c:ptCount val="6"/>
                <c:pt idx="0">
                  <c:v>0.01</c:v>
                </c:pt>
                <c:pt idx="1">
                  <c:v>0.1</c:v>
                </c:pt>
                <c:pt idx="2">
                  <c:v>1</c:v>
                </c:pt>
                <c:pt idx="3">
                  <c:v>10</c:v>
                </c:pt>
                <c:pt idx="4">
                  <c:v>100</c:v>
                </c:pt>
                <c:pt idx="5">
                  <c:v>1000</c:v>
                </c:pt>
              </c:strCache>
            </c:strRef>
          </c:cat>
          <c:val>
            <c:numRef>
              <c:f>Sheet1!$I$2:$I$7</c:f>
              <c:numCache>
                <c:formatCode>General</c:formatCode>
                <c:ptCount val="6"/>
                <c:pt idx="0">
                  <c:v>8.4105222080970687</c:v>
                </c:pt>
                <c:pt idx="1">
                  <c:v>8.3096796559874839</c:v>
                </c:pt>
                <c:pt idx="2">
                  <c:v>7.5211109291231937</c:v>
                </c:pt>
                <c:pt idx="3">
                  <c:v>5.6004002987808814</c:v>
                </c:pt>
                <c:pt idx="4">
                  <c:v>5.7228251937686672</c:v>
                </c:pt>
                <c:pt idx="5">
                  <c:v>4.770332795302779</c:v>
                </c:pt>
              </c:numCache>
            </c:numRef>
          </c:val>
          <c:smooth val="0"/>
          <c:extLst>
            <c:ext xmlns:c16="http://schemas.microsoft.com/office/drawing/2014/chart" uri="{C3380CC4-5D6E-409C-BE32-E72D297353CC}">
              <c16:uniqueId val="{00000007-260A-46B9-8E91-CF0F21B18F0A}"/>
            </c:ext>
          </c:extLst>
        </c:ser>
        <c:ser>
          <c:idx val="8"/>
          <c:order val="8"/>
          <c:tx>
            <c:strRef>
              <c:f>Sheet1!$J$1</c:f>
              <c:strCache>
                <c:ptCount val="1"/>
                <c:pt idx="0">
                  <c:v>s5</c:v>
                </c:pt>
              </c:strCache>
            </c:strRef>
          </c:tx>
          <c:spPr>
            <a:ln w="31750" cap="flat">
              <a:solidFill>
                <a:srgbClr val="4EA72E"/>
              </a:solidFill>
              <a:prstDash val="solid"/>
              <a:round/>
            </a:ln>
            <a:effectLst/>
          </c:spPr>
          <c:marker>
            <c:symbol val="circle"/>
            <c:size val="5"/>
            <c:spPr>
              <a:solidFill>
                <a:srgbClr val="4EA72E"/>
              </a:solidFill>
              <a:ln w="9525" cap="flat">
                <a:solidFill>
                  <a:srgbClr val="4EA72E"/>
                </a:solidFill>
                <a:prstDash val="solid"/>
                <a:round/>
              </a:ln>
              <a:effectLst/>
            </c:spPr>
          </c:marker>
          <c:cat>
            <c:strRef>
              <c:f>Sheet1!$A$2:$A$7</c:f>
              <c:strCache>
                <c:ptCount val="6"/>
                <c:pt idx="0">
                  <c:v>0.01</c:v>
                </c:pt>
                <c:pt idx="1">
                  <c:v>0.1</c:v>
                </c:pt>
                <c:pt idx="2">
                  <c:v>1</c:v>
                </c:pt>
                <c:pt idx="3">
                  <c:v>10</c:v>
                </c:pt>
                <c:pt idx="4">
                  <c:v>100</c:v>
                </c:pt>
                <c:pt idx="5">
                  <c:v>1000</c:v>
                </c:pt>
              </c:strCache>
            </c:strRef>
          </c:cat>
          <c:val>
            <c:numRef>
              <c:f>Sheet1!$J$2:$J$7</c:f>
              <c:numCache>
                <c:formatCode>General</c:formatCode>
                <c:ptCount val="6"/>
                <c:pt idx="0">
                  <c:v>35.698155764532871</c:v>
                </c:pt>
                <c:pt idx="1">
                  <c:v>35.379811715414974</c:v>
                </c:pt>
                <c:pt idx="2">
                  <c:v>32.843750856514944</c:v>
                </c:pt>
                <c:pt idx="3">
                  <c:v>25.332096092046488</c:v>
                </c:pt>
                <c:pt idx="4">
                  <c:v>18.65143252806747</c:v>
                </c:pt>
                <c:pt idx="5">
                  <c:v>8.7245423156364783</c:v>
                </c:pt>
              </c:numCache>
            </c:numRef>
          </c:val>
          <c:smooth val="0"/>
          <c:extLst>
            <c:ext xmlns:c16="http://schemas.microsoft.com/office/drawing/2014/chart" uri="{C3380CC4-5D6E-409C-BE32-E72D297353CC}">
              <c16:uniqueId val="{00000008-260A-46B9-8E91-CF0F21B18F0A}"/>
            </c:ext>
          </c:extLst>
        </c:ser>
        <c:ser>
          <c:idx val="9"/>
          <c:order val="9"/>
          <c:tx>
            <c:strRef>
              <c:f>Sheet1!$K$1</c:f>
              <c:strCache>
                <c:ptCount val="1"/>
                <c:pt idx="0">
                  <c:v>s6</c:v>
                </c:pt>
              </c:strCache>
            </c:strRef>
          </c:tx>
          <c:spPr>
            <a:ln w="31750" cap="flat">
              <a:solidFill>
                <a:srgbClr val="7C8798"/>
              </a:solidFill>
              <a:prstDash val="solid"/>
              <a:round/>
            </a:ln>
            <a:effectLst/>
          </c:spPr>
          <c:marker>
            <c:symbol val="circle"/>
            <c:size val="5"/>
            <c:spPr>
              <a:solidFill>
                <a:srgbClr val="7C8798"/>
              </a:solidFill>
              <a:ln w="9525" cap="flat">
                <a:solidFill>
                  <a:srgbClr val="7C8798"/>
                </a:solidFill>
                <a:prstDash val="solid"/>
                <a:round/>
              </a:ln>
              <a:effectLst/>
            </c:spPr>
          </c:marker>
          <c:cat>
            <c:strRef>
              <c:f>Sheet1!$A$2:$A$7</c:f>
              <c:strCache>
                <c:ptCount val="6"/>
                <c:pt idx="0">
                  <c:v>0.01</c:v>
                </c:pt>
                <c:pt idx="1">
                  <c:v>0.1</c:v>
                </c:pt>
                <c:pt idx="2">
                  <c:v>1</c:v>
                </c:pt>
                <c:pt idx="3">
                  <c:v>10</c:v>
                </c:pt>
                <c:pt idx="4">
                  <c:v>100</c:v>
                </c:pt>
                <c:pt idx="5">
                  <c:v>1000</c:v>
                </c:pt>
              </c:strCache>
            </c:strRef>
          </c:cat>
          <c:val>
            <c:numRef>
              <c:f>Sheet1!$K$2:$K$7</c:f>
              <c:numCache>
                <c:formatCode>General</c:formatCode>
                <c:ptCount val="6"/>
                <c:pt idx="0">
                  <c:v>3.2172445737012838</c:v>
                </c:pt>
                <c:pt idx="1">
                  <c:v>3.2222998972110237</c:v>
                </c:pt>
                <c:pt idx="2">
                  <c:v>3.2663848693715507</c:v>
                </c:pt>
                <c:pt idx="3">
                  <c:v>3.522912117793489</c:v>
                </c:pt>
                <c:pt idx="4">
                  <c:v>4.7303992410649522</c:v>
                </c:pt>
                <c:pt idx="5">
                  <c:v>4.5647671573760773</c:v>
                </c:pt>
              </c:numCache>
            </c:numRef>
          </c:val>
          <c:smooth val="0"/>
          <c:extLst>
            <c:ext xmlns:c16="http://schemas.microsoft.com/office/drawing/2014/chart" uri="{C3380CC4-5D6E-409C-BE32-E72D297353CC}">
              <c16:uniqueId val="{00000009-260A-46B9-8E91-CF0F21B18F0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4A5568"/>
                    </a:solidFill>
                    <a:latin typeface="+mn-lt"/>
                  </a:defRPr>
                </a:pPr>
                <a:r>
                  <a:rPr lang="en-US" sz="1200" b="0" i="0" u="none" strike="noStrike">
                    <a:solidFill>
                      <a:srgbClr val="4A5568"/>
                    </a:solidFill>
                    <a:latin typeface="+mn-lt"/>
                  </a:rPr>
                  <a:t>α (each step is 10× larger)</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1E1E1"/>
              </a:solidFill>
              <a:prstDash val="solid"/>
              <a:round/>
            </a:ln>
          </c:spPr>
        </c:majorGridlines>
        <c:title>
          <c:tx>
            <c:rich>
              <a:bodyPr/>
              <a:lstStyle/>
              <a:p>
                <a:pPr>
                  <a:defRPr sz="1200" b="0" i="0" u="none" strike="noStrike">
                    <a:solidFill>
                      <a:srgbClr val="4A5568"/>
                    </a:solidFill>
                    <a:latin typeface="+mn-lt"/>
                  </a:defRPr>
                </a:pPr>
                <a:r>
                  <a:rPr lang="en-US" sz="1200" b="0" i="0" u="none" strike="noStrike">
                    <a:solidFill>
                      <a:srgbClr val="4A5568"/>
                    </a:solidFill>
                    <a:latin typeface="+mn-lt"/>
                  </a:rPr>
                  <a:t>Standardized coefficient</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E28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E2841"/>
                </a:solidFill>
                <a:latin typeface="+mn-lt"/>
              </a:defRPr>
            </a:pPr>
            <a:r>
              <a:rPr lang="pt-BR" sz="1400" b="0" i="0" u="none" strike="noStrike">
                <a:solidFill>
                  <a:srgbClr val="0E2841"/>
                </a:solidFill>
                <a:latin typeface="+mn-lt"/>
              </a:rPr>
              <a:t>Diabetes data: lasso coefficients vs. α</a:t>
            </a:r>
          </a:p>
        </c:rich>
      </c:tx>
      <c:overlay val="0"/>
    </c:title>
    <c:autoTitleDeleted val="0"/>
    <c:plotArea>
      <c:layout/>
      <c:lineChart>
        <c:grouping val="standard"/>
        <c:varyColors val="0"/>
        <c:ser>
          <c:idx val="0"/>
          <c:order val="0"/>
          <c:tx>
            <c:strRef>
              <c:f>Sheet1!$B$1</c:f>
              <c:strCache>
                <c:ptCount val="1"/>
                <c:pt idx="0">
                  <c:v>age</c:v>
                </c:pt>
              </c:strCache>
            </c:strRef>
          </c:tx>
          <c:spPr>
            <a:ln w="31750" cap="flat">
              <a:solidFill>
                <a:srgbClr val="B0B7C3"/>
              </a:solidFill>
              <a:prstDash val="solid"/>
              <a:round/>
            </a:ln>
            <a:effectLst/>
          </c:spPr>
          <c:marker>
            <c:symbol val="circle"/>
            <c:size val="5"/>
            <c:spPr>
              <a:solidFill>
                <a:srgbClr val="B0B7C3"/>
              </a:solidFill>
              <a:ln w="9525" cap="flat">
                <a:solidFill>
                  <a:srgbClr val="B0B7C3"/>
                </a:solidFill>
                <a:prstDash val="solid"/>
                <a:round/>
              </a:ln>
              <a:effectLst/>
            </c:spPr>
          </c:marker>
          <c:cat>
            <c:strRef>
              <c:f>Sheet1!$A$2:$A$9</c:f>
              <c:strCache>
                <c:ptCount val="8"/>
                <c:pt idx="0">
                  <c:v>0.01</c:v>
                </c:pt>
                <c:pt idx="1">
                  <c:v>0.1</c:v>
                </c:pt>
                <c:pt idx="2">
                  <c:v>0.5</c:v>
                </c:pt>
                <c:pt idx="3">
                  <c:v>1</c:v>
                </c:pt>
                <c:pt idx="4">
                  <c:v>2</c:v>
                </c:pt>
                <c:pt idx="5">
                  <c:v>5</c:v>
                </c:pt>
                <c:pt idx="6">
                  <c:v>10</c:v>
                </c:pt>
                <c:pt idx="7">
                  <c:v>20</c:v>
                </c:pt>
              </c:strCache>
            </c:strRef>
          </c:cat>
          <c:val>
            <c:numRef>
              <c:f>Sheet1!$B$2:$B$9</c:f>
              <c:numCache>
                <c:formatCode>General</c:formatCode>
                <c:ptCount val="8"/>
                <c:pt idx="0">
                  <c:v>-0.45318633384099838</c:v>
                </c:pt>
                <c:pt idx="1">
                  <c:v>-0.27769342429667876</c:v>
                </c:pt>
                <c:pt idx="2">
                  <c:v>0</c:v>
                </c:pt>
                <c:pt idx="3">
                  <c:v>0</c:v>
                </c:pt>
                <c:pt idx="4">
                  <c:v>0</c:v>
                </c:pt>
                <c:pt idx="5">
                  <c:v>0</c:v>
                </c:pt>
                <c:pt idx="6">
                  <c:v>0</c:v>
                </c:pt>
                <c:pt idx="7">
                  <c:v>0</c:v>
                </c:pt>
              </c:numCache>
            </c:numRef>
          </c:val>
          <c:smooth val="0"/>
          <c:extLst>
            <c:ext xmlns:c16="http://schemas.microsoft.com/office/drawing/2014/chart" uri="{C3380CC4-5D6E-409C-BE32-E72D297353CC}">
              <c16:uniqueId val="{00000000-0533-4E94-848B-EC49CF876025}"/>
            </c:ext>
          </c:extLst>
        </c:ser>
        <c:ser>
          <c:idx val="1"/>
          <c:order val="1"/>
          <c:tx>
            <c:strRef>
              <c:f>Sheet1!$C$1</c:f>
              <c:strCache>
                <c:ptCount val="1"/>
                <c:pt idx="0">
                  <c:v>sex</c:v>
                </c:pt>
              </c:strCache>
            </c:strRef>
          </c:tx>
          <c:spPr>
            <a:ln w="31750" cap="flat">
              <a:solidFill>
                <a:srgbClr val="98A1B0"/>
              </a:solidFill>
              <a:prstDash val="solid"/>
              <a:round/>
            </a:ln>
            <a:effectLst/>
          </c:spPr>
          <c:marker>
            <c:symbol val="circle"/>
            <c:size val="5"/>
            <c:spPr>
              <a:solidFill>
                <a:srgbClr val="98A1B0"/>
              </a:solidFill>
              <a:ln w="9525" cap="flat">
                <a:solidFill>
                  <a:srgbClr val="98A1B0"/>
                </a:solidFill>
                <a:prstDash val="solid"/>
                <a:round/>
              </a:ln>
              <a:effectLst/>
            </c:spPr>
          </c:marker>
          <c:cat>
            <c:strRef>
              <c:f>Sheet1!$A$2:$A$9</c:f>
              <c:strCache>
                <c:ptCount val="8"/>
                <c:pt idx="0">
                  <c:v>0.01</c:v>
                </c:pt>
                <c:pt idx="1">
                  <c:v>0.1</c:v>
                </c:pt>
                <c:pt idx="2">
                  <c:v>0.5</c:v>
                </c:pt>
                <c:pt idx="3">
                  <c:v>1</c:v>
                </c:pt>
                <c:pt idx="4">
                  <c:v>2</c:v>
                </c:pt>
                <c:pt idx="5">
                  <c:v>5</c:v>
                </c:pt>
                <c:pt idx="6">
                  <c:v>10</c:v>
                </c:pt>
                <c:pt idx="7">
                  <c:v>20</c:v>
                </c:pt>
              </c:strCache>
            </c:strRef>
          </c:cat>
          <c:val>
            <c:numRef>
              <c:f>Sheet1!$C$2:$C$9</c:f>
              <c:numCache>
                <c:formatCode>General</c:formatCode>
                <c:ptCount val="8"/>
                <c:pt idx="0">
                  <c:v>-11.386067413764549</c:v>
                </c:pt>
                <c:pt idx="1">
                  <c:v>-11.159487970709595</c:v>
                </c:pt>
                <c:pt idx="2">
                  <c:v>-10.288090830132509</c:v>
                </c:pt>
                <c:pt idx="3">
                  <c:v>-9.3194125303565372</c:v>
                </c:pt>
                <c:pt idx="4">
                  <c:v>-7.5688559459503146</c:v>
                </c:pt>
                <c:pt idx="5">
                  <c:v>-2.1534813254933289</c:v>
                </c:pt>
                <c:pt idx="6">
                  <c:v>0</c:v>
                </c:pt>
                <c:pt idx="7">
                  <c:v>0</c:v>
                </c:pt>
              </c:numCache>
            </c:numRef>
          </c:val>
          <c:smooth val="0"/>
          <c:extLst>
            <c:ext xmlns:c16="http://schemas.microsoft.com/office/drawing/2014/chart" uri="{C3380CC4-5D6E-409C-BE32-E72D297353CC}">
              <c16:uniqueId val="{00000001-0533-4E94-848B-EC49CF876025}"/>
            </c:ext>
          </c:extLst>
        </c:ser>
        <c:ser>
          <c:idx val="2"/>
          <c:order val="2"/>
          <c:tx>
            <c:strRef>
              <c:f>Sheet1!$D$1</c:f>
              <c:strCache>
                <c:ptCount val="1"/>
                <c:pt idx="0">
                  <c:v>bmi</c:v>
                </c:pt>
              </c:strCache>
            </c:strRef>
          </c:tx>
          <c:spPr>
            <a:ln w="31750" cap="flat">
              <a:solidFill>
                <a:srgbClr val="156082"/>
              </a:solidFill>
              <a:prstDash val="solid"/>
              <a:round/>
            </a:ln>
            <a:effectLst/>
          </c:spPr>
          <c:marker>
            <c:symbol val="circle"/>
            <c:size val="5"/>
            <c:spPr>
              <a:solidFill>
                <a:srgbClr val="156082"/>
              </a:solidFill>
              <a:ln w="9525" cap="flat">
                <a:solidFill>
                  <a:srgbClr val="156082"/>
                </a:solidFill>
                <a:prstDash val="solid"/>
                <a:round/>
              </a:ln>
              <a:effectLst/>
            </c:spPr>
          </c:marker>
          <c:cat>
            <c:strRef>
              <c:f>Sheet1!$A$2:$A$9</c:f>
              <c:strCache>
                <c:ptCount val="8"/>
                <c:pt idx="0">
                  <c:v>0.01</c:v>
                </c:pt>
                <c:pt idx="1">
                  <c:v>0.1</c:v>
                </c:pt>
                <c:pt idx="2">
                  <c:v>0.5</c:v>
                </c:pt>
                <c:pt idx="3">
                  <c:v>1</c:v>
                </c:pt>
                <c:pt idx="4">
                  <c:v>2</c:v>
                </c:pt>
                <c:pt idx="5">
                  <c:v>5</c:v>
                </c:pt>
                <c:pt idx="6">
                  <c:v>10</c:v>
                </c:pt>
                <c:pt idx="7">
                  <c:v>20</c:v>
                </c:pt>
              </c:strCache>
            </c:strRef>
          </c:cat>
          <c:val>
            <c:numRef>
              <c:f>Sheet1!$D$2:$D$9</c:f>
              <c:numCache>
                <c:formatCode>General</c:formatCode>
                <c:ptCount val="8"/>
                <c:pt idx="0">
                  <c:v>24.736085673466111</c:v>
                </c:pt>
                <c:pt idx="1">
                  <c:v>24.85518377878633</c:v>
                </c:pt>
                <c:pt idx="2">
                  <c:v>24.983900851078833</c:v>
                </c:pt>
                <c:pt idx="3">
                  <c:v>24.831276305943245</c:v>
                </c:pt>
                <c:pt idx="4">
                  <c:v>24.621662399764592</c:v>
                </c:pt>
                <c:pt idx="5">
                  <c:v>24.2169661112904</c:v>
                </c:pt>
                <c:pt idx="6">
                  <c:v>22.600374838661441</c:v>
                </c:pt>
                <c:pt idx="7">
                  <c:v>18.035104301789829</c:v>
                </c:pt>
              </c:numCache>
            </c:numRef>
          </c:val>
          <c:smooth val="0"/>
          <c:extLst>
            <c:ext xmlns:c16="http://schemas.microsoft.com/office/drawing/2014/chart" uri="{C3380CC4-5D6E-409C-BE32-E72D297353CC}">
              <c16:uniqueId val="{00000002-0533-4E94-848B-EC49CF876025}"/>
            </c:ext>
          </c:extLst>
        </c:ser>
        <c:ser>
          <c:idx val="3"/>
          <c:order val="3"/>
          <c:tx>
            <c:strRef>
              <c:f>Sheet1!$E$1</c:f>
              <c:strCache>
                <c:ptCount val="1"/>
                <c:pt idx="0">
                  <c:v>bp</c:v>
                </c:pt>
              </c:strCache>
            </c:strRef>
          </c:tx>
          <c:spPr>
            <a:ln w="31750" cap="flat">
              <a:solidFill>
                <a:srgbClr val="0F9ED5"/>
              </a:solidFill>
              <a:prstDash val="solid"/>
              <a:round/>
            </a:ln>
            <a:effectLst/>
          </c:spPr>
          <c:marker>
            <c:symbol val="circle"/>
            <c:size val="5"/>
            <c:spPr>
              <a:solidFill>
                <a:srgbClr val="0F9ED5"/>
              </a:solidFill>
              <a:ln w="9525" cap="flat">
                <a:solidFill>
                  <a:srgbClr val="0F9ED5"/>
                </a:solidFill>
                <a:prstDash val="solid"/>
                <a:round/>
              </a:ln>
              <a:effectLst/>
            </c:spPr>
          </c:marker>
          <c:cat>
            <c:strRef>
              <c:f>Sheet1!$A$2:$A$9</c:f>
              <c:strCache>
                <c:ptCount val="8"/>
                <c:pt idx="0">
                  <c:v>0.01</c:v>
                </c:pt>
                <c:pt idx="1">
                  <c:v>0.1</c:v>
                </c:pt>
                <c:pt idx="2">
                  <c:v>0.5</c:v>
                </c:pt>
                <c:pt idx="3">
                  <c:v>1</c:v>
                </c:pt>
                <c:pt idx="4">
                  <c:v>2</c:v>
                </c:pt>
                <c:pt idx="5">
                  <c:v>5</c:v>
                </c:pt>
                <c:pt idx="6">
                  <c:v>10</c:v>
                </c:pt>
                <c:pt idx="7">
                  <c:v>20</c:v>
                </c:pt>
              </c:strCache>
            </c:strRef>
          </c:cat>
          <c:val>
            <c:numRef>
              <c:f>Sheet1!$E$2:$E$9</c:f>
              <c:numCache>
                <c:formatCode>General</c:formatCode>
                <c:ptCount val="8"/>
                <c:pt idx="0">
                  <c:v>15.407660408266738</c:v>
                </c:pt>
                <c:pt idx="1">
                  <c:v>15.242132797693417</c:v>
                </c:pt>
                <c:pt idx="2">
                  <c:v>14.668771734751839</c:v>
                </c:pt>
                <c:pt idx="3">
                  <c:v>14.088705683899411</c:v>
                </c:pt>
                <c:pt idx="4">
                  <c:v>13.177401562732102</c:v>
                </c:pt>
                <c:pt idx="5">
                  <c:v>10.330073726019336</c:v>
                </c:pt>
                <c:pt idx="6">
                  <c:v>6.8012365341080789</c:v>
                </c:pt>
                <c:pt idx="7">
                  <c:v>0.89246058763167024</c:v>
                </c:pt>
              </c:numCache>
            </c:numRef>
          </c:val>
          <c:smooth val="0"/>
          <c:extLst>
            <c:ext xmlns:c16="http://schemas.microsoft.com/office/drawing/2014/chart" uri="{C3380CC4-5D6E-409C-BE32-E72D297353CC}">
              <c16:uniqueId val="{00000003-0533-4E94-848B-EC49CF876025}"/>
            </c:ext>
          </c:extLst>
        </c:ser>
        <c:ser>
          <c:idx val="4"/>
          <c:order val="4"/>
          <c:tx>
            <c:strRef>
              <c:f>Sheet1!$F$1</c:f>
              <c:strCache>
                <c:ptCount val="1"/>
                <c:pt idx="0">
                  <c:v>s1</c:v>
                </c:pt>
              </c:strCache>
            </c:strRef>
          </c:tx>
          <c:spPr>
            <a:ln w="31750" cap="flat">
              <a:solidFill>
                <a:srgbClr val="E97132"/>
              </a:solidFill>
              <a:prstDash val="solid"/>
              <a:round/>
            </a:ln>
            <a:effectLst/>
          </c:spPr>
          <c:marker>
            <c:symbol val="circle"/>
            <c:size val="5"/>
            <c:spPr>
              <a:solidFill>
                <a:srgbClr val="E97132"/>
              </a:solidFill>
              <a:ln w="9525" cap="flat">
                <a:solidFill>
                  <a:srgbClr val="E97132"/>
                </a:solidFill>
                <a:prstDash val="solid"/>
                <a:round/>
              </a:ln>
              <a:effectLst/>
            </c:spPr>
          </c:marker>
          <c:cat>
            <c:strRef>
              <c:f>Sheet1!$A$2:$A$9</c:f>
              <c:strCache>
                <c:ptCount val="8"/>
                <c:pt idx="0">
                  <c:v>0.01</c:v>
                </c:pt>
                <c:pt idx="1">
                  <c:v>0.1</c:v>
                </c:pt>
                <c:pt idx="2">
                  <c:v>0.5</c:v>
                </c:pt>
                <c:pt idx="3">
                  <c:v>1</c:v>
                </c:pt>
                <c:pt idx="4">
                  <c:v>2</c:v>
                </c:pt>
                <c:pt idx="5">
                  <c:v>5</c:v>
                </c:pt>
                <c:pt idx="6">
                  <c:v>10</c:v>
                </c:pt>
                <c:pt idx="7">
                  <c:v>20</c:v>
                </c:pt>
              </c:strCache>
            </c:strRef>
          </c:cat>
          <c:val>
            <c:numRef>
              <c:f>Sheet1!$F$2:$F$9</c:f>
              <c:numCache>
                <c:formatCode>General</c:formatCode>
                <c:ptCount val="8"/>
                <c:pt idx="0">
                  <c:v>-36.052454698211598</c:v>
                </c:pt>
                <c:pt idx="1">
                  <c:v>-26.448139637055807</c:v>
                </c:pt>
                <c:pt idx="2">
                  <c:v>-7.7613687669932343</c:v>
                </c:pt>
                <c:pt idx="3">
                  <c:v>-4.8389280798647842</c:v>
                </c:pt>
                <c:pt idx="4">
                  <c:v>-2.7164185806873178</c:v>
                </c:pt>
                <c:pt idx="5">
                  <c:v>0</c:v>
                </c:pt>
                <c:pt idx="6">
                  <c:v>0</c:v>
                </c:pt>
                <c:pt idx="7">
                  <c:v>0</c:v>
                </c:pt>
              </c:numCache>
            </c:numRef>
          </c:val>
          <c:smooth val="0"/>
          <c:extLst>
            <c:ext xmlns:c16="http://schemas.microsoft.com/office/drawing/2014/chart" uri="{C3380CC4-5D6E-409C-BE32-E72D297353CC}">
              <c16:uniqueId val="{00000004-0533-4E94-848B-EC49CF876025}"/>
            </c:ext>
          </c:extLst>
        </c:ser>
        <c:ser>
          <c:idx val="5"/>
          <c:order val="5"/>
          <c:tx>
            <c:strRef>
              <c:f>Sheet1!$G$1</c:f>
              <c:strCache>
                <c:ptCount val="1"/>
                <c:pt idx="0">
                  <c:v>s2</c:v>
                </c:pt>
              </c:strCache>
            </c:strRef>
          </c:tx>
          <c:spPr>
            <a:ln w="31750" cap="flat">
              <a:solidFill>
                <a:srgbClr val="A02B93"/>
              </a:solidFill>
              <a:prstDash val="solid"/>
              <a:round/>
            </a:ln>
            <a:effectLst/>
          </c:spPr>
          <c:marker>
            <c:symbol val="circle"/>
            <c:size val="5"/>
            <c:spPr>
              <a:solidFill>
                <a:srgbClr val="A02B93"/>
              </a:solidFill>
              <a:ln w="9525" cap="flat">
                <a:solidFill>
                  <a:srgbClr val="A02B93"/>
                </a:solidFill>
                <a:prstDash val="solid"/>
                <a:round/>
              </a:ln>
              <a:effectLst/>
            </c:spPr>
          </c:marker>
          <c:cat>
            <c:strRef>
              <c:f>Sheet1!$A$2:$A$9</c:f>
              <c:strCache>
                <c:ptCount val="8"/>
                <c:pt idx="0">
                  <c:v>0.01</c:v>
                </c:pt>
                <c:pt idx="1">
                  <c:v>0.1</c:v>
                </c:pt>
                <c:pt idx="2">
                  <c:v>0.5</c:v>
                </c:pt>
                <c:pt idx="3">
                  <c:v>1</c:v>
                </c:pt>
                <c:pt idx="4">
                  <c:v>2</c:v>
                </c:pt>
                <c:pt idx="5">
                  <c:v>5</c:v>
                </c:pt>
                <c:pt idx="6">
                  <c:v>10</c:v>
                </c:pt>
                <c:pt idx="7">
                  <c:v>20</c:v>
                </c:pt>
              </c:strCache>
            </c:strRef>
          </c:cat>
          <c:val>
            <c:numRef>
              <c:f>Sheet1!$G$2:$G$9</c:f>
              <c:numCache>
                <c:formatCode>General</c:formatCode>
                <c:ptCount val="8"/>
                <c:pt idx="0">
                  <c:v>21.424061651195625</c:v>
                </c:pt>
                <c:pt idx="1">
                  <c:v>13.725663288131916</c:v>
                </c:pt>
                <c:pt idx="2">
                  <c:v>0</c:v>
                </c:pt>
                <c:pt idx="3">
                  <c:v>0</c:v>
                </c:pt>
                <c:pt idx="4">
                  <c:v>0</c:v>
                </c:pt>
                <c:pt idx="5">
                  <c:v>0</c:v>
                </c:pt>
                <c:pt idx="6">
                  <c:v>0</c:v>
                </c:pt>
                <c:pt idx="7">
                  <c:v>0</c:v>
                </c:pt>
              </c:numCache>
            </c:numRef>
          </c:val>
          <c:smooth val="0"/>
          <c:extLst>
            <c:ext xmlns:c16="http://schemas.microsoft.com/office/drawing/2014/chart" uri="{C3380CC4-5D6E-409C-BE32-E72D297353CC}">
              <c16:uniqueId val="{00000005-0533-4E94-848B-EC49CF876025}"/>
            </c:ext>
          </c:extLst>
        </c:ser>
        <c:ser>
          <c:idx val="6"/>
          <c:order val="6"/>
          <c:tx>
            <c:strRef>
              <c:f>Sheet1!$H$1</c:f>
              <c:strCache>
                <c:ptCount val="1"/>
                <c:pt idx="0">
                  <c:v>s3</c:v>
                </c:pt>
              </c:strCache>
            </c:strRef>
          </c:tx>
          <c:spPr>
            <a:ln w="31750" cap="flat">
              <a:solidFill>
                <a:srgbClr val="196B24"/>
              </a:solidFill>
              <a:prstDash val="solid"/>
              <a:round/>
            </a:ln>
            <a:effectLst/>
          </c:spPr>
          <c:marker>
            <c:symbol val="circle"/>
            <c:size val="5"/>
            <c:spPr>
              <a:solidFill>
                <a:srgbClr val="196B24"/>
              </a:solidFill>
              <a:ln w="9525" cap="flat">
                <a:solidFill>
                  <a:srgbClr val="196B24"/>
                </a:solidFill>
                <a:prstDash val="solid"/>
                <a:round/>
              </a:ln>
              <a:effectLst/>
            </c:spPr>
          </c:marker>
          <c:cat>
            <c:strRef>
              <c:f>Sheet1!$A$2:$A$9</c:f>
              <c:strCache>
                <c:ptCount val="8"/>
                <c:pt idx="0">
                  <c:v>0.01</c:v>
                </c:pt>
                <c:pt idx="1">
                  <c:v>0.1</c:v>
                </c:pt>
                <c:pt idx="2">
                  <c:v>0.5</c:v>
                </c:pt>
                <c:pt idx="3">
                  <c:v>1</c:v>
                </c:pt>
                <c:pt idx="4">
                  <c:v>2</c:v>
                </c:pt>
                <c:pt idx="5">
                  <c:v>5</c:v>
                </c:pt>
                <c:pt idx="6">
                  <c:v>10</c:v>
                </c:pt>
                <c:pt idx="7">
                  <c:v>20</c:v>
                </c:pt>
              </c:strCache>
            </c:strRef>
          </c:cat>
          <c:val>
            <c:numRef>
              <c:f>Sheet1!$H$2:$H$9</c:f>
              <c:numCache>
                <c:formatCode>General</c:formatCode>
                <c:ptCount val="8"/>
                <c:pt idx="0">
                  <c:v>4.0298526378354111</c:v>
                </c:pt>
                <c:pt idx="1">
                  <c:v>0</c:v>
                </c:pt>
                <c:pt idx="2">
                  <c:v>-8.449715020721241</c:v>
                </c:pt>
                <c:pt idx="3">
                  <c:v>-10.622799188839927</c:v>
                </c:pt>
                <c:pt idx="4">
                  <c:v>-10.054295803170753</c:v>
                </c:pt>
                <c:pt idx="5">
                  <c:v>-7.0250951359961249</c:v>
                </c:pt>
                <c:pt idx="6">
                  <c:v>-3.0880393831313082</c:v>
                </c:pt>
                <c:pt idx="7">
                  <c:v>0</c:v>
                </c:pt>
              </c:numCache>
            </c:numRef>
          </c:val>
          <c:smooth val="0"/>
          <c:extLst>
            <c:ext xmlns:c16="http://schemas.microsoft.com/office/drawing/2014/chart" uri="{C3380CC4-5D6E-409C-BE32-E72D297353CC}">
              <c16:uniqueId val="{00000006-0533-4E94-848B-EC49CF876025}"/>
            </c:ext>
          </c:extLst>
        </c:ser>
        <c:ser>
          <c:idx val="7"/>
          <c:order val="7"/>
          <c:tx>
            <c:strRef>
              <c:f>Sheet1!$I$1</c:f>
              <c:strCache>
                <c:ptCount val="1"/>
                <c:pt idx="0">
                  <c:v>s4</c:v>
                </c:pt>
              </c:strCache>
            </c:strRef>
          </c:tx>
          <c:spPr>
            <a:ln w="31750" cap="flat">
              <a:solidFill>
                <a:srgbClr val="C9CED6"/>
              </a:solidFill>
              <a:prstDash val="solid"/>
              <a:round/>
            </a:ln>
            <a:effectLst/>
          </c:spPr>
          <c:marker>
            <c:symbol val="circle"/>
            <c:size val="5"/>
            <c:spPr>
              <a:solidFill>
                <a:srgbClr val="C9CED6"/>
              </a:solidFill>
              <a:ln w="9525" cap="flat">
                <a:solidFill>
                  <a:srgbClr val="C9CED6"/>
                </a:solidFill>
                <a:prstDash val="solid"/>
                <a:round/>
              </a:ln>
              <a:effectLst/>
            </c:spPr>
          </c:marker>
          <c:cat>
            <c:strRef>
              <c:f>Sheet1!$A$2:$A$9</c:f>
              <c:strCache>
                <c:ptCount val="8"/>
                <c:pt idx="0">
                  <c:v>0.01</c:v>
                </c:pt>
                <c:pt idx="1">
                  <c:v>0.1</c:v>
                </c:pt>
                <c:pt idx="2">
                  <c:v>0.5</c:v>
                </c:pt>
                <c:pt idx="3">
                  <c:v>1</c:v>
                </c:pt>
                <c:pt idx="4">
                  <c:v>2</c:v>
                </c:pt>
                <c:pt idx="5">
                  <c:v>5</c:v>
                </c:pt>
                <c:pt idx="6">
                  <c:v>10</c:v>
                </c:pt>
                <c:pt idx="7">
                  <c:v>20</c:v>
                </c:pt>
              </c:strCache>
            </c:strRef>
          </c:cat>
          <c:val>
            <c:numRef>
              <c:f>Sheet1!$I$2:$I$9</c:f>
              <c:numCache>
                <c:formatCode>General</c:formatCode>
                <c:ptCount val="8"/>
                <c:pt idx="0">
                  <c:v>8.1366138597873068</c:v>
                </c:pt>
                <c:pt idx="1">
                  <c:v>7.0555744748259102</c:v>
                </c:pt>
                <c:pt idx="2">
                  <c:v>3.2843260766532296</c:v>
                </c:pt>
                <c:pt idx="3">
                  <c:v>0</c:v>
                </c:pt>
                <c:pt idx="4">
                  <c:v>0</c:v>
                </c:pt>
                <c:pt idx="5">
                  <c:v>0</c:v>
                </c:pt>
                <c:pt idx="6">
                  <c:v>0</c:v>
                </c:pt>
                <c:pt idx="7">
                  <c:v>0</c:v>
                </c:pt>
              </c:numCache>
            </c:numRef>
          </c:val>
          <c:smooth val="0"/>
          <c:extLst>
            <c:ext xmlns:c16="http://schemas.microsoft.com/office/drawing/2014/chart" uri="{C3380CC4-5D6E-409C-BE32-E72D297353CC}">
              <c16:uniqueId val="{00000007-0533-4E94-848B-EC49CF876025}"/>
            </c:ext>
          </c:extLst>
        </c:ser>
        <c:ser>
          <c:idx val="8"/>
          <c:order val="8"/>
          <c:tx>
            <c:strRef>
              <c:f>Sheet1!$J$1</c:f>
              <c:strCache>
                <c:ptCount val="1"/>
                <c:pt idx="0">
                  <c:v>s5</c:v>
                </c:pt>
              </c:strCache>
            </c:strRef>
          </c:tx>
          <c:spPr>
            <a:ln w="31750" cap="flat">
              <a:solidFill>
                <a:srgbClr val="4EA72E"/>
              </a:solidFill>
              <a:prstDash val="solid"/>
              <a:round/>
            </a:ln>
            <a:effectLst/>
          </c:spPr>
          <c:marker>
            <c:symbol val="circle"/>
            <c:size val="5"/>
            <c:spPr>
              <a:solidFill>
                <a:srgbClr val="4EA72E"/>
              </a:solidFill>
              <a:ln w="9525" cap="flat">
                <a:solidFill>
                  <a:srgbClr val="4EA72E"/>
                </a:solidFill>
                <a:prstDash val="solid"/>
                <a:round/>
              </a:ln>
              <a:effectLst/>
            </c:spPr>
          </c:marker>
          <c:cat>
            <c:strRef>
              <c:f>Sheet1!$A$2:$A$9</c:f>
              <c:strCache>
                <c:ptCount val="8"/>
                <c:pt idx="0">
                  <c:v>0.01</c:v>
                </c:pt>
                <c:pt idx="1">
                  <c:v>0.1</c:v>
                </c:pt>
                <c:pt idx="2">
                  <c:v>0.5</c:v>
                </c:pt>
                <c:pt idx="3">
                  <c:v>1</c:v>
                </c:pt>
                <c:pt idx="4">
                  <c:v>2</c:v>
                </c:pt>
                <c:pt idx="5">
                  <c:v>5</c:v>
                </c:pt>
                <c:pt idx="6">
                  <c:v>10</c:v>
                </c:pt>
                <c:pt idx="7">
                  <c:v>20</c:v>
                </c:pt>
              </c:strCache>
            </c:strRef>
          </c:cat>
          <c:val>
            <c:numRef>
              <c:f>Sheet1!$J$2:$J$9</c:f>
              <c:numCache>
                <c:formatCode>General</c:formatCode>
                <c:ptCount val="8"/>
                <c:pt idx="0">
                  <c:v>35.147571604627103</c:v>
                </c:pt>
                <c:pt idx="1">
                  <c:v>31.575061705134015</c:v>
                </c:pt>
                <c:pt idx="2">
                  <c:v>24.953043343505634</c:v>
                </c:pt>
                <c:pt idx="3">
                  <c:v>24.420810574312352</c:v>
                </c:pt>
                <c:pt idx="4">
                  <c:v>23.14772447912846</c:v>
                </c:pt>
                <c:pt idx="5">
                  <c:v>21.229772989426781</c:v>
                </c:pt>
                <c:pt idx="6">
                  <c:v>19.585932424706243</c:v>
                </c:pt>
                <c:pt idx="7">
                  <c:v>15.178565908158088</c:v>
                </c:pt>
              </c:numCache>
            </c:numRef>
          </c:val>
          <c:smooth val="0"/>
          <c:extLst>
            <c:ext xmlns:c16="http://schemas.microsoft.com/office/drawing/2014/chart" uri="{C3380CC4-5D6E-409C-BE32-E72D297353CC}">
              <c16:uniqueId val="{00000008-0533-4E94-848B-EC49CF876025}"/>
            </c:ext>
          </c:extLst>
        </c:ser>
        <c:ser>
          <c:idx val="9"/>
          <c:order val="9"/>
          <c:tx>
            <c:strRef>
              <c:f>Sheet1!$K$1</c:f>
              <c:strCache>
                <c:ptCount val="1"/>
                <c:pt idx="0">
                  <c:v>s6</c:v>
                </c:pt>
              </c:strCache>
            </c:strRef>
          </c:tx>
          <c:spPr>
            <a:ln w="31750" cap="flat">
              <a:solidFill>
                <a:srgbClr val="7C8798"/>
              </a:solidFill>
              <a:prstDash val="solid"/>
              <a:round/>
            </a:ln>
            <a:effectLst/>
          </c:spPr>
          <c:marker>
            <c:symbol val="circle"/>
            <c:size val="5"/>
            <c:spPr>
              <a:solidFill>
                <a:srgbClr val="7C8798"/>
              </a:solidFill>
              <a:ln w="9525" cap="flat">
                <a:solidFill>
                  <a:srgbClr val="7C8798"/>
                </a:solidFill>
                <a:prstDash val="solid"/>
                <a:round/>
              </a:ln>
              <a:effectLst/>
            </c:spPr>
          </c:marker>
          <c:cat>
            <c:strRef>
              <c:f>Sheet1!$A$2:$A$9</c:f>
              <c:strCache>
                <c:ptCount val="8"/>
                <c:pt idx="0">
                  <c:v>0.01</c:v>
                </c:pt>
                <c:pt idx="1">
                  <c:v>0.1</c:v>
                </c:pt>
                <c:pt idx="2">
                  <c:v>0.5</c:v>
                </c:pt>
                <c:pt idx="3">
                  <c:v>1</c:v>
                </c:pt>
                <c:pt idx="4">
                  <c:v>2</c:v>
                </c:pt>
                <c:pt idx="5">
                  <c:v>5</c:v>
                </c:pt>
                <c:pt idx="6">
                  <c:v>10</c:v>
                </c:pt>
                <c:pt idx="7">
                  <c:v>20</c:v>
                </c:pt>
              </c:strCache>
            </c:strRef>
          </c:cat>
          <c:val>
            <c:numRef>
              <c:f>Sheet1!$K$2:$K$9</c:f>
              <c:numCache>
                <c:formatCode>General</c:formatCode>
                <c:ptCount val="8"/>
                <c:pt idx="0">
                  <c:v>3.2132828366826049</c:v>
                </c:pt>
                <c:pt idx="1">
                  <c:v>3.1584765012349547</c:v>
                </c:pt>
                <c:pt idx="2">
                  <c:v>2.9070292407193294</c:v>
                </c:pt>
                <c:pt idx="3">
                  <c:v>2.5621298669139145</c:v>
                </c:pt>
                <c:pt idx="4">
                  <c:v>1.690878503441505</c:v>
                </c:pt>
                <c:pt idx="5">
                  <c:v>0</c:v>
                </c:pt>
                <c:pt idx="6">
                  <c:v>0</c:v>
                </c:pt>
                <c:pt idx="7">
                  <c:v>0</c:v>
                </c:pt>
              </c:numCache>
            </c:numRef>
          </c:val>
          <c:smooth val="0"/>
          <c:extLst>
            <c:ext xmlns:c16="http://schemas.microsoft.com/office/drawing/2014/chart" uri="{C3380CC4-5D6E-409C-BE32-E72D297353CC}">
              <c16:uniqueId val="{00000009-0533-4E94-848B-EC49CF87602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4A5568"/>
                    </a:solidFill>
                    <a:latin typeface="+mn-lt"/>
                  </a:defRPr>
                </a:pPr>
                <a:r>
                  <a:rPr lang="el-GR" sz="1200" b="0" i="0" u="none" strike="noStrike">
                    <a:solidFill>
                      <a:srgbClr val="4A5568"/>
                    </a:solidFill>
                    <a:latin typeface="+mn-lt"/>
                  </a:rPr>
                  <a:t>α (</a:t>
                </a:r>
                <a:r>
                  <a:rPr lang="en-US" sz="1200" b="0" i="0" u="none" strike="noStrike">
                    <a:solidFill>
                      <a:srgbClr val="4A5568"/>
                    </a:solidFill>
                    <a:latin typeface="+mn-lt"/>
                  </a:rPr>
                  <a:t>increasing)</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1E1E1"/>
              </a:solidFill>
              <a:prstDash val="solid"/>
              <a:round/>
            </a:ln>
          </c:spPr>
        </c:majorGridlines>
        <c:title>
          <c:tx>
            <c:rich>
              <a:bodyPr/>
              <a:lstStyle/>
              <a:p>
                <a:pPr>
                  <a:defRPr sz="1200" b="0" i="0" u="none" strike="noStrike">
                    <a:solidFill>
                      <a:srgbClr val="4A5568"/>
                    </a:solidFill>
                    <a:latin typeface="+mn-lt"/>
                  </a:defRPr>
                </a:pPr>
                <a:r>
                  <a:rPr lang="en-US" sz="1200" b="0" i="0" u="none" strike="noStrike">
                    <a:solidFill>
                      <a:srgbClr val="4A5568"/>
                    </a:solidFill>
                    <a:latin typeface="+mn-lt"/>
                  </a:rPr>
                  <a:t>Standardized coefficient</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E28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E2841"/>
                </a:solidFill>
                <a:latin typeface="+mn-lt"/>
              </a:defRPr>
            </a:pPr>
            <a:r>
              <a:rPr lang="en-US" sz="1400" b="0" i="0" u="none" strike="noStrike">
                <a:solidFill>
                  <a:srgbClr val="0E2841"/>
                </a:solidFill>
                <a:latin typeface="+mn-lt"/>
              </a:rPr>
              <a:t>Ridge on diabetes data (axis starts at 2,800)</a:t>
            </a:r>
          </a:p>
        </c:rich>
      </c:tx>
      <c:overlay val="0"/>
    </c:title>
    <c:autoTitleDeleted val="0"/>
    <c:plotArea>
      <c:layout/>
      <c:lineChart>
        <c:grouping val="standard"/>
        <c:varyColors val="0"/>
        <c:ser>
          <c:idx val="0"/>
          <c:order val="0"/>
          <c:tx>
            <c:strRef>
              <c:f>Sheet1!$B$1</c:f>
              <c:strCache>
                <c:ptCount val="1"/>
                <c:pt idx="0">
                  <c:v>5-fold CV error</c:v>
                </c:pt>
              </c:strCache>
            </c:strRef>
          </c:tx>
          <c:spPr>
            <a:ln w="38100" cap="flat">
              <a:solidFill>
                <a:srgbClr val="E97132"/>
              </a:solidFill>
              <a:prstDash val="solid"/>
              <a:round/>
            </a:ln>
            <a:effectLst/>
          </c:spPr>
          <c:marker>
            <c:symbol val="circle"/>
            <c:size val="7"/>
            <c:spPr>
              <a:solidFill>
                <a:srgbClr val="E97132"/>
              </a:solidFill>
              <a:ln w="9525" cap="flat">
                <a:solidFill>
                  <a:srgbClr val="E97132"/>
                </a:solidFill>
                <a:prstDash val="solid"/>
                <a:round/>
              </a:ln>
              <a:effectLst/>
            </c:spPr>
          </c:marker>
          <c:cat>
            <c:strRef>
              <c:f>Sheet1!$A$2:$A$9</c:f>
              <c:strCache>
                <c:ptCount val="8"/>
                <c:pt idx="0">
                  <c:v>0.01</c:v>
                </c:pt>
                <c:pt idx="1">
                  <c:v>0.1</c:v>
                </c:pt>
                <c:pt idx="2">
                  <c:v>1</c:v>
                </c:pt>
                <c:pt idx="3">
                  <c:v>10</c:v>
                </c:pt>
                <c:pt idx="4">
                  <c:v>30</c:v>
                </c:pt>
                <c:pt idx="5">
                  <c:v>100</c:v>
                </c:pt>
                <c:pt idx="6">
                  <c:v>300</c:v>
                </c:pt>
                <c:pt idx="7">
                  <c:v>1000</c:v>
                </c:pt>
              </c:strCache>
            </c:strRef>
          </c:cat>
          <c:val>
            <c:numRef>
              <c:f>Sheet1!$B$2:$B$9</c:f>
              <c:numCache>
                <c:formatCode>General</c:formatCode>
                <c:ptCount val="8"/>
                <c:pt idx="0">
                  <c:v>2977.5304561044786</c:v>
                </c:pt>
                <c:pt idx="1">
                  <c:v>2976.9647035113221</c:v>
                </c:pt>
                <c:pt idx="2">
                  <c:v>2974.1943911323942</c:v>
                </c:pt>
                <c:pt idx="3">
                  <c:v>2975.829343333563</c:v>
                </c:pt>
                <c:pt idx="4">
                  <c:v>2979.5246348414862</c:v>
                </c:pt>
                <c:pt idx="5">
                  <c:v>3025.8926432457793</c:v>
                </c:pt>
                <c:pt idx="6">
                  <c:v>3249.782784779316</c:v>
                </c:pt>
                <c:pt idx="7">
                  <c:v>3887.6114205193494</c:v>
                </c:pt>
              </c:numCache>
            </c:numRef>
          </c:val>
          <c:smooth val="0"/>
          <c:extLst>
            <c:ext xmlns:c16="http://schemas.microsoft.com/office/drawing/2014/chart" uri="{C3380CC4-5D6E-409C-BE32-E72D297353CC}">
              <c16:uniqueId val="{00000000-AC7C-498D-BAA4-FC5711A2E8E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4A5568"/>
                    </a:solidFill>
                    <a:latin typeface="+mn-lt"/>
                  </a:defRPr>
                </a:pPr>
                <a:r>
                  <a:rPr lang="el-GR" sz="1200" b="0" i="0" u="none" strike="noStrike">
                    <a:solidFill>
                      <a:srgbClr val="4A5568"/>
                    </a:solidFill>
                    <a:latin typeface="+mn-lt"/>
                  </a:rPr>
                  <a:t>α</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min val="2800"/>
        </c:scaling>
        <c:delete val="0"/>
        <c:axPos val="l"/>
        <c:majorGridlines>
          <c:spPr>
            <a:ln w="9525" cap="flat">
              <a:solidFill>
                <a:srgbClr val="E1E1E1"/>
              </a:solidFill>
              <a:prstDash val="solid"/>
              <a:round/>
            </a:ln>
          </c:spPr>
        </c:majorGridlines>
        <c:title>
          <c:tx>
            <c:rich>
              <a:bodyPr/>
              <a:lstStyle/>
              <a:p>
                <a:pPr>
                  <a:defRPr sz="1200" b="0" i="0" u="none" strike="noStrike">
                    <a:solidFill>
                      <a:srgbClr val="4A5568"/>
                    </a:solidFill>
                    <a:latin typeface="+mn-lt"/>
                  </a:defRPr>
                </a:pPr>
                <a:r>
                  <a:rPr lang="en-US" sz="1200" b="0" i="0" u="none" strike="noStrike">
                    <a:solidFill>
                      <a:srgbClr val="4A5568"/>
                    </a:solidFill>
                    <a:latin typeface="+mn-lt"/>
                  </a:rPr>
                  <a:t>CV mean squared error</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E2841"/>
                </a:solidFill>
                <a:latin typeface="+mn-lt"/>
              </a:defRPr>
            </a:pPr>
            <a:r>
              <a:rPr lang="en-US" sz="1400" b="0" i="0" u="none" strike="noStrike">
                <a:solidFill>
                  <a:srgbClr val="0E2841"/>
                </a:solidFill>
                <a:latin typeface="+mn-lt"/>
              </a:rPr>
              <a:t>Lasso on diabetes data (axis starts at 2,800)</a:t>
            </a:r>
          </a:p>
        </c:rich>
      </c:tx>
      <c:overlay val="0"/>
    </c:title>
    <c:autoTitleDeleted val="0"/>
    <c:plotArea>
      <c:layout/>
      <c:lineChart>
        <c:grouping val="standard"/>
        <c:varyColors val="0"/>
        <c:ser>
          <c:idx val="0"/>
          <c:order val="0"/>
          <c:tx>
            <c:strRef>
              <c:f>Sheet1!$B$1</c:f>
              <c:strCache>
                <c:ptCount val="1"/>
                <c:pt idx="0">
                  <c:v>5-fold CV error</c:v>
                </c:pt>
              </c:strCache>
            </c:strRef>
          </c:tx>
          <c:spPr>
            <a:ln w="38100" cap="flat">
              <a:solidFill>
                <a:srgbClr val="156082"/>
              </a:solidFill>
              <a:prstDash val="solid"/>
              <a:round/>
            </a:ln>
            <a:effectLst/>
          </c:spPr>
          <c:marker>
            <c:symbol val="circle"/>
            <c:size val="7"/>
            <c:spPr>
              <a:solidFill>
                <a:srgbClr val="156082"/>
              </a:solidFill>
              <a:ln w="9525" cap="flat">
                <a:solidFill>
                  <a:srgbClr val="156082"/>
                </a:solidFill>
                <a:prstDash val="solid"/>
                <a:round/>
              </a:ln>
              <a:effectLst/>
            </c:spPr>
          </c:marker>
          <c:cat>
            <c:strRef>
              <c:f>Sheet1!$A$2:$A$10</c:f>
              <c:strCache>
                <c:ptCount val="9"/>
                <c:pt idx="0">
                  <c:v>0.01</c:v>
                </c:pt>
                <c:pt idx="1">
                  <c:v>0.1</c:v>
                </c:pt>
                <c:pt idx="2">
                  <c:v>0.3</c:v>
                </c:pt>
                <c:pt idx="3">
                  <c:v>1</c:v>
                </c:pt>
                <c:pt idx="4">
                  <c:v>2</c:v>
                </c:pt>
                <c:pt idx="5">
                  <c:v>5</c:v>
                </c:pt>
                <c:pt idx="6">
                  <c:v>10</c:v>
                </c:pt>
                <c:pt idx="7">
                  <c:v>20</c:v>
                </c:pt>
                <c:pt idx="8">
                  <c:v>40</c:v>
                </c:pt>
              </c:strCache>
            </c:strRef>
          </c:cat>
          <c:val>
            <c:numRef>
              <c:f>Sheet1!$B$2:$B$10</c:f>
              <c:numCache>
                <c:formatCode>General</c:formatCode>
                <c:ptCount val="9"/>
                <c:pt idx="0">
                  <c:v>2977.3848876323182</c:v>
                </c:pt>
                <c:pt idx="1">
                  <c:v>2974.8380070801245</c:v>
                </c:pt>
                <c:pt idx="2">
                  <c:v>2977.1454876581242</c:v>
                </c:pt>
                <c:pt idx="3">
                  <c:v>2972.1708354307871</c:v>
                </c:pt>
                <c:pt idx="4">
                  <c:v>2992.288205160467</c:v>
                </c:pt>
                <c:pt idx="5">
                  <c:v>3087.4731879627675</c:v>
                </c:pt>
                <c:pt idx="6">
                  <c:v>3268.7251385162126</c:v>
                </c:pt>
                <c:pt idx="7">
                  <c:v>3806.3031340971611</c:v>
                </c:pt>
                <c:pt idx="8">
                  <c:v>5467.6625001342309</c:v>
                </c:pt>
              </c:numCache>
            </c:numRef>
          </c:val>
          <c:smooth val="0"/>
          <c:extLst>
            <c:ext xmlns:c16="http://schemas.microsoft.com/office/drawing/2014/chart" uri="{C3380CC4-5D6E-409C-BE32-E72D297353CC}">
              <c16:uniqueId val="{00000000-14DD-449E-A68F-A7FDAF4CD68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4A5568"/>
                    </a:solidFill>
                    <a:latin typeface="+mn-lt"/>
                  </a:defRPr>
                </a:pPr>
                <a:r>
                  <a:rPr lang="el-GR" sz="1200" b="0" i="0" u="none" strike="noStrike">
                    <a:solidFill>
                      <a:srgbClr val="4A5568"/>
                    </a:solidFill>
                    <a:latin typeface="+mn-lt"/>
                  </a:rPr>
                  <a:t>α</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min val="2800"/>
        </c:scaling>
        <c:delete val="0"/>
        <c:axPos val="l"/>
        <c:majorGridlines>
          <c:spPr>
            <a:ln w="9525" cap="flat">
              <a:solidFill>
                <a:srgbClr val="E1E1E1"/>
              </a:solidFill>
              <a:prstDash val="solid"/>
              <a:round/>
            </a:ln>
          </c:spPr>
        </c:majorGridlines>
        <c:title>
          <c:tx>
            <c:rich>
              <a:bodyPr/>
              <a:lstStyle/>
              <a:p>
                <a:pPr>
                  <a:defRPr sz="1200" b="0" i="0" u="none" strike="noStrike">
                    <a:solidFill>
                      <a:srgbClr val="4A5568"/>
                    </a:solidFill>
                    <a:latin typeface="+mn-lt"/>
                  </a:defRPr>
                </a:pPr>
                <a:r>
                  <a:rPr lang="en-US" sz="1200" b="0" i="0" u="none" strike="noStrike">
                    <a:solidFill>
                      <a:srgbClr val="4A5568"/>
                    </a:solidFill>
                    <a:latin typeface="+mn-lt"/>
                  </a:rPr>
                  <a:t>CV mean squared error</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E2841"/>
                </a:solidFill>
                <a:latin typeface="+mn-lt"/>
              </a:defRPr>
            </a:pPr>
            <a:r>
              <a:rPr lang="en-US" sz="1400" b="0" i="0" u="none" strike="noStrike">
                <a:solidFill>
                  <a:srgbClr val="0E2841"/>
                </a:solidFill>
                <a:latin typeface="+mn-lt"/>
              </a:rPr>
              <a:t>Test error (MSE, lower is better)</a:t>
            </a:r>
          </a:p>
        </c:rich>
      </c:tx>
      <c:overlay val="0"/>
    </c:title>
    <c:autoTitleDeleted val="0"/>
    <c:plotArea>
      <c:layout/>
      <c:barChart>
        <c:barDir val="col"/>
        <c:grouping val="clustered"/>
        <c:varyColors val="0"/>
        <c:ser>
          <c:idx val="0"/>
          <c:order val="0"/>
          <c:tx>
            <c:strRef>
              <c:f>Sheet1!$B$1</c:f>
              <c:strCache>
                <c:ptCount val="1"/>
                <c:pt idx="0">
                  <c:v>Least squares</c:v>
                </c:pt>
              </c:strCache>
            </c:strRef>
          </c:tx>
          <c:spPr>
            <a:solidFill>
              <a:srgbClr val="4A5568"/>
            </a:solidFill>
            <a:effectLst/>
          </c:spPr>
          <c:invertIfNegative val="0"/>
          <c:dLbls>
            <c:numFmt formatCode="0.0" sourceLinked="0"/>
            <c:spPr>
              <a:noFill/>
              <a:ln>
                <a:noFill/>
              </a:ln>
              <a:effectLst/>
            </c:spPr>
            <c:txPr>
              <a:bodyPr/>
              <a:lstStyle/>
              <a:p>
                <a:pPr>
                  <a:defRPr sz="1200" b="0" i="0" u="none" strike="noStrike">
                    <a:solidFill>
                      <a:srgbClr val="0E28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 of 45 features matter</c:v>
                </c:pt>
                <c:pt idx="1">
                  <c:v>All 45 matter a little</c:v>
                </c:pt>
              </c:strCache>
            </c:strRef>
          </c:cat>
          <c:val>
            <c:numRef>
              <c:f>Sheet1!$B$2:$B$3</c:f>
              <c:numCache>
                <c:formatCode>General</c:formatCode>
                <c:ptCount val="2"/>
                <c:pt idx="0">
                  <c:v>160.19768042756616</c:v>
                </c:pt>
                <c:pt idx="1">
                  <c:v>77.797416635325135</c:v>
                </c:pt>
              </c:numCache>
            </c:numRef>
          </c:val>
          <c:extLst>
            <c:ext xmlns:c16="http://schemas.microsoft.com/office/drawing/2014/chart" uri="{C3380CC4-5D6E-409C-BE32-E72D297353CC}">
              <c16:uniqueId val="{00000000-77B9-4E22-B3B0-CCAD27852466}"/>
            </c:ext>
          </c:extLst>
        </c:ser>
        <c:ser>
          <c:idx val="1"/>
          <c:order val="1"/>
          <c:tx>
            <c:strRef>
              <c:f>Sheet1!$C$1</c:f>
              <c:strCache>
                <c:ptCount val="1"/>
                <c:pt idx="0">
                  <c:v>Ridge</c:v>
                </c:pt>
              </c:strCache>
            </c:strRef>
          </c:tx>
          <c:spPr>
            <a:solidFill>
              <a:srgbClr val="E97132"/>
            </a:solidFill>
            <a:effectLst/>
          </c:spPr>
          <c:invertIfNegative val="0"/>
          <c:dLbls>
            <c:numFmt formatCode="0.0" sourceLinked="0"/>
            <c:spPr>
              <a:noFill/>
              <a:ln>
                <a:noFill/>
              </a:ln>
              <a:effectLst/>
            </c:spPr>
            <c:txPr>
              <a:bodyPr/>
              <a:lstStyle/>
              <a:p>
                <a:pPr>
                  <a:defRPr sz="1200" b="0" i="0" u="none" strike="noStrike">
                    <a:solidFill>
                      <a:srgbClr val="0E28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 of 45 features matter</c:v>
                </c:pt>
                <c:pt idx="1">
                  <c:v>All 45 matter a little</c:v>
                </c:pt>
              </c:strCache>
            </c:strRef>
          </c:cat>
          <c:val>
            <c:numRef>
              <c:f>Sheet1!$C$2:$C$3</c:f>
              <c:numCache>
                <c:formatCode>General</c:formatCode>
                <c:ptCount val="2"/>
                <c:pt idx="0">
                  <c:v>29.180641522953046</c:v>
                </c:pt>
                <c:pt idx="1">
                  <c:v>16.287199487129392</c:v>
                </c:pt>
              </c:numCache>
            </c:numRef>
          </c:val>
          <c:extLst>
            <c:ext xmlns:c16="http://schemas.microsoft.com/office/drawing/2014/chart" uri="{C3380CC4-5D6E-409C-BE32-E72D297353CC}">
              <c16:uniqueId val="{00000001-77B9-4E22-B3B0-CCAD27852466}"/>
            </c:ext>
          </c:extLst>
        </c:ser>
        <c:ser>
          <c:idx val="2"/>
          <c:order val="2"/>
          <c:tx>
            <c:strRef>
              <c:f>Sheet1!$D$1</c:f>
              <c:strCache>
                <c:ptCount val="1"/>
                <c:pt idx="0">
                  <c:v>Lasso</c:v>
                </c:pt>
              </c:strCache>
            </c:strRef>
          </c:tx>
          <c:spPr>
            <a:solidFill>
              <a:srgbClr val="156082"/>
            </a:solidFill>
            <a:effectLst/>
          </c:spPr>
          <c:invertIfNegative val="0"/>
          <c:dLbls>
            <c:numFmt formatCode="0.0" sourceLinked="0"/>
            <c:spPr>
              <a:noFill/>
              <a:ln>
                <a:noFill/>
              </a:ln>
              <a:effectLst/>
            </c:spPr>
            <c:txPr>
              <a:bodyPr/>
              <a:lstStyle/>
              <a:p>
                <a:pPr>
                  <a:defRPr sz="1200" b="0" i="0" u="none" strike="noStrike">
                    <a:solidFill>
                      <a:srgbClr val="0E28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 of 45 features matter</c:v>
                </c:pt>
                <c:pt idx="1">
                  <c:v>All 45 matter a little</c:v>
                </c:pt>
              </c:strCache>
            </c:strRef>
          </c:cat>
          <c:val>
            <c:numRef>
              <c:f>Sheet1!$D$2:$D$3</c:f>
              <c:numCache>
                <c:formatCode>General</c:formatCode>
                <c:ptCount val="2"/>
                <c:pt idx="0">
                  <c:v>14.785657871458204</c:v>
                </c:pt>
                <c:pt idx="1">
                  <c:v>18.859799099059746</c:v>
                </c:pt>
              </c:numCache>
            </c:numRef>
          </c:val>
          <c:extLst>
            <c:ext xmlns:c16="http://schemas.microsoft.com/office/drawing/2014/chart" uri="{C3380CC4-5D6E-409C-BE32-E72D297353CC}">
              <c16:uniqueId val="{00000002-77B9-4E22-B3B0-CCAD2785246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1E1E1"/>
              </a:solidFill>
              <a:prstDash val="solid"/>
              <a:round/>
            </a:ln>
          </c:spPr>
        </c:majorGridlines>
        <c:title>
          <c:tx>
            <c:rich>
              <a:bodyPr/>
              <a:lstStyle/>
              <a:p>
                <a:pPr>
                  <a:defRPr sz="1200" b="0" i="0" u="none" strike="noStrike">
                    <a:solidFill>
                      <a:srgbClr val="4A5568"/>
                    </a:solidFill>
                    <a:latin typeface="+mn-lt"/>
                  </a:defRPr>
                </a:pPr>
                <a:r>
                  <a:rPr lang="en-US" sz="1200" b="0" i="0" u="none" strike="noStrike">
                    <a:solidFill>
                      <a:srgbClr val="4A5568"/>
                    </a:solidFill>
                    <a:latin typeface="+mn-lt"/>
                  </a:rPr>
                  <a:t>Test MSE</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E28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E2841"/>
                </a:solidFill>
                <a:latin typeface="+mn-lt"/>
              </a:defRPr>
            </a:pPr>
            <a:r>
              <a:rPr lang="en-US" sz="1400" b="0" i="0" u="none" strike="noStrike">
                <a:solidFill>
                  <a:srgbClr val="0E2841"/>
                </a:solidFill>
                <a:latin typeface="+mn-lt"/>
              </a:rPr>
              <a:t>Simulated ridge: 50 rows, 45 features (300 training sets)</a:t>
            </a:r>
          </a:p>
        </c:rich>
      </c:tx>
      <c:overlay val="0"/>
    </c:title>
    <c:autoTitleDeleted val="0"/>
    <c:plotArea>
      <c:layout/>
      <c:lineChart>
        <c:grouping val="standard"/>
        <c:varyColors val="0"/>
        <c:ser>
          <c:idx val="0"/>
          <c:order val="0"/>
          <c:tx>
            <c:strRef>
              <c:f>Sheet1!$B$1</c:f>
              <c:strCache>
                <c:ptCount val="1"/>
                <c:pt idx="0">
                  <c:v>Bias²</c:v>
                </c:pt>
              </c:strCache>
            </c:strRef>
          </c:tx>
          <c:spPr>
            <a:ln w="38100" cap="flat">
              <a:solidFill>
                <a:srgbClr val="156082"/>
              </a:solidFill>
              <a:prstDash val="solid"/>
              <a:round/>
            </a:ln>
            <a:effectLst/>
          </c:spPr>
          <c:marker>
            <c:symbol val="circle"/>
            <c:size val="7"/>
            <c:spPr>
              <a:solidFill>
                <a:srgbClr val="156082"/>
              </a:solidFill>
              <a:ln w="9525" cap="flat">
                <a:solidFill>
                  <a:srgbClr val="156082"/>
                </a:solidFill>
                <a:prstDash val="solid"/>
                <a:round/>
              </a:ln>
              <a:effectLst/>
            </c:spPr>
          </c:marker>
          <c:cat>
            <c:strRef>
              <c:f>Sheet1!$A$2:$A$9</c:f>
              <c:strCache>
                <c:ptCount val="8"/>
                <c:pt idx="0">
                  <c:v>0.01</c:v>
                </c:pt>
                <c:pt idx="1">
                  <c:v>0.1</c:v>
                </c:pt>
                <c:pt idx="2">
                  <c:v>1</c:v>
                </c:pt>
                <c:pt idx="3">
                  <c:v>10</c:v>
                </c:pt>
                <c:pt idx="4">
                  <c:v>30</c:v>
                </c:pt>
                <c:pt idx="5">
                  <c:v>100</c:v>
                </c:pt>
                <c:pt idx="6">
                  <c:v>300</c:v>
                </c:pt>
                <c:pt idx="7">
                  <c:v>1000</c:v>
                </c:pt>
              </c:strCache>
            </c:strRef>
          </c:cat>
          <c:val>
            <c:numRef>
              <c:f>Sheet1!$B$2:$B$9</c:f>
              <c:numCache>
                <c:formatCode>General</c:formatCode>
                <c:ptCount val="8"/>
                <c:pt idx="0">
                  <c:v>4.1013216988886318E-2</c:v>
                </c:pt>
                <c:pt idx="1">
                  <c:v>0.17543493789145245</c:v>
                </c:pt>
                <c:pt idx="2">
                  <c:v>0.94953815033559674</c:v>
                </c:pt>
                <c:pt idx="3">
                  <c:v>4.8462257556324859</c:v>
                </c:pt>
                <c:pt idx="4">
                  <c:v>6.8808282521323143</c:v>
                </c:pt>
                <c:pt idx="5">
                  <c:v>10.091126794229133</c:v>
                </c:pt>
                <c:pt idx="6">
                  <c:v>13.521282878051919</c:v>
                </c:pt>
                <c:pt idx="7">
                  <c:v>16.245789670046094</c:v>
                </c:pt>
              </c:numCache>
            </c:numRef>
          </c:val>
          <c:smooth val="0"/>
          <c:extLst>
            <c:ext xmlns:c16="http://schemas.microsoft.com/office/drawing/2014/chart" uri="{C3380CC4-5D6E-409C-BE32-E72D297353CC}">
              <c16:uniqueId val="{00000000-76A1-4313-8839-8C154094DFFF}"/>
            </c:ext>
          </c:extLst>
        </c:ser>
        <c:ser>
          <c:idx val="1"/>
          <c:order val="1"/>
          <c:tx>
            <c:strRef>
              <c:f>Sheet1!$C$1</c:f>
              <c:strCache>
                <c:ptCount val="1"/>
                <c:pt idx="0">
                  <c:v>Variance</c:v>
                </c:pt>
              </c:strCache>
            </c:strRef>
          </c:tx>
          <c:spPr>
            <a:ln w="38100" cap="flat">
              <a:solidFill>
                <a:srgbClr val="E97132"/>
              </a:solidFill>
              <a:prstDash val="solid"/>
              <a:round/>
            </a:ln>
            <a:effectLst/>
          </c:spPr>
          <c:marker>
            <c:symbol val="circle"/>
            <c:size val="7"/>
            <c:spPr>
              <a:solidFill>
                <a:srgbClr val="E97132"/>
              </a:solidFill>
              <a:ln w="9525" cap="flat">
                <a:solidFill>
                  <a:srgbClr val="E97132"/>
                </a:solidFill>
                <a:prstDash val="solid"/>
                <a:round/>
              </a:ln>
              <a:effectLst/>
            </c:spPr>
          </c:marker>
          <c:cat>
            <c:strRef>
              <c:f>Sheet1!$A$2:$A$9</c:f>
              <c:strCache>
                <c:ptCount val="8"/>
                <c:pt idx="0">
                  <c:v>0.01</c:v>
                </c:pt>
                <c:pt idx="1">
                  <c:v>0.1</c:v>
                </c:pt>
                <c:pt idx="2">
                  <c:v>1</c:v>
                </c:pt>
                <c:pt idx="3">
                  <c:v>10</c:v>
                </c:pt>
                <c:pt idx="4">
                  <c:v>30</c:v>
                </c:pt>
                <c:pt idx="5">
                  <c:v>100</c:v>
                </c:pt>
                <c:pt idx="6">
                  <c:v>300</c:v>
                </c:pt>
                <c:pt idx="7">
                  <c:v>1000</c:v>
                </c:pt>
              </c:strCache>
            </c:strRef>
          </c:cat>
          <c:val>
            <c:numRef>
              <c:f>Sheet1!$C$2:$C$9</c:f>
              <c:numCache>
                <c:formatCode>General</c:formatCode>
                <c:ptCount val="8"/>
                <c:pt idx="0">
                  <c:v>29.102821426454042</c:v>
                </c:pt>
                <c:pt idx="1">
                  <c:v>25.521584892619146</c:v>
                </c:pt>
                <c:pt idx="2">
                  <c:v>13.531574905817671</c:v>
                </c:pt>
                <c:pt idx="3">
                  <c:v>2.8907417486956586</c:v>
                </c:pt>
                <c:pt idx="4">
                  <c:v>1.2003870507577312</c:v>
                </c:pt>
                <c:pt idx="5">
                  <c:v>0.39836743887672282</c:v>
                </c:pt>
                <c:pt idx="6">
                  <c:v>0.15292533981623443</c:v>
                </c:pt>
                <c:pt idx="7">
                  <c:v>0.10533346709959047</c:v>
                </c:pt>
              </c:numCache>
            </c:numRef>
          </c:val>
          <c:smooth val="0"/>
          <c:extLst>
            <c:ext xmlns:c16="http://schemas.microsoft.com/office/drawing/2014/chart" uri="{C3380CC4-5D6E-409C-BE32-E72D297353CC}">
              <c16:uniqueId val="{00000001-76A1-4313-8839-8C154094DFFF}"/>
            </c:ext>
          </c:extLst>
        </c:ser>
        <c:ser>
          <c:idx val="2"/>
          <c:order val="2"/>
          <c:tx>
            <c:strRef>
              <c:f>Sheet1!$D$1</c:f>
              <c:strCache>
                <c:ptCount val="1"/>
                <c:pt idx="0">
                  <c:v>Test error</c:v>
                </c:pt>
              </c:strCache>
            </c:strRef>
          </c:tx>
          <c:spPr>
            <a:ln w="38100" cap="flat">
              <a:solidFill>
                <a:srgbClr val="0E2841"/>
              </a:solidFill>
              <a:prstDash val="solid"/>
              <a:round/>
            </a:ln>
            <a:effectLst/>
          </c:spPr>
          <c:marker>
            <c:symbol val="circle"/>
            <c:size val="7"/>
            <c:spPr>
              <a:solidFill>
                <a:srgbClr val="0E2841"/>
              </a:solidFill>
              <a:ln w="9525" cap="flat">
                <a:solidFill>
                  <a:srgbClr val="0E2841"/>
                </a:solidFill>
                <a:prstDash val="solid"/>
                <a:round/>
              </a:ln>
              <a:effectLst/>
            </c:spPr>
          </c:marker>
          <c:cat>
            <c:strRef>
              <c:f>Sheet1!$A$2:$A$9</c:f>
              <c:strCache>
                <c:ptCount val="8"/>
                <c:pt idx="0">
                  <c:v>0.01</c:v>
                </c:pt>
                <c:pt idx="1">
                  <c:v>0.1</c:v>
                </c:pt>
                <c:pt idx="2">
                  <c:v>1</c:v>
                </c:pt>
                <c:pt idx="3">
                  <c:v>10</c:v>
                </c:pt>
                <c:pt idx="4">
                  <c:v>30</c:v>
                </c:pt>
                <c:pt idx="5">
                  <c:v>100</c:v>
                </c:pt>
                <c:pt idx="6">
                  <c:v>300</c:v>
                </c:pt>
                <c:pt idx="7">
                  <c:v>1000</c:v>
                </c:pt>
              </c:strCache>
            </c:strRef>
          </c:cat>
          <c:val>
            <c:numRef>
              <c:f>Sheet1!$D$2:$D$9</c:f>
              <c:numCache>
                <c:formatCode>General</c:formatCode>
                <c:ptCount val="8"/>
                <c:pt idx="0">
                  <c:v>33.540078997623901</c:v>
                </c:pt>
                <c:pt idx="1">
                  <c:v>30.09326418469157</c:v>
                </c:pt>
                <c:pt idx="2">
                  <c:v>18.877357410334238</c:v>
                </c:pt>
                <c:pt idx="3">
                  <c:v>12.133211858509116</c:v>
                </c:pt>
                <c:pt idx="4">
                  <c:v>12.477459657071016</c:v>
                </c:pt>
                <c:pt idx="5">
                  <c:v>14.885738587286827</c:v>
                </c:pt>
                <c:pt idx="6">
                  <c:v>18.070452572049124</c:v>
                </c:pt>
                <c:pt idx="7">
                  <c:v>20.747367491326656</c:v>
                </c:pt>
              </c:numCache>
            </c:numRef>
          </c:val>
          <c:smooth val="0"/>
          <c:extLst>
            <c:ext xmlns:c16="http://schemas.microsoft.com/office/drawing/2014/chart" uri="{C3380CC4-5D6E-409C-BE32-E72D297353CC}">
              <c16:uniqueId val="{00000002-76A1-4313-8839-8C154094DFF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4A5568"/>
                    </a:solidFill>
                    <a:latin typeface="+mn-lt"/>
                  </a:defRPr>
                </a:pPr>
                <a:r>
                  <a:rPr lang="en-US" sz="1200" b="0" i="0" u="none" strike="noStrike">
                    <a:solidFill>
                      <a:srgbClr val="4A5568"/>
                    </a:solidFill>
                    <a:latin typeface="+mn-lt"/>
                  </a:rPr>
                  <a:t>α (each step roughly 3–10× larger)</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1E1E1"/>
              </a:solidFill>
              <a:prstDash val="solid"/>
              <a:round/>
            </a:ln>
          </c:spPr>
        </c:majorGridlines>
        <c:title>
          <c:tx>
            <c:rich>
              <a:bodyPr/>
              <a:lstStyle/>
              <a:p>
                <a:pPr>
                  <a:defRPr sz="1200" b="0" i="0" u="none" strike="noStrike">
                    <a:solidFill>
                      <a:srgbClr val="4A5568"/>
                    </a:solidFill>
                    <a:latin typeface="+mn-lt"/>
                  </a:defRPr>
                </a:pPr>
                <a:r>
                  <a:rPr lang="en-US" sz="1200" b="0" i="0" u="none" strike="noStrike">
                    <a:solidFill>
                      <a:srgbClr val="4A5568"/>
                    </a:solidFill>
                    <a:latin typeface="+mn-lt"/>
                  </a:rPr>
                  <a:t>Error</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E28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E2841"/>
                </a:solidFill>
                <a:latin typeface="+mn-lt"/>
              </a:defRPr>
            </a:pPr>
            <a:r>
              <a:rPr lang="en-US" sz="1400" b="0" i="0" u="none" strike="noStrike">
                <a:solidFill>
                  <a:srgbClr val="0E2841"/>
                </a:solidFill>
                <a:latin typeface="+mn-lt"/>
              </a:rPr>
              <a:t>Standardized coefficients, diabetes data</a:t>
            </a:r>
          </a:p>
        </c:rich>
      </c:tx>
      <c:overlay val="0"/>
    </c:title>
    <c:autoTitleDeleted val="0"/>
    <c:plotArea>
      <c:layout/>
      <c:barChart>
        <c:barDir val="col"/>
        <c:grouping val="clustered"/>
        <c:varyColors val="0"/>
        <c:ser>
          <c:idx val="0"/>
          <c:order val="0"/>
          <c:tx>
            <c:strRef>
              <c:f>Sheet1!$B$1</c:f>
              <c:strCache>
                <c:ptCount val="1"/>
                <c:pt idx="0">
                  <c:v>Least squares</c:v>
                </c:pt>
              </c:strCache>
            </c:strRef>
          </c:tx>
          <c:spPr>
            <a:solidFill>
              <a:srgbClr val="4A5568"/>
            </a:solidFill>
            <a:effectLst/>
          </c:spPr>
          <c:invertIfNegative val="0"/>
          <c:cat>
            <c:strRef>
              <c:f>Sheet1!$A$2:$A$11</c:f>
              <c:strCache>
                <c:ptCount val="10"/>
                <c:pt idx="0">
                  <c:v>age</c:v>
                </c:pt>
                <c:pt idx="1">
                  <c:v>sex</c:v>
                </c:pt>
                <c:pt idx="2">
                  <c:v>bmi</c:v>
                </c:pt>
                <c:pt idx="3">
                  <c:v>bp</c:v>
                </c:pt>
                <c:pt idx="4">
                  <c:v>s1</c:v>
                </c:pt>
                <c:pt idx="5">
                  <c:v>s2</c:v>
                </c:pt>
                <c:pt idx="6">
                  <c:v>s3</c:v>
                </c:pt>
                <c:pt idx="7">
                  <c:v>s4</c:v>
                </c:pt>
                <c:pt idx="8">
                  <c:v>s5</c:v>
                </c:pt>
                <c:pt idx="9">
                  <c:v>s6</c:v>
                </c:pt>
              </c:strCache>
            </c:strRef>
          </c:cat>
          <c:val>
            <c:numRef>
              <c:f>Sheet1!$B$2:$B$11</c:f>
              <c:numCache>
                <c:formatCode>General</c:formatCode>
                <c:ptCount val="10"/>
                <c:pt idx="0">
                  <c:v>-0.47612078617915005</c:v>
                </c:pt>
                <c:pt idx="1">
                  <c:v>-11.406866923441017</c:v>
                </c:pt>
                <c:pt idx="2">
                  <c:v>24.726548860402172</c:v>
                </c:pt>
                <c:pt idx="3">
                  <c:v>15.429404131395618</c:v>
                </c:pt>
                <c:pt idx="4">
                  <c:v>-37.679952611015878</c:v>
                </c:pt>
                <c:pt idx="5">
                  <c:v>22.676162766290194</c:v>
                </c:pt>
                <c:pt idx="6">
                  <c:v>4.8061381368978919</c:v>
                </c:pt>
                <c:pt idx="7">
                  <c:v>8.4220393558208286</c:v>
                </c:pt>
                <c:pt idx="8">
                  <c:v>35.734445771331103</c:v>
                </c:pt>
                <c:pt idx="9">
                  <c:v>3.2166737181905067</c:v>
                </c:pt>
              </c:numCache>
            </c:numRef>
          </c:val>
          <c:extLst>
            <c:ext xmlns:c16="http://schemas.microsoft.com/office/drawing/2014/chart" uri="{C3380CC4-5D6E-409C-BE32-E72D297353CC}">
              <c16:uniqueId val="{00000000-5AD0-4DD0-B505-FF43AD6812AC}"/>
            </c:ext>
          </c:extLst>
        </c:ser>
        <c:ser>
          <c:idx val="1"/>
          <c:order val="1"/>
          <c:tx>
            <c:strRef>
              <c:f>Sheet1!$C$1</c:f>
              <c:strCache>
                <c:ptCount val="1"/>
                <c:pt idx="0">
                  <c:v>Ridge</c:v>
                </c:pt>
              </c:strCache>
            </c:strRef>
          </c:tx>
          <c:spPr>
            <a:solidFill>
              <a:srgbClr val="E97132"/>
            </a:solidFill>
            <a:effectLst/>
          </c:spPr>
          <c:invertIfNegative val="0"/>
          <c:cat>
            <c:strRef>
              <c:f>Sheet1!$A$2:$A$11</c:f>
              <c:strCache>
                <c:ptCount val="10"/>
                <c:pt idx="0">
                  <c:v>age</c:v>
                </c:pt>
                <c:pt idx="1">
                  <c:v>sex</c:v>
                </c:pt>
                <c:pt idx="2">
                  <c:v>bmi</c:v>
                </c:pt>
                <c:pt idx="3">
                  <c:v>bp</c:v>
                </c:pt>
                <c:pt idx="4">
                  <c:v>s1</c:v>
                </c:pt>
                <c:pt idx="5">
                  <c:v>s2</c:v>
                </c:pt>
                <c:pt idx="6">
                  <c:v>s3</c:v>
                </c:pt>
                <c:pt idx="7">
                  <c:v>s4</c:v>
                </c:pt>
                <c:pt idx="8">
                  <c:v>s5</c:v>
                </c:pt>
                <c:pt idx="9">
                  <c:v>s6</c:v>
                </c:pt>
              </c:strCache>
            </c:strRef>
          </c:cat>
          <c:val>
            <c:numRef>
              <c:f>Sheet1!$C$2:$C$11</c:f>
              <c:numCache>
                <c:formatCode>General</c:formatCode>
                <c:ptCount val="10"/>
                <c:pt idx="0">
                  <c:v>-0.41733776652142363</c:v>
                </c:pt>
                <c:pt idx="1">
                  <c:v>-11.309269201785614</c:v>
                </c:pt>
                <c:pt idx="2">
                  <c:v>24.779431191605916</c:v>
                </c:pt>
                <c:pt idx="3">
                  <c:v>15.355281067172049</c:v>
                </c:pt>
                <c:pt idx="4">
                  <c:v>-27.925169567902756</c:v>
                </c:pt>
                <c:pt idx="5">
                  <c:v>14.93742152510584</c:v>
                </c:pt>
                <c:pt idx="6">
                  <c:v>0.51397948910469327</c:v>
                </c:pt>
                <c:pt idx="7">
                  <c:v>7.2705034567333842</c:v>
                </c:pt>
                <c:pt idx="8">
                  <c:v>32.013903238651302</c:v>
                </c:pt>
                <c:pt idx="9">
                  <c:v>3.2827769240103253</c:v>
                </c:pt>
              </c:numCache>
            </c:numRef>
          </c:val>
          <c:extLst>
            <c:ext xmlns:c16="http://schemas.microsoft.com/office/drawing/2014/chart" uri="{C3380CC4-5D6E-409C-BE32-E72D297353CC}">
              <c16:uniqueId val="{00000001-5AD0-4DD0-B505-FF43AD6812AC}"/>
            </c:ext>
          </c:extLst>
        </c:ser>
        <c:ser>
          <c:idx val="2"/>
          <c:order val="2"/>
          <c:tx>
            <c:strRef>
              <c:f>Sheet1!$D$1</c:f>
              <c:strCache>
                <c:ptCount val="1"/>
                <c:pt idx="0">
                  <c:v>Lasso</c:v>
                </c:pt>
              </c:strCache>
            </c:strRef>
          </c:tx>
          <c:spPr>
            <a:solidFill>
              <a:srgbClr val="156082"/>
            </a:solidFill>
            <a:effectLst/>
          </c:spPr>
          <c:invertIfNegative val="0"/>
          <c:cat>
            <c:strRef>
              <c:f>Sheet1!$A$2:$A$11</c:f>
              <c:strCache>
                <c:ptCount val="10"/>
                <c:pt idx="0">
                  <c:v>age</c:v>
                </c:pt>
                <c:pt idx="1">
                  <c:v>sex</c:v>
                </c:pt>
                <c:pt idx="2">
                  <c:v>bmi</c:v>
                </c:pt>
                <c:pt idx="3">
                  <c:v>bp</c:v>
                </c:pt>
                <c:pt idx="4">
                  <c:v>s1</c:v>
                </c:pt>
                <c:pt idx="5">
                  <c:v>s2</c:v>
                </c:pt>
                <c:pt idx="6">
                  <c:v>s3</c:v>
                </c:pt>
                <c:pt idx="7">
                  <c:v>s4</c:v>
                </c:pt>
                <c:pt idx="8">
                  <c:v>s5</c:v>
                </c:pt>
                <c:pt idx="9">
                  <c:v>s6</c:v>
                </c:pt>
              </c:strCache>
            </c:strRef>
          </c:cat>
          <c:val>
            <c:numRef>
              <c:f>Sheet1!$D$2:$D$11</c:f>
              <c:numCache>
                <c:formatCode>General</c:formatCode>
                <c:ptCount val="10"/>
                <c:pt idx="0">
                  <c:v>0</c:v>
                </c:pt>
                <c:pt idx="1">
                  <c:v>-9.7182957109393922</c:v>
                </c:pt>
                <c:pt idx="2">
                  <c:v>24.891089772742056</c:v>
                </c:pt>
                <c:pt idx="3">
                  <c:v>14.32280483450946</c:v>
                </c:pt>
                <c:pt idx="4">
                  <c:v>-5.9306643311031895</c:v>
                </c:pt>
                <c:pt idx="5">
                  <c:v>0</c:v>
                </c:pt>
                <c:pt idx="6">
                  <c:v>-9.8846967127858889</c:v>
                </c:pt>
                <c:pt idx="7">
                  <c:v>1.1486691983225543</c:v>
                </c:pt>
                <c:pt idx="8">
                  <c:v>24.648466614970975</c:v>
                </c:pt>
                <c:pt idx="9">
                  <c:v>2.711858878401356</c:v>
                </c:pt>
              </c:numCache>
            </c:numRef>
          </c:val>
          <c:extLst>
            <c:ext xmlns:c16="http://schemas.microsoft.com/office/drawing/2014/chart" uri="{C3380CC4-5D6E-409C-BE32-E72D297353CC}">
              <c16:uniqueId val="{00000002-5AD0-4DD0-B505-FF43AD6812AC}"/>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sz="1200" b="0" i="0" u="none" strike="noStrike">
                    <a:solidFill>
                      <a:srgbClr val="4A5568"/>
                    </a:solidFill>
                    <a:latin typeface="+mn-lt"/>
                  </a:defRPr>
                </a:pPr>
                <a:r>
                  <a:rPr lang="en-US" sz="1200" b="0" i="0" u="none" strike="noStrike">
                    <a:solidFill>
                      <a:srgbClr val="4A5568"/>
                    </a:solidFill>
                    <a:latin typeface="+mn-lt"/>
                  </a:rPr>
                  <a:t>Feature</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1E1E1"/>
              </a:solidFill>
              <a:prstDash val="solid"/>
              <a:round/>
            </a:ln>
          </c:spPr>
        </c:majorGridlines>
        <c:title>
          <c:tx>
            <c:rich>
              <a:bodyPr/>
              <a:lstStyle/>
              <a:p>
                <a:pPr>
                  <a:defRPr sz="1200" b="0" i="0" u="none" strike="noStrike">
                    <a:solidFill>
                      <a:srgbClr val="4A5568"/>
                    </a:solidFill>
                    <a:latin typeface="+mn-lt"/>
                  </a:defRPr>
                </a:pPr>
                <a:r>
                  <a:rPr lang="en-US" sz="1200" b="0" i="0" u="none" strike="noStrike">
                    <a:solidFill>
                      <a:srgbClr val="4A5568"/>
                    </a:solidFill>
                    <a:latin typeface="+mn-lt"/>
                  </a:rPr>
                  <a:t>Coefficient</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E28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E2841"/>
                </a:solidFill>
                <a:latin typeface="+mn-lt"/>
              </a:defRPr>
            </a:pPr>
            <a:r>
              <a:rPr lang="en-US" sz="1400" b="0" i="0" u="none" strike="noStrike">
                <a:solidFill>
                  <a:srgbClr val="0E2841"/>
                </a:solidFill>
                <a:latin typeface="+mn-lt"/>
              </a:rPr>
              <a:t>Breast cancer data: test accuracy vs. C</a:t>
            </a:r>
          </a:p>
        </c:rich>
      </c:tx>
      <c:overlay val="0"/>
    </c:title>
    <c:autoTitleDeleted val="0"/>
    <c:plotArea>
      <c:layout/>
      <c:lineChart>
        <c:grouping val="standard"/>
        <c:varyColors val="0"/>
        <c:ser>
          <c:idx val="0"/>
          <c:order val="0"/>
          <c:tx>
            <c:strRef>
              <c:f>Sheet1!$B$1</c:f>
              <c:strCache>
                <c:ptCount val="1"/>
                <c:pt idx="0">
                  <c:v>L2 penalty (default)</c:v>
                </c:pt>
              </c:strCache>
            </c:strRef>
          </c:tx>
          <c:spPr>
            <a:ln w="38100" cap="flat">
              <a:solidFill>
                <a:srgbClr val="E97132"/>
              </a:solidFill>
              <a:prstDash val="solid"/>
              <a:round/>
            </a:ln>
            <a:effectLst/>
          </c:spPr>
          <c:marker>
            <c:symbol val="circle"/>
            <c:size val="7"/>
            <c:spPr>
              <a:solidFill>
                <a:srgbClr val="E97132"/>
              </a:solidFill>
              <a:ln w="9525" cap="flat">
                <a:solidFill>
                  <a:srgbClr val="E97132"/>
                </a:solidFill>
                <a:prstDash val="solid"/>
                <a:round/>
              </a:ln>
              <a:effectLst/>
            </c:spPr>
          </c:marker>
          <c:cat>
            <c:strRef>
              <c:f>Sheet1!$A$2:$A$7</c:f>
              <c:strCache>
                <c:ptCount val="6"/>
                <c:pt idx="0">
                  <c:v>0.001</c:v>
                </c:pt>
                <c:pt idx="1">
                  <c:v>0.01</c:v>
                </c:pt>
                <c:pt idx="2">
                  <c:v>0.1</c:v>
                </c:pt>
                <c:pt idx="3">
                  <c:v>1</c:v>
                </c:pt>
                <c:pt idx="4">
                  <c:v>10</c:v>
                </c:pt>
                <c:pt idx="5">
                  <c:v>100</c:v>
                </c:pt>
              </c:strCache>
            </c:strRef>
          </c:cat>
          <c:val>
            <c:numRef>
              <c:f>Sheet1!$B$2:$B$7</c:f>
              <c:numCache>
                <c:formatCode>General</c:formatCode>
                <c:ptCount val="6"/>
                <c:pt idx="0">
                  <c:v>0.88111888111888115</c:v>
                </c:pt>
                <c:pt idx="1">
                  <c:v>0.95104895104895104</c:v>
                </c:pt>
                <c:pt idx="2">
                  <c:v>0.95804195804195802</c:v>
                </c:pt>
                <c:pt idx="3">
                  <c:v>0.95804195804195802</c:v>
                </c:pt>
                <c:pt idx="4">
                  <c:v>0.95104895104895104</c:v>
                </c:pt>
                <c:pt idx="5">
                  <c:v>0.95104895104895104</c:v>
                </c:pt>
              </c:numCache>
            </c:numRef>
          </c:val>
          <c:smooth val="0"/>
          <c:extLst>
            <c:ext xmlns:c16="http://schemas.microsoft.com/office/drawing/2014/chart" uri="{C3380CC4-5D6E-409C-BE32-E72D297353CC}">
              <c16:uniqueId val="{00000000-4707-4AE2-9DF5-461D911A8F6A}"/>
            </c:ext>
          </c:extLst>
        </c:ser>
        <c:ser>
          <c:idx val="1"/>
          <c:order val="1"/>
          <c:tx>
            <c:strRef>
              <c:f>Sheet1!$C$1</c:f>
              <c:strCache>
                <c:ptCount val="1"/>
                <c:pt idx="0">
                  <c:v>L1 penalty</c:v>
                </c:pt>
              </c:strCache>
            </c:strRef>
          </c:tx>
          <c:spPr>
            <a:ln w="38100" cap="flat">
              <a:solidFill>
                <a:srgbClr val="156082"/>
              </a:solidFill>
              <a:prstDash val="solid"/>
              <a:round/>
            </a:ln>
            <a:effectLst/>
          </c:spPr>
          <c:marker>
            <c:symbol val="circle"/>
            <c:size val="7"/>
            <c:spPr>
              <a:solidFill>
                <a:srgbClr val="156082"/>
              </a:solidFill>
              <a:ln w="9525" cap="flat">
                <a:solidFill>
                  <a:srgbClr val="156082"/>
                </a:solidFill>
                <a:prstDash val="solid"/>
                <a:round/>
              </a:ln>
              <a:effectLst/>
            </c:spPr>
          </c:marker>
          <c:cat>
            <c:strRef>
              <c:f>Sheet1!$A$2:$A$7</c:f>
              <c:strCache>
                <c:ptCount val="6"/>
                <c:pt idx="0">
                  <c:v>0.001</c:v>
                </c:pt>
                <c:pt idx="1">
                  <c:v>0.01</c:v>
                </c:pt>
                <c:pt idx="2">
                  <c:v>0.1</c:v>
                </c:pt>
                <c:pt idx="3">
                  <c:v>1</c:v>
                </c:pt>
                <c:pt idx="4">
                  <c:v>10</c:v>
                </c:pt>
                <c:pt idx="5">
                  <c:v>100</c:v>
                </c:pt>
              </c:strCache>
            </c:strRef>
          </c:cat>
          <c:val>
            <c:numRef>
              <c:f>Sheet1!$C$2:$C$7</c:f>
              <c:numCache>
                <c:formatCode>General</c:formatCode>
                <c:ptCount val="6"/>
                <c:pt idx="0">
                  <c:v>0.37062937062937062</c:v>
                </c:pt>
                <c:pt idx="1">
                  <c:v>0.88811188811188813</c:v>
                </c:pt>
                <c:pt idx="2">
                  <c:v>0.93706293706293708</c:v>
                </c:pt>
                <c:pt idx="3">
                  <c:v>0.95804195804195802</c:v>
                </c:pt>
                <c:pt idx="4">
                  <c:v>0.94405594405594406</c:v>
                </c:pt>
                <c:pt idx="5">
                  <c:v>0.92307692307692313</c:v>
                </c:pt>
              </c:numCache>
            </c:numRef>
          </c:val>
          <c:smooth val="0"/>
          <c:extLst>
            <c:ext xmlns:c16="http://schemas.microsoft.com/office/drawing/2014/chart" uri="{C3380CC4-5D6E-409C-BE32-E72D297353CC}">
              <c16:uniqueId val="{00000001-4707-4AE2-9DF5-461D911A8F6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4A5568"/>
                    </a:solidFill>
                    <a:latin typeface="+mn-lt"/>
                  </a:defRPr>
                </a:pPr>
                <a:r>
                  <a:rPr lang="en-US" sz="1200" b="0" i="0" u="none" strike="noStrike">
                    <a:solidFill>
                      <a:srgbClr val="4A5568"/>
                    </a:solidFill>
                    <a:latin typeface="+mn-lt"/>
                  </a:rPr>
                  <a:t>C (small C = strong penalty)</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max val="1"/>
          <c:min val="0.3"/>
        </c:scaling>
        <c:delete val="0"/>
        <c:axPos val="l"/>
        <c:majorGridlines>
          <c:spPr>
            <a:ln w="9525" cap="flat">
              <a:solidFill>
                <a:srgbClr val="E1E1E1"/>
              </a:solidFill>
              <a:prstDash val="solid"/>
              <a:round/>
            </a:ln>
          </c:spPr>
        </c:majorGridlines>
        <c:title>
          <c:tx>
            <c:rich>
              <a:bodyPr/>
              <a:lstStyle/>
              <a:p>
                <a:pPr>
                  <a:defRPr sz="1200" b="0" i="0" u="none" strike="noStrike">
                    <a:solidFill>
                      <a:srgbClr val="4A5568"/>
                    </a:solidFill>
                    <a:latin typeface="+mn-lt"/>
                  </a:defRPr>
                </a:pPr>
                <a:r>
                  <a:rPr lang="en-US" sz="1200" b="0" i="0" u="none" strike="noStrike">
                    <a:solidFill>
                      <a:srgbClr val="4A5568"/>
                    </a:solidFill>
                    <a:latin typeface="+mn-lt"/>
                  </a:rPr>
                  <a:t>Test accuracy</a:t>
                </a:r>
              </a:p>
            </c:rich>
          </c:tx>
          <c:overlay val="0"/>
        </c:title>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E28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604B22-597E-4160-BAB4-A5CB9E1DE643}"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02DF5A-F830-43DE-9287-7873D402057C}" type="slidenum">
              <a:rPr lang="en-US" smtClean="0"/>
              <a:t>‹#›</a:t>
            </a:fld>
            <a:endParaRPr lang="en-US"/>
          </a:p>
        </p:txBody>
      </p:sp>
    </p:spTree>
    <p:extLst>
      <p:ext uri="{BB962C8B-B14F-4D97-AF65-F5344CB8AC3E}">
        <p14:creationId xmlns:p14="http://schemas.microsoft.com/office/powerpoint/2010/main" val="739307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key behavior: some coefficients land exactly on zero, so lasso doubles as feature selection (this is the L1 behavior behind </a:t>
            </a:r>
            <a:r>
              <a:rPr lang="en-US" sz="1200" kern="1200" dirty="0" err="1">
                <a:solidFill>
                  <a:schemeClr val="tx1"/>
                </a:solidFill>
                <a:effectLst/>
                <a:latin typeface="+mn-lt"/>
                <a:ea typeface="+mn-ea"/>
                <a:cs typeface="+mn-cs"/>
              </a:rPr>
              <a:t>SelectFromModel</a:t>
            </a:r>
            <a:r>
              <a:rPr lang="en-US" sz="1200" kern="1200" dirty="0">
                <a:solidFill>
                  <a:schemeClr val="tx1"/>
                </a:solidFill>
                <a:effectLst/>
                <a:latin typeface="+mn-lt"/>
                <a:ea typeface="+mn-ea"/>
                <a:cs typeface="+mn-cs"/>
              </a:rPr>
              <a:t> in Week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46640-6CC9-7E3C-64BF-082CCDA075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429613-C01B-A608-E6F0-18A9C6154B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67C96F-9EE5-44FC-B6DE-6238ADCB18EE}"/>
              </a:ext>
            </a:extLst>
          </p:cNvPr>
          <p:cNvSpPr>
            <a:spLocks noGrp="1"/>
          </p:cNvSpPr>
          <p:nvPr>
            <p:ph type="dt" sz="half" idx="10"/>
          </p:nvPr>
        </p:nvSpPr>
        <p:spPr/>
        <p:txBody>
          <a:bodyPr/>
          <a:lstStyle/>
          <a:p>
            <a:fld id="{94A85E71-E21A-42CB-BC0B-7389FA7080F9}" type="datetimeFigureOut">
              <a:rPr lang="en-US" smtClean="0"/>
              <a:t>10/21/2026</a:t>
            </a:fld>
            <a:endParaRPr lang="en-US"/>
          </a:p>
        </p:txBody>
      </p:sp>
      <p:sp>
        <p:nvSpPr>
          <p:cNvPr id="5" name="Footer Placeholder 4">
            <a:extLst>
              <a:ext uri="{FF2B5EF4-FFF2-40B4-BE49-F238E27FC236}">
                <a16:creationId xmlns:a16="http://schemas.microsoft.com/office/drawing/2014/main" id="{02BB8E40-5F13-4639-AAB0-A863B87777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059B4F-8645-332C-F7A4-C067290571C9}"/>
              </a:ext>
            </a:extLst>
          </p:cNvPr>
          <p:cNvSpPr>
            <a:spLocks noGrp="1"/>
          </p:cNvSpPr>
          <p:nvPr>
            <p:ph type="sldNum" sz="quarter" idx="12"/>
          </p:nvPr>
        </p:nvSpPr>
        <p:spPr>
          <a:xfrm>
            <a:off x="8610600" y="6356350"/>
            <a:ext cx="2743200" cy="365125"/>
          </a:xfrm>
          <a:prstGeom prst="rect">
            <a:avLst/>
          </a:prstGeom>
        </p:spPr>
        <p:txBody>
          <a:bodyPr/>
          <a:lstStyle/>
          <a:p>
            <a:fld id="{448E48B9-2737-49CE-A674-D6A13F301AA3}" type="slidenum">
              <a:rPr lang="en-US" smtClean="0"/>
              <a:t>‹#›</a:t>
            </a:fld>
            <a:endParaRPr lang="en-US"/>
          </a:p>
        </p:txBody>
      </p:sp>
    </p:spTree>
    <p:extLst>
      <p:ext uri="{BB962C8B-B14F-4D97-AF65-F5344CB8AC3E}">
        <p14:creationId xmlns:p14="http://schemas.microsoft.com/office/powerpoint/2010/main" val="2105412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6F661-F091-55EF-B731-2E38C2ABCD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8FB2B5-4FBC-9F7C-6685-20898C53DD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4BE7A7-D82A-5371-8AC3-8ECDA2BD1396}"/>
              </a:ext>
            </a:extLst>
          </p:cNvPr>
          <p:cNvSpPr>
            <a:spLocks noGrp="1"/>
          </p:cNvSpPr>
          <p:nvPr>
            <p:ph type="dt" sz="half" idx="10"/>
          </p:nvPr>
        </p:nvSpPr>
        <p:spPr/>
        <p:txBody>
          <a:bodyPr/>
          <a:lstStyle/>
          <a:p>
            <a:fld id="{94A85E71-E21A-42CB-BC0B-7389FA7080F9}" type="datetimeFigureOut">
              <a:rPr lang="en-US" smtClean="0"/>
              <a:t>10/21/2026</a:t>
            </a:fld>
            <a:endParaRPr lang="en-US"/>
          </a:p>
        </p:txBody>
      </p:sp>
      <p:sp>
        <p:nvSpPr>
          <p:cNvPr id="5" name="Footer Placeholder 4">
            <a:extLst>
              <a:ext uri="{FF2B5EF4-FFF2-40B4-BE49-F238E27FC236}">
                <a16:creationId xmlns:a16="http://schemas.microsoft.com/office/drawing/2014/main" id="{6E9E3BD1-A141-0986-7620-D5EAA8418A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87A4A4-6136-E334-EE67-3B14C8CDA2DD}"/>
              </a:ext>
            </a:extLst>
          </p:cNvPr>
          <p:cNvSpPr>
            <a:spLocks noGrp="1"/>
          </p:cNvSpPr>
          <p:nvPr>
            <p:ph type="sldNum" sz="quarter" idx="12"/>
          </p:nvPr>
        </p:nvSpPr>
        <p:spPr>
          <a:xfrm>
            <a:off x="8610600" y="6356350"/>
            <a:ext cx="2743200" cy="365125"/>
          </a:xfrm>
          <a:prstGeom prst="rect">
            <a:avLst/>
          </a:prstGeom>
        </p:spPr>
        <p:txBody>
          <a:bodyPr/>
          <a:lstStyle/>
          <a:p>
            <a:fld id="{448E48B9-2737-49CE-A674-D6A13F301AA3}" type="slidenum">
              <a:rPr lang="en-US" smtClean="0"/>
              <a:t>‹#›</a:t>
            </a:fld>
            <a:endParaRPr lang="en-US"/>
          </a:p>
        </p:txBody>
      </p:sp>
    </p:spTree>
    <p:extLst>
      <p:ext uri="{BB962C8B-B14F-4D97-AF65-F5344CB8AC3E}">
        <p14:creationId xmlns:p14="http://schemas.microsoft.com/office/powerpoint/2010/main" val="2100084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7089E-6264-8F5A-F81E-9AD156228F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B675EC-444A-7FDE-E83D-5BCC01BD6C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9882CA-A2AD-644D-37BB-E9F9120DC423}"/>
              </a:ext>
            </a:extLst>
          </p:cNvPr>
          <p:cNvSpPr>
            <a:spLocks noGrp="1"/>
          </p:cNvSpPr>
          <p:nvPr>
            <p:ph type="dt" sz="half" idx="10"/>
          </p:nvPr>
        </p:nvSpPr>
        <p:spPr/>
        <p:txBody>
          <a:bodyPr/>
          <a:lstStyle/>
          <a:p>
            <a:fld id="{94A85E71-E21A-42CB-BC0B-7389FA7080F9}" type="datetimeFigureOut">
              <a:rPr lang="en-US" smtClean="0"/>
              <a:t>10/21/2026</a:t>
            </a:fld>
            <a:endParaRPr lang="en-US"/>
          </a:p>
        </p:txBody>
      </p:sp>
      <p:sp>
        <p:nvSpPr>
          <p:cNvPr id="5" name="Footer Placeholder 4">
            <a:extLst>
              <a:ext uri="{FF2B5EF4-FFF2-40B4-BE49-F238E27FC236}">
                <a16:creationId xmlns:a16="http://schemas.microsoft.com/office/drawing/2014/main" id="{1C5A4810-6D12-69D3-ED57-340DB7D9E8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A0CA0F-14FC-ED63-A3E2-4C163DDA13B3}"/>
              </a:ext>
            </a:extLst>
          </p:cNvPr>
          <p:cNvSpPr>
            <a:spLocks noGrp="1"/>
          </p:cNvSpPr>
          <p:nvPr>
            <p:ph type="sldNum" sz="quarter" idx="12"/>
          </p:nvPr>
        </p:nvSpPr>
        <p:spPr>
          <a:xfrm>
            <a:off x="8610600" y="6356350"/>
            <a:ext cx="2743200" cy="365125"/>
          </a:xfrm>
          <a:prstGeom prst="rect">
            <a:avLst/>
          </a:prstGeom>
        </p:spPr>
        <p:txBody>
          <a:bodyPr/>
          <a:lstStyle/>
          <a:p>
            <a:fld id="{448E48B9-2737-49CE-A674-D6A13F301AA3}" type="slidenum">
              <a:rPr lang="en-US" smtClean="0"/>
              <a:t>‹#›</a:t>
            </a:fld>
            <a:endParaRPr lang="en-US"/>
          </a:p>
        </p:txBody>
      </p:sp>
    </p:spTree>
    <p:extLst>
      <p:ext uri="{BB962C8B-B14F-4D97-AF65-F5344CB8AC3E}">
        <p14:creationId xmlns:p14="http://schemas.microsoft.com/office/powerpoint/2010/main" val="256727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2A0E-9CC6-B016-84E8-1C76DCA8CF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ACCE64-FCBB-64DD-CEED-31AC4D070A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ED3C8E-F1A2-5AA1-C0BE-17BA99C924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E0A014-9E27-477D-0329-A981711955E4}"/>
              </a:ext>
            </a:extLst>
          </p:cNvPr>
          <p:cNvSpPr>
            <a:spLocks noGrp="1"/>
          </p:cNvSpPr>
          <p:nvPr>
            <p:ph type="dt" sz="half" idx="10"/>
          </p:nvPr>
        </p:nvSpPr>
        <p:spPr/>
        <p:txBody>
          <a:bodyPr/>
          <a:lstStyle/>
          <a:p>
            <a:fld id="{94A85E71-E21A-42CB-BC0B-7389FA7080F9}" type="datetimeFigureOut">
              <a:rPr lang="en-US" smtClean="0"/>
              <a:t>10/21/2026</a:t>
            </a:fld>
            <a:endParaRPr lang="en-US"/>
          </a:p>
        </p:txBody>
      </p:sp>
      <p:sp>
        <p:nvSpPr>
          <p:cNvPr id="6" name="Footer Placeholder 5">
            <a:extLst>
              <a:ext uri="{FF2B5EF4-FFF2-40B4-BE49-F238E27FC236}">
                <a16:creationId xmlns:a16="http://schemas.microsoft.com/office/drawing/2014/main" id="{77755D9D-E4B7-A3C6-6F02-0D8D35FACB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8D957F-CE8C-B182-F700-27239A1A1348}"/>
              </a:ext>
            </a:extLst>
          </p:cNvPr>
          <p:cNvSpPr>
            <a:spLocks noGrp="1"/>
          </p:cNvSpPr>
          <p:nvPr>
            <p:ph type="sldNum" sz="quarter" idx="12"/>
          </p:nvPr>
        </p:nvSpPr>
        <p:spPr>
          <a:xfrm>
            <a:off x="8610600" y="6356350"/>
            <a:ext cx="2743200" cy="365125"/>
          </a:xfrm>
          <a:prstGeom prst="rect">
            <a:avLst/>
          </a:prstGeom>
        </p:spPr>
        <p:txBody>
          <a:bodyPr/>
          <a:lstStyle/>
          <a:p>
            <a:fld id="{448E48B9-2737-49CE-A674-D6A13F301AA3}" type="slidenum">
              <a:rPr lang="en-US" smtClean="0"/>
              <a:t>‹#›</a:t>
            </a:fld>
            <a:endParaRPr lang="en-US"/>
          </a:p>
        </p:txBody>
      </p:sp>
    </p:spTree>
    <p:extLst>
      <p:ext uri="{BB962C8B-B14F-4D97-AF65-F5344CB8AC3E}">
        <p14:creationId xmlns:p14="http://schemas.microsoft.com/office/powerpoint/2010/main" val="2405973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BEF14-AFEA-8700-9D72-20A8E2E6B5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F60C29-589F-852F-6CD6-9CB01F1EAF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5411A9-3664-3E43-8C8A-517FA6D12A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17D3A4-368C-6F29-C8B3-884F508E18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603110-4048-E3B9-BB8D-D5C567DCB4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F67F0F-24EB-2417-87B7-831FD9DE1506}"/>
              </a:ext>
            </a:extLst>
          </p:cNvPr>
          <p:cNvSpPr>
            <a:spLocks noGrp="1"/>
          </p:cNvSpPr>
          <p:nvPr>
            <p:ph type="dt" sz="half" idx="10"/>
          </p:nvPr>
        </p:nvSpPr>
        <p:spPr/>
        <p:txBody>
          <a:bodyPr/>
          <a:lstStyle/>
          <a:p>
            <a:fld id="{94A85E71-E21A-42CB-BC0B-7389FA7080F9}" type="datetimeFigureOut">
              <a:rPr lang="en-US" smtClean="0"/>
              <a:t>10/21/2026</a:t>
            </a:fld>
            <a:endParaRPr lang="en-US"/>
          </a:p>
        </p:txBody>
      </p:sp>
      <p:sp>
        <p:nvSpPr>
          <p:cNvPr id="8" name="Footer Placeholder 7">
            <a:extLst>
              <a:ext uri="{FF2B5EF4-FFF2-40B4-BE49-F238E27FC236}">
                <a16:creationId xmlns:a16="http://schemas.microsoft.com/office/drawing/2014/main" id="{9B7AE541-AA32-3AD6-6C65-F2B1891DE5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40822A-C719-23BF-F7CD-8DAE4BF43AE5}"/>
              </a:ext>
            </a:extLst>
          </p:cNvPr>
          <p:cNvSpPr>
            <a:spLocks noGrp="1"/>
          </p:cNvSpPr>
          <p:nvPr>
            <p:ph type="sldNum" sz="quarter" idx="12"/>
          </p:nvPr>
        </p:nvSpPr>
        <p:spPr>
          <a:xfrm>
            <a:off x="8610600" y="6356350"/>
            <a:ext cx="2743200" cy="365125"/>
          </a:xfrm>
          <a:prstGeom prst="rect">
            <a:avLst/>
          </a:prstGeom>
        </p:spPr>
        <p:txBody>
          <a:bodyPr/>
          <a:lstStyle/>
          <a:p>
            <a:fld id="{448E48B9-2737-49CE-A674-D6A13F301AA3}" type="slidenum">
              <a:rPr lang="en-US" smtClean="0"/>
              <a:t>‹#›</a:t>
            </a:fld>
            <a:endParaRPr lang="en-US"/>
          </a:p>
        </p:txBody>
      </p:sp>
    </p:spTree>
    <p:extLst>
      <p:ext uri="{BB962C8B-B14F-4D97-AF65-F5344CB8AC3E}">
        <p14:creationId xmlns:p14="http://schemas.microsoft.com/office/powerpoint/2010/main" val="1308308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64C48-66A5-B778-4904-70C53BD81C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E440D0-244F-4206-C5D7-00ECF4A4392A}"/>
              </a:ext>
            </a:extLst>
          </p:cNvPr>
          <p:cNvSpPr>
            <a:spLocks noGrp="1"/>
          </p:cNvSpPr>
          <p:nvPr>
            <p:ph type="dt" sz="half" idx="10"/>
          </p:nvPr>
        </p:nvSpPr>
        <p:spPr/>
        <p:txBody>
          <a:bodyPr/>
          <a:lstStyle/>
          <a:p>
            <a:fld id="{94A85E71-E21A-42CB-BC0B-7389FA7080F9}" type="datetimeFigureOut">
              <a:rPr lang="en-US" smtClean="0"/>
              <a:t>10/21/2026</a:t>
            </a:fld>
            <a:endParaRPr lang="en-US"/>
          </a:p>
        </p:txBody>
      </p:sp>
      <p:sp>
        <p:nvSpPr>
          <p:cNvPr id="4" name="Footer Placeholder 3">
            <a:extLst>
              <a:ext uri="{FF2B5EF4-FFF2-40B4-BE49-F238E27FC236}">
                <a16:creationId xmlns:a16="http://schemas.microsoft.com/office/drawing/2014/main" id="{D40BB76D-BA39-4817-59C9-0627868BFB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AA5545-7F36-BDA0-0C67-7FAE043E465A}"/>
              </a:ext>
            </a:extLst>
          </p:cNvPr>
          <p:cNvSpPr>
            <a:spLocks noGrp="1"/>
          </p:cNvSpPr>
          <p:nvPr>
            <p:ph type="sldNum" sz="quarter" idx="12"/>
          </p:nvPr>
        </p:nvSpPr>
        <p:spPr>
          <a:xfrm>
            <a:off x="8610600" y="6356350"/>
            <a:ext cx="2743200" cy="365125"/>
          </a:xfrm>
          <a:prstGeom prst="rect">
            <a:avLst/>
          </a:prstGeom>
        </p:spPr>
        <p:txBody>
          <a:bodyPr/>
          <a:lstStyle/>
          <a:p>
            <a:fld id="{448E48B9-2737-49CE-A674-D6A13F301AA3}" type="slidenum">
              <a:rPr lang="en-US" smtClean="0"/>
              <a:t>‹#›</a:t>
            </a:fld>
            <a:endParaRPr lang="en-US"/>
          </a:p>
        </p:txBody>
      </p:sp>
    </p:spTree>
    <p:extLst>
      <p:ext uri="{BB962C8B-B14F-4D97-AF65-F5344CB8AC3E}">
        <p14:creationId xmlns:p14="http://schemas.microsoft.com/office/powerpoint/2010/main" val="2833292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1DD02A-AB75-6043-F05E-0BACFA575ED2}"/>
              </a:ext>
            </a:extLst>
          </p:cNvPr>
          <p:cNvSpPr>
            <a:spLocks noGrp="1"/>
          </p:cNvSpPr>
          <p:nvPr>
            <p:ph type="dt" sz="half" idx="10"/>
          </p:nvPr>
        </p:nvSpPr>
        <p:spPr/>
        <p:txBody>
          <a:bodyPr/>
          <a:lstStyle/>
          <a:p>
            <a:fld id="{94A85E71-E21A-42CB-BC0B-7389FA7080F9}" type="datetimeFigureOut">
              <a:rPr lang="en-US" smtClean="0"/>
              <a:t>10/21/2026</a:t>
            </a:fld>
            <a:endParaRPr lang="en-US"/>
          </a:p>
        </p:txBody>
      </p:sp>
      <p:sp>
        <p:nvSpPr>
          <p:cNvPr id="3" name="Footer Placeholder 2">
            <a:extLst>
              <a:ext uri="{FF2B5EF4-FFF2-40B4-BE49-F238E27FC236}">
                <a16:creationId xmlns:a16="http://schemas.microsoft.com/office/drawing/2014/main" id="{B59DE6FD-98CF-0F8D-2E28-FD27376C17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96F3D8-7A98-5267-3057-6FEB56E26662}"/>
              </a:ext>
            </a:extLst>
          </p:cNvPr>
          <p:cNvSpPr>
            <a:spLocks noGrp="1"/>
          </p:cNvSpPr>
          <p:nvPr>
            <p:ph type="sldNum" sz="quarter" idx="12"/>
          </p:nvPr>
        </p:nvSpPr>
        <p:spPr>
          <a:xfrm>
            <a:off x="8610600" y="6356350"/>
            <a:ext cx="2743200" cy="365125"/>
          </a:xfrm>
          <a:prstGeom prst="rect">
            <a:avLst/>
          </a:prstGeom>
        </p:spPr>
        <p:txBody>
          <a:bodyPr/>
          <a:lstStyle/>
          <a:p>
            <a:fld id="{448E48B9-2737-49CE-A674-D6A13F301AA3}" type="slidenum">
              <a:rPr lang="en-US" smtClean="0"/>
              <a:t>‹#›</a:t>
            </a:fld>
            <a:endParaRPr lang="en-US"/>
          </a:p>
        </p:txBody>
      </p:sp>
    </p:spTree>
    <p:extLst>
      <p:ext uri="{BB962C8B-B14F-4D97-AF65-F5344CB8AC3E}">
        <p14:creationId xmlns:p14="http://schemas.microsoft.com/office/powerpoint/2010/main" val="3101361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52F54-B3C6-D54B-DCFC-5387CB5507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1CD7AE-3B0A-750E-C9E0-7D1652AAFF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DA2D8D-C6A6-76FD-D75B-A3E03DF5AE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58F8A2-776C-C0D0-B058-0B1CD935B4F5}"/>
              </a:ext>
            </a:extLst>
          </p:cNvPr>
          <p:cNvSpPr>
            <a:spLocks noGrp="1"/>
          </p:cNvSpPr>
          <p:nvPr>
            <p:ph type="dt" sz="half" idx="10"/>
          </p:nvPr>
        </p:nvSpPr>
        <p:spPr/>
        <p:txBody>
          <a:bodyPr/>
          <a:lstStyle/>
          <a:p>
            <a:fld id="{94A85E71-E21A-42CB-BC0B-7389FA7080F9}" type="datetimeFigureOut">
              <a:rPr lang="en-US" smtClean="0"/>
              <a:t>10/21/2026</a:t>
            </a:fld>
            <a:endParaRPr lang="en-US"/>
          </a:p>
        </p:txBody>
      </p:sp>
      <p:sp>
        <p:nvSpPr>
          <p:cNvPr id="6" name="Footer Placeholder 5">
            <a:extLst>
              <a:ext uri="{FF2B5EF4-FFF2-40B4-BE49-F238E27FC236}">
                <a16:creationId xmlns:a16="http://schemas.microsoft.com/office/drawing/2014/main" id="{0787D206-9005-29FF-FDD9-C6820D9C7C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7F221C-6929-20D2-C540-71C7FEB4E7FC}"/>
              </a:ext>
            </a:extLst>
          </p:cNvPr>
          <p:cNvSpPr>
            <a:spLocks noGrp="1"/>
          </p:cNvSpPr>
          <p:nvPr>
            <p:ph type="sldNum" sz="quarter" idx="12"/>
          </p:nvPr>
        </p:nvSpPr>
        <p:spPr>
          <a:xfrm>
            <a:off x="8610600" y="6356350"/>
            <a:ext cx="2743200" cy="365125"/>
          </a:xfrm>
          <a:prstGeom prst="rect">
            <a:avLst/>
          </a:prstGeom>
        </p:spPr>
        <p:txBody>
          <a:bodyPr/>
          <a:lstStyle/>
          <a:p>
            <a:fld id="{448E48B9-2737-49CE-A674-D6A13F301AA3}" type="slidenum">
              <a:rPr lang="en-US" smtClean="0"/>
              <a:t>‹#›</a:t>
            </a:fld>
            <a:endParaRPr lang="en-US"/>
          </a:p>
        </p:txBody>
      </p:sp>
    </p:spTree>
    <p:extLst>
      <p:ext uri="{BB962C8B-B14F-4D97-AF65-F5344CB8AC3E}">
        <p14:creationId xmlns:p14="http://schemas.microsoft.com/office/powerpoint/2010/main" val="2755936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F8C6E-CCE0-6721-98DD-335B96A484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9A6709-A0B4-E096-B2BC-BC13FF0DE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C2F7C5-92BA-A00E-1FF5-93E42D9A7F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15040-8941-123D-BC40-A370985CDE76}"/>
              </a:ext>
            </a:extLst>
          </p:cNvPr>
          <p:cNvSpPr>
            <a:spLocks noGrp="1"/>
          </p:cNvSpPr>
          <p:nvPr>
            <p:ph type="dt" sz="half" idx="10"/>
          </p:nvPr>
        </p:nvSpPr>
        <p:spPr/>
        <p:txBody>
          <a:bodyPr/>
          <a:lstStyle/>
          <a:p>
            <a:fld id="{94A85E71-E21A-42CB-BC0B-7389FA7080F9}" type="datetimeFigureOut">
              <a:rPr lang="en-US" smtClean="0"/>
              <a:t>10/21/2026</a:t>
            </a:fld>
            <a:endParaRPr lang="en-US"/>
          </a:p>
        </p:txBody>
      </p:sp>
      <p:sp>
        <p:nvSpPr>
          <p:cNvPr id="6" name="Footer Placeholder 5">
            <a:extLst>
              <a:ext uri="{FF2B5EF4-FFF2-40B4-BE49-F238E27FC236}">
                <a16:creationId xmlns:a16="http://schemas.microsoft.com/office/drawing/2014/main" id="{3D9D5A8F-1F19-AAC3-CD52-3F0A9C85D0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3DFC4E-9F57-262B-D2E0-E4661FAA8FB0}"/>
              </a:ext>
            </a:extLst>
          </p:cNvPr>
          <p:cNvSpPr>
            <a:spLocks noGrp="1"/>
          </p:cNvSpPr>
          <p:nvPr>
            <p:ph type="sldNum" sz="quarter" idx="12"/>
          </p:nvPr>
        </p:nvSpPr>
        <p:spPr>
          <a:xfrm>
            <a:off x="8610600" y="6356350"/>
            <a:ext cx="2743200" cy="365125"/>
          </a:xfrm>
          <a:prstGeom prst="rect">
            <a:avLst/>
          </a:prstGeom>
        </p:spPr>
        <p:txBody>
          <a:bodyPr/>
          <a:lstStyle/>
          <a:p>
            <a:fld id="{448E48B9-2737-49CE-A674-D6A13F301AA3}" type="slidenum">
              <a:rPr lang="en-US" smtClean="0"/>
              <a:t>‹#›</a:t>
            </a:fld>
            <a:endParaRPr lang="en-US"/>
          </a:p>
        </p:txBody>
      </p:sp>
    </p:spTree>
    <p:extLst>
      <p:ext uri="{BB962C8B-B14F-4D97-AF65-F5344CB8AC3E}">
        <p14:creationId xmlns:p14="http://schemas.microsoft.com/office/powerpoint/2010/main" val="1464955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2622C-EC8E-4679-8F35-03EE80D2E0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ECEF3F-F7A9-307F-AD2E-130DE10AC1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7B7B70-2A4C-6D2D-E5F6-B6357F6CE5E6}"/>
              </a:ext>
            </a:extLst>
          </p:cNvPr>
          <p:cNvSpPr>
            <a:spLocks noGrp="1"/>
          </p:cNvSpPr>
          <p:nvPr>
            <p:ph type="dt" sz="half" idx="10"/>
          </p:nvPr>
        </p:nvSpPr>
        <p:spPr/>
        <p:txBody>
          <a:bodyPr/>
          <a:lstStyle/>
          <a:p>
            <a:fld id="{94A85E71-E21A-42CB-BC0B-7389FA7080F9}" type="datetimeFigureOut">
              <a:rPr lang="en-US" smtClean="0"/>
              <a:t>10/21/2026</a:t>
            </a:fld>
            <a:endParaRPr lang="en-US"/>
          </a:p>
        </p:txBody>
      </p:sp>
      <p:sp>
        <p:nvSpPr>
          <p:cNvPr id="5" name="Footer Placeholder 4">
            <a:extLst>
              <a:ext uri="{FF2B5EF4-FFF2-40B4-BE49-F238E27FC236}">
                <a16:creationId xmlns:a16="http://schemas.microsoft.com/office/drawing/2014/main" id="{7D96108F-5329-ED14-AD45-8272992617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50F27B-B565-613A-6C6C-271063B1A76F}"/>
              </a:ext>
            </a:extLst>
          </p:cNvPr>
          <p:cNvSpPr>
            <a:spLocks noGrp="1"/>
          </p:cNvSpPr>
          <p:nvPr>
            <p:ph type="sldNum" sz="quarter" idx="12"/>
          </p:nvPr>
        </p:nvSpPr>
        <p:spPr>
          <a:xfrm>
            <a:off x="8610600" y="6356350"/>
            <a:ext cx="2743200" cy="365125"/>
          </a:xfrm>
          <a:prstGeom prst="rect">
            <a:avLst/>
          </a:prstGeom>
        </p:spPr>
        <p:txBody>
          <a:bodyPr/>
          <a:lstStyle/>
          <a:p>
            <a:fld id="{448E48B9-2737-49CE-A674-D6A13F301AA3}" type="slidenum">
              <a:rPr lang="en-US" smtClean="0"/>
              <a:t>‹#›</a:t>
            </a:fld>
            <a:endParaRPr lang="en-US"/>
          </a:p>
        </p:txBody>
      </p:sp>
    </p:spTree>
    <p:extLst>
      <p:ext uri="{BB962C8B-B14F-4D97-AF65-F5344CB8AC3E}">
        <p14:creationId xmlns:p14="http://schemas.microsoft.com/office/powerpoint/2010/main" val="266397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561CE-560B-550A-DDF0-338DE22044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69A0F3-807E-7023-BBCA-273739727F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B49C5F-CA03-D155-9405-70CD41887E41}"/>
              </a:ext>
            </a:extLst>
          </p:cNvPr>
          <p:cNvSpPr>
            <a:spLocks noGrp="1"/>
          </p:cNvSpPr>
          <p:nvPr>
            <p:ph type="dt" sz="half" idx="10"/>
          </p:nvPr>
        </p:nvSpPr>
        <p:spPr/>
        <p:txBody>
          <a:bodyPr/>
          <a:lstStyle/>
          <a:p>
            <a:fld id="{94A85E71-E21A-42CB-BC0B-7389FA7080F9}" type="datetimeFigureOut">
              <a:rPr lang="en-US" smtClean="0"/>
              <a:t>10/21/2026</a:t>
            </a:fld>
            <a:endParaRPr lang="en-US"/>
          </a:p>
        </p:txBody>
      </p:sp>
      <p:sp>
        <p:nvSpPr>
          <p:cNvPr id="5" name="Footer Placeholder 4">
            <a:extLst>
              <a:ext uri="{FF2B5EF4-FFF2-40B4-BE49-F238E27FC236}">
                <a16:creationId xmlns:a16="http://schemas.microsoft.com/office/drawing/2014/main" id="{76BC23BE-BA77-396A-D7A4-EFC375556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FDA511-419F-EE40-6C24-F2077C825398}"/>
              </a:ext>
            </a:extLst>
          </p:cNvPr>
          <p:cNvSpPr>
            <a:spLocks noGrp="1"/>
          </p:cNvSpPr>
          <p:nvPr>
            <p:ph type="sldNum" sz="quarter" idx="12"/>
          </p:nvPr>
        </p:nvSpPr>
        <p:spPr>
          <a:xfrm>
            <a:off x="8610600" y="6356350"/>
            <a:ext cx="2743200" cy="365125"/>
          </a:xfrm>
          <a:prstGeom prst="rect">
            <a:avLst/>
          </a:prstGeom>
        </p:spPr>
        <p:txBody>
          <a:bodyPr/>
          <a:lstStyle/>
          <a:p>
            <a:fld id="{448E48B9-2737-49CE-A674-D6A13F301AA3}" type="slidenum">
              <a:rPr lang="en-US" smtClean="0"/>
              <a:t>‹#›</a:t>
            </a:fld>
            <a:endParaRPr lang="en-US"/>
          </a:p>
        </p:txBody>
      </p:sp>
    </p:spTree>
    <p:extLst>
      <p:ext uri="{BB962C8B-B14F-4D97-AF65-F5344CB8AC3E}">
        <p14:creationId xmlns:p14="http://schemas.microsoft.com/office/powerpoint/2010/main" val="851884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rtlCol="0"/>
          <a:lstStyle>
            <a:lvl1pPr marL="0" indent="0">
              <a:buNone/>
              <a:defRPr lang="en-US" sz="1200" b="1" kern="0" spc="200" dirty="0">
                <a:solidFill>
                  <a:schemeClr val="accent4"/>
                </a:solidFill>
              </a:defRPr>
            </a:lvl1pPr>
          </a:lstStyle>
          <a:p>
            <a:pPr marL="0" indent="0">
              <a:buNone/>
            </a:pP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Tree>
    <p:extLst>
      <p:ext uri="{BB962C8B-B14F-4D97-AF65-F5344CB8AC3E}">
        <p14:creationId xmlns:p14="http://schemas.microsoft.com/office/powerpoint/2010/main" val="1076628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ARKCONTEN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txBody>
          <a:bodyPr/>
          <a:lstStyle/>
          <a:p>
            <a:endParaRPr lang="en-US"/>
          </a:p>
        </p:txBody>
      </p:sp>
      <p:sp>
        <p:nvSpPr>
          <p:cNvPr id="3" name="Text 1"/>
          <p:cNvSpPr>
            <a:spLocks noGrp="1"/>
          </p:cNvSpPr>
          <p:nvPr>
            <p:ph type="body" idx="101" hasCustomPrompt="1"/>
          </p:nvPr>
        </p:nvSpPr>
        <p:spPr>
          <a:xfrm>
            <a:off x="548640" y="329184"/>
            <a:ext cx="9144000" cy="274320"/>
          </a:xfrm>
          <a:prstGeom prst="rect">
            <a:avLst/>
          </a:prstGeom>
          <a:noFill/>
          <a:ln/>
        </p:spPr>
        <p:txBody>
          <a:bodyPr wrap="square" rtlCol="0"/>
          <a:lstStyle>
            <a:lvl1pPr marL="0" indent="0">
              <a:buNone/>
              <a:defRPr lang="en-US" sz="1200" b="1" kern="0" spc="200" dirty="0">
                <a:solidFill>
                  <a:schemeClr val="accent2"/>
                </a:solidFill>
              </a:defRPr>
            </a:lvl1pPr>
          </a:lstStyle>
          <a:p>
            <a:pPr marL="0" indent="0">
              <a:buNone/>
            </a:pPr>
            <a:endParaRPr lang="en-US" sz="1200" dirty="0"/>
          </a:p>
        </p:txBody>
      </p:sp>
      <p:sp>
        <p:nvSpPr>
          <p:cNvPr id="4" name="Text 1"/>
          <p:cNvSpPr>
            <a:spLocks noGrp="1"/>
          </p:cNvSpPr>
          <p:nvPr>
            <p:ph type="title" idx="102" hasCustomPrompt="1"/>
          </p:nvPr>
        </p:nvSpPr>
        <p:spPr>
          <a:xfrm>
            <a:off x="548640" y="603504"/>
            <a:ext cx="11091672" cy="73152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extLst>
      <p:ext uri="{BB962C8B-B14F-4D97-AF65-F5344CB8AC3E}">
        <p14:creationId xmlns:p14="http://schemas.microsoft.com/office/powerpoint/2010/main" val="3712287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3587FF-FFFA-2509-6A20-4BE94DA44B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B8924D-3A5D-1C6F-EDC9-C82BA92E2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0F9A9B-EE43-6399-CCF7-75A65F35FF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A85E71-E21A-42CB-BC0B-7389FA7080F9}" type="datetimeFigureOut">
              <a:rPr lang="en-US" smtClean="0"/>
              <a:t>10/21/2026</a:t>
            </a:fld>
            <a:endParaRPr lang="en-US"/>
          </a:p>
        </p:txBody>
      </p:sp>
      <p:sp>
        <p:nvSpPr>
          <p:cNvPr id="5" name="Footer Placeholder 4">
            <a:extLst>
              <a:ext uri="{FF2B5EF4-FFF2-40B4-BE49-F238E27FC236}">
                <a16:creationId xmlns:a16="http://schemas.microsoft.com/office/drawing/2014/main" id="{070CD05A-E0CF-FE24-F46F-9E870AF58C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3785818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chart" Target="../charts/chart6.xml"/></Relationships>
</file>

<file path=ppt/slides/_rels/slide2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7D71F90F-F2CC-C32C-6A0D-9D7A9AB50FE7}"/>
              </a:ext>
            </a:extLst>
          </p:cNvPr>
          <p:cNvSpPr txBox="1">
            <a:spLocks/>
          </p:cNvSpPr>
          <p:nvPr/>
        </p:nvSpPr>
        <p:spPr>
          <a:xfrm>
            <a:off x="548640" y="1143000"/>
            <a:ext cx="9144000" cy="320040"/>
          </a:xfrm>
          <a:prstGeom prst="rect">
            <a:avLst/>
          </a:prstGeom>
          <a:noFill/>
          <a:ln/>
        </p:spPr>
        <p:txBody>
          <a:bodyPr wrap="square" lIns="0" tIns="0" rIns="0" bIns="0"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kern="0" spc="200">
                <a:solidFill>
                  <a:schemeClr val="accent2"/>
                </a:solidFill>
              </a:rPr>
              <a:t>DATA 201 · WEEK 8</a:t>
            </a:r>
            <a:endParaRPr lang="en-US" sz="1400" dirty="0"/>
          </a:p>
        </p:txBody>
      </p:sp>
      <p:sp>
        <p:nvSpPr>
          <p:cNvPr id="4" name="Text 1">
            <a:extLst>
              <a:ext uri="{FF2B5EF4-FFF2-40B4-BE49-F238E27FC236}">
                <a16:creationId xmlns:a16="http://schemas.microsoft.com/office/drawing/2014/main" id="{17AAEF8D-3EA5-7F05-CE0D-21F86BDDA8BB}"/>
              </a:ext>
            </a:extLst>
          </p:cNvPr>
          <p:cNvSpPr txBox="1">
            <a:spLocks/>
          </p:cNvSpPr>
          <p:nvPr/>
        </p:nvSpPr>
        <p:spPr>
          <a:xfrm>
            <a:off x="548640" y="1554480"/>
            <a:ext cx="10515600" cy="1371600"/>
          </a:xfrm>
          <a:prstGeom prst="rect">
            <a:avLst/>
          </a:prstGeom>
          <a:noFill/>
          <a:ln/>
        </p:spPr>
        <p:txBody>
          <a:bodyPr wrap="square" lIns="0" tIns="0" rIns="0" bIns="0" rtlCol="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chemeClr val="bg1"/>
                </a:solidFill>
              </a:rPr>
              <a:t>Regularization and Model Complexity</a:t>
            </a:r>
            <a:endParaRPr lang="en-US" dirty="0"/>
          </a:p>
        </p:txBody>
      </p:sp>
      <p:sp>
        <p:nvSpPr>
          <p:cNvPr id="5" name="txt_1">
            <a:extLst>
              <a:ext uri="{FF2B5EF4-FFF2-40B4-BE49-F238E27FC236}">
                <a16:creationId xmlns:a16="http://schemas.microsoft.com/office/drawing/2014/main" id="{F96B2261-21C1-A82B-AAD8-AD6856EA0D68}"/>
              </a:ext>
            </a:extLst>
          </p:cNvPr>
          <p:cNvSpPr txBox="1"/>
          <p:nvPr/>
        </p:nvSpPr>
        <p:spPr>
          <a:xfrm>
            <a:off x="548640" y="3063240"/>
            <a:ext cx="10515600" cy="457200"/>
          </a:xfrm>
          <a:prstGeom prst="rect">
            <a:avLst/>
          </a:prstGeom>
          <a:noFill/>
          <a:ln/>
        </p:spPr>
        <p:txBody>
          <a:bodyPr wrap="square" lIns="0" tIns="0" rIns="0" bIns="0" rtlCol="0" anchor="t"/>
          <a:lstStyle/>
          <a:p>
            <a:pPr marL="0" indent="0">
              <a:buNone/>
            </a:pPr>
            <a:r>
              <a:rPr lang="en-US" sz="1800" dirty="0">
                <a:solidFill>
                  <a:schemeClr val="bg1"/>
                </a:solidFill>
              </a:rPr>
              <a:t>Ridge  ·  lasso  ·  the bias–variance tradeoff  ·  interpretability vs. flexibility</a:t>
            </a:r>
            <a:endParaRPr lang="en-US" sz="1800" dirty="0"/>
          </a:p>
        </p:txBody>
      </p:sp>
      <p:sp>
        <p:nvSpPr>
          <p:cNvPr id="6" name="chip_2">
            <a:extLst>
              <a:ext uri="{FF2B5EF4-FFF2-40B4-BE49-F238E27FC236}">
                <a16:creationId xmlns:a16="http://schemas.microsoft.com/office/drawing/2014/main" id="{EC674DC4-6DF4-E2A6-C9C4-1C6365417B84}"/>
              </a:ext>
            </a:extLst>
          </p:cNvPr>
          <p:cNvSpPr txBox="1"/>
          <p:nvPr/>
        </p:nvSpPr>
        <p:spPr>
          <a:xfrm>
            <a:off x="548640" y="4069080"/>
            <a:ext cx="1874520" cy="640080"/>
          </a:xfrm>
          <a:prstGeom prst="roundRect">
            <a:avLst>
              <a:gd name="adj" fmla="val 14286"/>
            </a:avLst>
          </a:prstGeom>
          <a:solidFill>
            <a:schemeClr val="accent2"/>
          </a:solidFill>
          <a:ln/>
        </p:spPr>
        <p:txBody>
          <a:bodyPr wrap="square" lIns="50800" tIns="50800" rIns="50800" bIns="50800" rtlCol="0" anchor="ctr"/>
          <a:lstStyle/>
          <a:p>
            <a:pPr marL="0" indent="0" algn="ctr">
              <a:buNone/>
            </a:pPr>
            <a:r>
              <a:rPr lang="en-US" sz="1600" b="1" dirty="0">
                <a:solidFill>
                  <a:schemeClr val="tx1"/>
                </a:solidFill>
              </a:rPr>
              <a:t>Fit</a:t>
            </a:r>
            <a:endParaRPr lang="en-US" sz="1600" dirty="0"/>
          </a:p>
        </p:txBody>
      </p:sp>
      <p:sp>
        <p:nvSpPr>
          <p:cNvPr id="7" name="txt_3">
            <a:extLst>
              <a:ext uri="{FF2B5EF4-FFF2-40B4-BE49-F238E27FC236}">
                <a16:creationId xmlns:a16="http://schemas.microsoft.com/office/drawing/2014/main" id="{9CF27DFD-70F7-427D-D954-E3D09CFDBC64}"/>
              </a:ext>
            </a:extLst>
          </p:cNvPr>
          <p:cNvSpPr txBox="1"/>
          <p:nvPr/>
        </p:nvSpPr>
        <p:spPr>
          <a:xfrm>
            <a:off x="2441448" y="4160520"/>
            <a:ext cx="365760" cy="457200"/>
          </a:xfrm>
          <a:prstGeom prst="rect">
            <a:avLst/>
          </a:prstGeom>
          <a:noFill/>
          <a:ln/>
        </p:spPr>
        <p:txBody>
          <a:bodyPr wrap="square" lIns="0" tIns="0" rIns="0" bIns="0" rtlCol="0" anchor="t"/>
          <a:lstStyle/>
          <a:p>
            <a:pPr marL="0" indent="0" algn="ctr">
              <a:buNone/>
            </a:pPr>
            <a:r>
              <a:rPr lang="en-US" sz="2200" dirty="0">
                <a:solidFill>
                  <a:schemeClr val="bg1"/>
                </a:solidFill>
              </a:rPr>
              <a:t>→</a:t>
            </a:r>
            <a:endParaRPr lang="en-US" sz="2200" dirty="0"/>
          </a:p>
        </p:txBody>
      </p:sp>
      <p:sp>
        <p:nvSpPr>
          <p:cNvPr id="8" name="chip_4">
            <a:extLst>
              <a:ext uri="{FF2B5EF4-FFF2-40B4-BE49-F238E27FC236}">
                <a16:creationId xmlns:a16="http://schemas.microsoft.com/office/drawing/2014/main" id="{B1646556-A00A-09E5-E5BC-D097FC96F332}"/>
              </a:ext>
            </a:extLst>
          </p:cNvPr>
          <p:cNvSpPr txBox="1"/>
          <p:nvPr/>
        </p:nvSpPr>
        <p:spPr>
          <a:xfrm>
            <a:off x="2834640" y="4069080"/>
            <a:ext cx="1874520" cy="640080"/>
          </a:xfrm>
          <a:prstGeom prst="roundRect">
            <a:avLst>
              <a:gd name="adj" fmla="val 14286"/>
            </a:avLst>
          </a:prstGeom>
          <a:solidFill>
            <a:schemeClr val="accent2"/>
          </a:solidFill>
          <a:ln/>
        </p:spPr>
        <p:txBody>
          <a:bodyPr wrap="square" lIns="50800" tIns="50800" rIns="50800" bIns="50800" rtlCol="0" anchor="ctr"/>
          <a:lstStyle/>
          <a:p>
            <a:pPr marL="0" indent="0" algn="ctr">
              <a:buNone/>
            </a:pPr>
            <a:r>
              <a:rPr lang="en-US" sz="1600" b="1" dirty="0">
                <a:solidFill>
                  <a:schemeClr val="tx1"/>
                </a:solidFill>
              </a:rPr>
              <a:t>Overfit</a:t>
            </a:r>
            <a:endParaRPr lang="en-US" sz="1600" dirty="0"/>
          </a:p>
        </p:txBody>
      </p:sp>
      <p:sp>
        <p:nvSpPr>
          <p:cNvPr id="9" name="txt_5">
            <a:extLst>
              <a:ext uri="{FF2B5EF4-FFF2-40B4-BE49-F238E27FC236}">
                <a16:creationId xmlns:a16="http://schemas.microsoft.com/office/drawing/2014/main" id="{DC515395-53EA-50EC-3800-44308CB3C379}"/>
              </a:ext>
            </a:extLst>
          </p:cNvPr>
          <p:cNvSpPr txBox="1"/>
          <p:nvPr/>
        </p:nvSpPr>
        <p:spPr>
          <a:xfrm>
            <a:off x="4727448" y="4160520"/>
            <a:ext cx="365760" cy="457200"/>
          </a:xfrm>
          <a:prstGeom prst="rect">
            <a:avLst/>
          </a:prstGeom>
          <a:noFill/>
          <a:ln/>
        </p:spPr>
        <p:txBody>
          <a:bodyPr wrap="square" lIns="0" tIns="0" rIns="0" bIns="0" rtlCol="0" anchor="t"/>
          <a:lstStyle/>
          <a:p>
            <a:pPr marL="0" indent="0" algn="ctr">
              <a:buNone/>
            </a:pPr>
            <a:r>
              <a:rPr lang="en-US" sz="2200" dirty="0">
                <a:solidFill>
                  <a:schemeClr val="bg1"/>
                </a:solidFill>
              </a:rPr>
              <a:t>→</a:t>
            </a:r>
            <a:endParaRPr lang="en-US" sz="2200" dirty="0"/>
          </a:p>
        </p:txBody>
      </p:sp>
      <p:sp>
        <p:nvSpPr>
          <p:cNvPr id="10" name="chip_6">
            <a:extLst>
              <a:ext uri="{FF2B5EF4-FFF2-40B4-BE49-F238E27FC236}">
                <a16:creationId xmlns:a16="http://schemas.microsoft.com/office/drawing/2014/main" id="{B68D4072-514D-F219-38AD-635F968F0919}"/>
              </a:ext>
            </a:extLst>
          </p:cNvPr>
          <p:cNvSpPr txBox="1"/>
          <p:nvPr/>
        </p:nvSpPr>
        <p:spPr>
          <a:xfrm>
            <a:off x="5120640" y="4069080"/>
            <a:ext cx="1874520" cy="640080"/>
          </a:xfrm>
          <a:prstGeom prst="roundRect">
            <a:avLst>
              <a:gd name="adj" fmla="val 14286"/>
            </a:avLst>
          </a:prstGeom>
          <a:solidFill>
            <a:schemeClr val="accent2"/>
          </a:solidFill>
          <a:ln/>
        </p:spPr>
        <p:txBody>
          <a:bodyPr wrap="square" lIns="50800" tIns="50800" rIns="50800" bIns="50800" rtlCol="0" anchor="ctr"/>
          <a:lstStyle/>
          <a:p>
            <a:pPr marL="0" indent="0" algn="ctr">
              <a:buNone/>
            </a:pPr>
            <a:r>
              <a:rPr lang="en-US" sz="1600" b="1" dirty="0">
                <a:solidFill>
                  <a:schemeClr val="tx1"/>
                </a:solidFill>
              </a:rPr>
              <a:t>Penalize</a:t>
            </a:r>
            <a:endParaRPr lang="en-US" sz="1600" dirty="0"/>
          </a:p>
        </p:txBody>
      </p:sp>
      <p:sp>
        <p:nvSpPr>
          <p:cNvPr id="11" name="txt_7">
            <a:extLst>
              <a:ext uri="{FF2B5EF4-FFF2-40B4-BE49-F238E27FC236}">
                <a16:creationId xmlns:a16="http://schemas.microsoft.com/office/drawing/2014/main" id="{02C33554-18AE-9CA9-BD68-B6F4942B05DF}"/>
              </a:ext>
            </a:extLst>
          </p:cNvPr>
          <p:cNvSpPr txBox="1"/>
          <p:nvPr/>
        </p:nvSpPr>
        <p:spPr>
          <a:xfrm>
            <a:off x="7013448" y="4160520"/>
            <a:ext cx="365760" cy="457200"/>
          </a:xfrm>
          <a:prstGeom prst="rect">
            <a:avLst/>
          </a:prstGeom>
          <a:noFill/>
          <a:ln/>
        </p:spPr>
        <p:txBody>
          <a:bodyPr wrap="square" lIns="0" tIns="0" rIns="0" bIns="0" rtlCol="0" anchor="t"/>
          <a:lstStyle/>
          <a:p>
            <a:pPr marL="0" indent="0" algn="ctr">
              <a:buNone/>
            </a:pPr>
            <a:r>
              <a:rPr lang="en-US" sz="2200" dirty="0">
                <a:solidFill>
                  <a:schemeClr val="bg1"/>
                </a:solidFill>
              </a:rPr>
              <a:t>→</a:t>
            </a:r>
            <a:endParaRPr lang="en-US" sz="2200" dirty="0"/>
          </a:p>
        </p:txBody>
      </p:sp>
      <p:sp>
        <p:nvSpPr>
          <p:cNvPr id="12" name="chip_8">
            <a:extLst>
              <a:ext uri="{FF2B5EF4-FFF2-40B4-BE49-F238E27FC236}">
                <a16:creationId xmlns:a16="http://schemas.microsoft.com/office/drawing/2014/main" id="{AE6833D0-30D2-1767-6412-FD988275D42F}"/>
              </a:ext>
            </a:extLst>
          </p:cNvPr>
          <p:cNvSpPr txBox="1"/>
          <p:nvPr/>
        </p:nvSpPr>
        <p:spPr>
          <a:xfrm>
            <a:off x="7406640" y="4069080"/>
            <a:ext cx="1874520" cy="640080"/>
          </a:xfrm>
          <a:prstGeom prst="roundRect">
            <a:avLst>
              <a:gd name="adj" fmla="val 14286"/>
            </a:avLst>
          </a:prstGeom>
          <a:solidFill>
            <a:schemeClr val="accent2"/>
          </a:solidFill>
          <a:ln/>
        </p:spPr>
        <p:txBody>
          <a:bodyPr wrap="square" lIns="50800" tIns="50800" rIns="50800" bIns="50800" rtlCol="0" anchor="ctr"/>
          <a:lstStyle/>
          <a:p>
            <a:pPr marL="0" indent="0" algn="ctr">
              <a:buNone/>
            </a:pPr>
            <a:r>
              <a:rPr lang="en-US" sz="1600" b="1" dirty="0">
                <a:solidFill>
                  <a:schemeClr val="tx1"/>
                </a:solidFill>
              </a:rPr>
              <a:t>Tune α</a:t>
            </a:r>
            <a:endParaRPr lang="en-US" sz="1600" dirty="0"/>
          </a:p>
        </p:txBody>
      </p:sp>
      <p:sp>
        <p:nvSpPr>
          <p:cNvPr id="13" name="txt_9">
            <a:extLst>
              <a:ext uri="{FF2B5EF4-FFF2-40B4-BE49-F238E27FC236}">
                <a16:creationId xmlns:a16="http://schemas.microsoft.com/office/drawing/2014/main" id="{E3750953-4AEA-5BDD-5191-6855D165F4D7}"/>
              </a:ext>
            </a:extLst>
          </p:cNvPr>
          <p:cNvSpPr txBox="1"/>
          <p:nvPr/>
        </p:nvSpPr>
        <p:spPr>
          <a:xfrm>
            <a:off x="9299448" y="4160520"/>
            <a:ext cx="365760" cy="457200"/>
          </a:xfrm>
          <a:prstGeom prst="rect">
            <a:avLst/>
          </a:prstGeom>
          <a:noFill/>
          <a:ln/>
        </p:spPr>
        <p:txBody>
          <a:bodyPr wrap="square" lIns="0" tIns="0" rIns="0" bIns="0" rtlCol="0" anchor="t"/>
          <a:lstStyle/>
          <a:p>
            <a:pPr marL="0" indent="0" algn="ctr">
              <a:buNone/>
            </a:pPr>
            <a:r>
              <a:rPr lang="en-US" sz="2200" dirty="0">
                <a:solidFill>
                  <a:schemeClr val="bg1"/>
                </a:solidFill>
              </a:rPr>
              <a:t>→</a:t>
            </a:r>
            <a:endParaRPr lang="en-US" sz="2200" dirty="0"/>
          </a:p>
        </p:txBody>
      </p:sp>
      <p:sp>
        <p:nvSpPr>
          <p:cNvPr id="14" name="chip_10">
            <a:extLst>
              <a:ext uri="{FF2B5EF4-FFF2-40B4-BE49-F238E27FC236}">
                <a16:creationId xmlns:a16="http://schemas.microsoft.com/office/drawing/2014/main" id="{8885F026-BCBC-FB22-E136-20C47D6A0722}"/>
              </a:ext>
            </a:extLst>
          </p:cNvPr>
          <p:cNvSpPr txBox="1"/>
          <p:nvPr/>
        </p:nvSpPr>
        <p:spPr>
          <a:xfrm>
            <a:off x="9692640" y="4069080"/>
            <a:ext cx="1874520" cy="640080"/>
          </a:xfrm>
          <a:prstGeom prst="roundRect">
            <a:avLst>
              <a:gd name="adj" fmla="val 14286"/>
            </a:avLst>
          </a:prstGeom>
          <a:solidFill>
            <a:schemeClr val="accent1"/>
          </a:solidFill>
          <a:ln/>
        </p:spPr>
        <p:txBody>
          <a:bodyPr wrap="square" lIns="50800" tIns="50800" rIns="50800" bIns="50800" rtlCol="0" anchor="ctr"/>
          <a:lstStyle/>
          <a:p>
            <a:pPr marL="0" indent="0" algn="ctr">
              <a:buNone/>
            </a:pPr>
            <a:r>
              <a:rPr lang="en-US" sz="1600" b="1" dirty="0">
                <a:solidFill>
                  <a:schemeClr val="bg1"/>
                </a:solidFill>
              </a:rPr>
              <a:t>Interpret</a:t>
            </a:r>
            <a:endParaRPr lang="en-US" sz="1600" dirty="0"/>
          </a:p>
        </p:txBody>
      </p:sp>
      <p:sp>
        <p:nvSpPr>
          <p:cNvPr id="15" name="txt_11">
            <a:extLst>
              <a:ext uri="{FF2B5EF4-FFF2-40B4-BE49-F238E27FC236}">
                <a16:creationId xmlns:a16="http://schemas.microsoft.com/office/drawing/2014/main" id="{DCD465C5-6BFD-48A2-78A2-12C7606B1EF5}"/>
              </a:ext>
            </a:extLst>
          </p:cNvPr>
          <p:cNvSpPr txBox="1"/>
          <p:nvPr/>
        </p:nvSpPr>
        <p:spPr>
          <a:xfrm>
            <a:off x="548640" y="5257800"/>
            <a:ext cx="5486400" cy="365760"/>
          </a:xfrm>
          <a:prstGeom prst="rect">
            <a:avLst/>
          </a:prstGeom>
          <a:noFill/>
          <a:ln/>
        </p:spPr>
        <p:txBody>
          <a:bodyPr wrap="square" lIns="0" tIns="0" rIns="0" bIns="0" rtlCol="0" anchor="t"/>
          <a:lstStyle/>
          <a:p>
            <a:pPr marL="0" indent="0">
              <a:buNone/>
            </a:pPr>
            <a:r>
              <a:rPr lang="en-US" sz="1600" b="1" dirty="0">
                <a:solidFill>
                  <a:schemeClr val="bg1"/>
                </a:solidFill>
              </a:rPr>
              <a:t>Prof. Alraee</a:t>
            </a:r>
            <a:endParaRPr lang="en-US" sz="1600" dirty="0"/>
          </a:p>
        </p:txBody>
      </p:sp>
      <p:sp>
        <p:nvSpPr>
          <p:cNvPr id="16" name="txt_12">
            <a:extLst>
              <a:ext uri="{FF2B5EF4-FFF2-40B4-BE49-F238E27FC236}">
                <a16:creationId xmlns:a16="http://schemas.microsoft.com/office/drawing/2014/main" id="{D98D5797-EFDC-442B-8E8A-BE84CF38D0ED}"/>
              </a:ext>
            </a:extLst>
          </p:cNvPr>
          <p:cNvSpPr txBox="1"/>
          <p:nvPr/>
        </p:nvSpPr>
        <p:spPr>
          <a:xfrm>
            <a:off x="548640" y="6126480"/>
            <a:ext cx="10515600" cy="320040"/>
          </a:xfrm>
          <a:prstGeom prst="rect">
            <a:avLst/>
          </a:prstGeom>
          <a:noFill/>
          <a:ln/>
        </p:spPr>
        <p:txBody>
          <a:bodyPr wrap="square" lIns="0" tIns="0" rIns="0" bIns="0" rtlCol="0" anchor="t"/>
          <a:lstStyle/>
          <a:p>
            <a:pPr marL="0" indent="0">
              <a:buNone/>
            </a:pPr>
            <a:r>
              <a:rPr lang="en-US" sz="1200" dirty="0">
                <a:solidFill>
                  <a:schemeClr val="bg2"/>
                </a:solidFill>
              </a:rPr>
              <a:t>Source: James, Witten, Hastie, Tibshirani &amp; Taylor, An Introduction to Statistical Learning (ISLP), Ch. 6</a:t>
            </a:r>
            <a:endParaRPr lang="en-US" sz="1200" dirty="0"/>
          </a:p>
        </p:txBody>
      </p:sp>
    </p:spTree>
    <p:extLst>
      <p:ext uri="{BB962C8B-B14F-4D97-AF65-F5344CB8AC3E}">
        <p14:creationId xmlns:p14="http://schemas.microsoft.com/office/powerpoint/2010/main" val="1981740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WHERE WE ARE</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From choosing a model to controlling its complexity</a:t>
            </a:r>
            <a:endParaRPr lang="en-US" sz="3000" dirty="0"/>
          </a:p>
        </p:txBody>
      </p:sp>
      <p:sp>
        <p:nvSpPr>
          <p:cNvPr id="4" name="card_13"/>
          <p:cNvSpPr/>
          <p:nvPr/>
        </p:nvSpPr>
        <p:spPr>
          <a:xfrm>
            <a:off x="548640" y="1508760"/>
            <a:ext cx="5394960" cy="3429000"/>
          </a:xfrm>
          <a:prstGeom prst="roundRect">
            <a:avLst>
              <a:gd name="adj" fmla="val 2133"/>
            </a:avLst>
          </a:prstGeom>
          <a:solidFill>
            <a:schemeClr val="bg2"/>
          </a:solidFill>
          <a:ln/>
        </p:spPr>
        <p:txBody>
          <a:bodyPr/>
          <a:lstStyle/>
          <a:p>
            <a:endParaRPr lang="en-US"/>
          </a:p>
        </p:txBody>
      </p:sp>
      <p:sp>
        <p:nvSpPr>
          <p:cNvPr id="5" name="cardtext_14"/>
          <p:cNvSpPr txBox="1"/>
          <p:nvPr/>
        </p:nvSpPr>
        <p:spPr>
          <a:xfrm>
            <a:off x="731520" y="1636776"/>
            <a:ext cx="5029200" cy="317296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Weeks 6-7: what you already know</a:t>
            </a:r>
            <a:endParaRPr lang="en-US" sz="1800" dirty="0"/>
          </a:p>
          <a:p>
            <a:pPr marL="342900" indent="-342900">
              <a:spcAft>
                <a:spcPts val="400"/>
              </a:spcAft>
              <a:buSzPct val="100000"/>
              <a:buChar char="•"/>
            </a:pPr>
            <a:r>
              <a:rPr lang="en-US" sz="1800" dirty="0">
                <a:solidFill>
                  <a:schemeClr val="tx1"/>
                </a:solidFill>
              </a:rPr>
              <a:t>Overfitting and underfitting (Week 6)</a:t>
            </a:r>
            <a:endParaRPr lang="en-US" sz="1800" dirty="0"/>
          </a:p>
          <a:p>
            <a:pPr marL="342900" indent="-342900">
              <a:spcAft>
                <a:spcPts val="400"/>
              </a:spcAft>
              <a:buSzPct val="100000"/>
              <a:buChar char="•"/>
            </a:pPr>
            <a:r>
              <a:rPr lang="en-US" sz="1800" dirty="0">
                <a:solidFill>
                  <a:schemeClr val="tx1"/>
                </a:solidFill>
              </a:rPr>
              <a:t>Cross-validation and grid search to pick a hyperparameter</a:t>
            </a:r>
            <a:endParaRPr lang="en-US" sz="1800" dirty="0"/>
          </a:p>
          <a:p>
            <a:pPr marL="342900" indent="-342900">
              <a:spcAft>
                <a:spcPts val="400"/>
              </a:spcAft>
              <a:buSzPct val="100000"/>
              <a:buChar char="•"/>
            </a:pPr>
            <a:r>
              <a:rPr lang="en-US" sz="1800" dirty="0">
                <a:solidFill>
                  <a:schemeClr val="tx1"/>
                </a:solidFill>
              </a:rPr>
              <a:t>Scaling inside a Pipeline, fit on training data only (Week 7)</a:t>
            </a:r>
            <a:endParaRPr lang="en-US" sz="1800" dirty="0"/>
          </a:p>
          <a:p>
            <a:pPr marL="342900" indent="-342900">
              <a:spcAft>
                <a:spcPts val="400"/>
              </a:spcAft>
              <a:buSzPct val="100000"/>
              <a:buChar char="•"/>
            </a:pPr>
            <a:r>
              <a:rPr lang="en-US" sz="1800" dirty="0">
                <a:solidFill>
                  <a:schemeClr val="tx1"/>
                </a:solidFill>
              </a:rPr>
              <a:t>Logistic regression, LDA, QDA and KNN</a:t>
            </a:r>
            <a:endParaRPr lang="en-US" sz="1800" dirty="0"/>
          </a:p>
          <a:p>
            <a:pPr marL="342900" indent="-342900">
              <a:spcAft>
                <a:spcPts val="400"/>
              </a:spcAft>
              <a:buSzPct val="100000"/>
              <a:buChar char="•"/>
            </a:pPr>
            <a:r>
              <a:rPr lang="en-US" sz="1800" dirty="0">
                <a:solidFill>
                  <a:schemeClr val="tx1"/>
                </a:solidFill>
              </a:rPr>
              <a:t>Week 7 mentioned that L1 can shrink coefficients to zero. Today we see why.</a:t>
            </a:r>
            <a:endParaRPr lang="en-US" sz="1800" dirty="0"/>
          </a:p>
        </p:txBody>
      </p:sp>
      <p:sp>
        <p:nvSpPr>
          <p:cNvPr id="6" name="card_15"/>
          <p:cNvSpPr/>
          <p:nvPr/>
        </p:nvSpPr>
        <p:spPr>
          <a:xfrm>
            <a:off x="6245352" y="1508760"/>
            <a:ext cx="5394960" cy="3429000"/>
          </a:xfrm>
          <a:prstGeom prst="roundRect">
            <a:avLst>
              <a:gd name="adj" fmla="val 2133"/>
            </a:avLst>
          </a:prstGeom>
          <a:solidFill>
            <a:schemeClr val="accent2"/>
          </a:solidFill>
          <a:ln/>
        </p:spPr>
        <p:txBody>
          <a:bodyPr/>
          <a:lstStyle/>
          <a:p>
            <a:endParaRPr lang="en-US"/>
          </a:p>
        </p:txBody>
      </p:sp>
      <p:sp>
        <p:nvSpPr>
          <p:cNvPr id="7" name="cardtext_16"/>
          <p:cNvSpPr txBox="1"/>
          <p:nvPr/>
        </p:nvSpPr>
        <p:spPr>
          <a:xfrm>
            <a:off x="6428232" y="1636776"/>
            <a:ext cx="5029200" cy="317296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This week: controlling complexity</a:t>
            </a:r>
            <a:endParaRPr lang="en-US" sz="1800" dirty="0"/>
          </a:p>
          <a:p>
            <a:pPr marL="342900" indent="-342900">
              <a:spcAft>
                <a:spcPts val="400"/>
              </a:spcAft>
              <a:buSzPct val="100000"/>
              <a:buChar char="•"/>
            </a:pPr>
            <a:r>
              <a:rPr lang="en-US" sz="1800" dirty="0">
                <a:solidFill>
                  <a:schemeClr val="tx1"/>
                </a:solidFill>
              </a:rPr>
              <a:t>Why plain least squares overfits when there are many features</a:t>
            </a:r>
            <a:endParaRPr lang="en-US" sz="1800" dirty="0"/>
          </a:p>
          <a:p>
            <a:pPr marL="342900" indent="-342900">
              <a:spcAft>
                <a:spcPts val="400"/>
              </a:spcAft>
              <a:buSzPct val="100000"/>
              <a:buChar char="•"/>
            </a:pPr>
            <a:r>
              <a:rPr lang="en-US" sz="1800" dirty="0">
                <a:solidFill>
                  <a:schemeClr val="tx1"/>
                </a:solidFill>
              </a:rPr>
              <a:t>Bias and variance trade off</a:t>
            </a:r>
            <a:endParaRPr lang="en-US" sz="1800" dirty="0"/>
          </a:p>
          <a:p>
            <a:pPr marL="342900" indent="-342900">
              <a:spcAft>
                <a:spcPts val="400"/>
              </a:spcAft>
              <a:buSzPct val="100000"/>
              <a:buChar char="•"/>
            </a:pPr>
            <a:r>
              <a:rPr lang="en-US" sz="1800" dirty="0">
                <a:solidFill>
                  <a:schemeClr val="tx1"/>
                </a:solidFill>
              </a:rPr>
              <a:t>Ridge (L2) and lasso (L1): add a penalty to the fit</a:t>
            </a:r>
            <a:endParaRPr lang="en-US" sz="1800" dirty="0"/>
          </a:p>
          <a:p>
            <a:pPr marL="342900" indent="-342900">
              <a:spcAft>
                <a:spcPts val="400"/>
              </a:spcAft>
              <a:buSzPct val="100000"/>
              <a:buChar char="•"/>
            </a:pPr>
            <a:r>
              <a:rPr lang="en-US" sz="1800" dirty="0">
                <a:solidFill>
                  <a:schemeClr val="tx1"/>
                </a:solidFill>
              </a:rPr>
              <a:t>Choosing the penalty strength α with cross-validation</a:t>
            </a:r>
            <a:endParaRPr lang="en-US" sz="1800" dirty="0"/>
          </a:p>
          <a:p>
            <a:pPr marL="342900" indent="-342900">
              <a:spcAft>
                <a:spcPts val="400"/>
              </a:spcAft>
              <a:buSzPct val="100000"/>
              <a:buChar char="•"/>
            </a:pPr>
            <a:r>
              <a:rPr lang="en-US" sz="1800" dirty="0">
                <a:solidFill>
                  <a:schemeClr val="tx1"/>
                </a:solidFill>
              </a:rPr>
              <a:t>Interpretability vs. flexibility: what we gain and give up</a:t>
            </a:r>
            <a:endParaRPr lang="en-US" sz="1800" dirty="0"/>
          </a:p>
        </p:txBody>
      </p:sp>
      <p:sp>
        <p:nvSpPr>
          <p:cNvPr id="8" name="chip_17"/>
          <p:cNvSpPr txBox="1"/>
          <p:nvPr/>
        </p:nvSpPr>
        <p:spPr>
          <a:xfrm>
            <a:off x="548640" y="5257800"/>
            <a:ext cx="2057400" cy="685800"/>
          </a:xfrm>
          <a:prstGeom prst="roundRect">
            <a:avLst>
              <a:gd name="adj" fmla="val 13333"/>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Background</a:t>
            </a:r>
            <a:endParaRPr lang="en-US" sz="1400" dirty="0"/>
          </a:p>
        </p:txBody>
      </p:sp>
      <p:sp>
        <p:nvSpPr>
          <p:cNvPr id="9" name="chip_18"/>
          <p:cNvSpPr txBox="1"/>
          <p:nvPr/>
        </p:nvSpPr>
        <p:spPr>
          <a:xfrm>
            <a:off x="2807208" y="5257800"/>
            <a:ext cx="2057400" cy="685800"/>
          </a:xfrm>
          <a:prstGeom prst="roundRect">
            <a:avLst>
              <a:gd name="adj" fmla="val 13333"/>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Ridge &amp; lasso</a:t>
            </a:r>
            <a:endParaRPr lang="en-US" sz="1400" dirty="0"/>
          </a:p>
        </p:txBody>
      </p:sp>
      <p:sp>
        <p:nvSpPr>
          <p:cNvPr id="10" name="chip_19"/>
          <p:cNvSpPr txBox="1"/>
          <p:nvPr/>
        </p:nvSpPr>
        <p:spPr>
          <a:xfrm>
            <a:off x="5065776" y="5257800"/>
            <a:ext cx="2057400" cy="685800"/>
          </a:xfrm>
          <a:prstGeom prst="roundRect">
            <a:avLst>
              <a:gd name="adj" fmla="val 13333"/>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In practice</a:t>
            </a:r>
            <a:endParaRPr lang="en-US" sz="1400" dirty="0"/>
          </a:p>
        </p:txBody>
      </p:sp>
      <p:sp>
        <p:nvSpPr>
          <p:cNvPr id="11" name="chip_20"/>
          <p:cNvSpPr txBox="1"/>
          <p:nvPr/>
        </p:nvSpPr>
        <p:spPr>
          <a:xfrm>
            <a:off x="7324344" y="5257800"/>
            <a:ext cx="2057400" cy="685800"/>
          </a:xfrm>
          <a:prstGeom prst="roundRect">
            <a:avLst>
              <a:gd name="adj" fmla="val 13333"/>
            </a:avLst>
          </a:prstGeom>
          <a:solidFill>
            <a:schemeClr val="accent4"/>
          </a:solidFill>
          <a:ln/>
        </p:spPr>
        <p:txBody>
          <a:bodyPr wrap="square" lIns="50800" tIns="50800" rIns="50800" bIns="50800" rtlCol="0" anchor="ctr"/>
          <a:lstStyle/>
          <a:p>
            <a:pPr marL="0" indent="0" algn="ctr">
              <a:buNone/>
            </a:pPr>
            <a:r>
              <a:rPr lang="en-US" sz="1400" b="1" dirty="0">
                <a:solidFill>
                  <a:schemeClr val="bg1"/>
                </a:solidFill>
              </a:rPr>
              <a:t>Quick check</a:t>
            </a:r>
            <a:endParaRPr lang="en-US" sz="1400" dirty="0"/>
          </a:p>
        </p:txBody>
      </p:sp>
      <p:sp>
        <p:nvSpPr>
          <p:cNvPr id="12" name="chip_21"/>
          <p:cNvSpPr txBox="1"/>
          <p:nvPr/>
        </p:nvSpPr>
        <p:spPr>
          <a:xfrm>
            <a:off x="9582912" y="5257800"/>
            <a:ext cx="2057400" cy="685800"/>
          </a:xfrm>
          <a:prstGeom prst="roundRect">
            <a:avLst>
              <a:gd name="adj" fmla="val 13333"/>
            </a:avLst>
          </a:prstGeom>
          <a:solidFill>
            <a:schemeClr val="accent3"/>
          </a:solidFill>
          <a:ln/>
        </p:spPr>
        <p:txBody>
          <a:bodyPr wrap="square" lIns="50800" tIns="50800" rIns="50800" bIns="50800" rtlCol="0" anchor="ctr"/>
          <a:lstStyle/>
          <a:p>
            <a:pPr marL="0" indent="0" algn="ctr">
              <a:buNone/>
            </a:pPr>
            <a:r>
              <a:rPr lang="en-US" sz="1400" b="1" dirty="0">
                <a:solidFill>
                  <a:schemeClr val="bg1"/>
                </a:solidFill>
              </a:rPr>
              <a:t>Lab</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C6328E8A-9480-D92D-37D4-BE08A3A1AC65}"/>
              </a:ext>
            </a:extLst>
          </p:cNvPr>
          <p:cNvSpPr txBox="1">
            <a:spLocks/>
          </p:cNvSpPr>
          <p:nvPr/>
        </p:nvSpPr>
        <p:spPr>
          <a:xfrm>
            <a:off x="548640" y="2286000"/>
            <a:ext cx="9144000" cy="320040"/>
          </a:xfrm>
          <a:prstGeom prst="rect">
            <a:avLst/>
          </a:prstGeom>
          <a:noFill/>
          <a:ln/>
        </p:spPr>
        <p:txBody>
          <a:bodyPr wrap="square" lIns="0" tIns="0" rIns="0" bIns="0"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kern="0" spc="200">
                <a:solidFill>
                  <a:schemeClr val="accent2"/>
                </a:solidFill>
              </a:rPr>
              <a:t>PART 1</a:t>
            </a:r>
            <a:endParaRPr lang="en-US" sz="1600" dirty="0"/>
          </a:p>
        </p:txBody>
      </p:sp>
      <p:sp>
        <p:nvSpPr>
          <p:cNvPr id="3" name="Text 1">
            <a:extLst>
              <a:ext uri="{FF2B5EF4-FFF2-40B4-BE49-F238E27FC236}">
                <a16:creationId xmlns:a16="http://schemas.microsoft.com/office/drawing/2014/main" id="{215D53C6-9BC5-25B3-F35D-D2472AC57DFE}"/>
              </a:ext>
            </a:extLst>
          </p:cNvPr>
          <p:cNvSpPr txBox="1">
            <a:spLocks/>
          </p:cNvSpPr>
          <p:nvPr/>
        </p:nvSpPr>
        <p:spPr>
          <a:xfrm>
            <a:off x="548640" y="2697480"/>
            <a:ext cx="10515600" cy="914400"/>
          </a:xfrm>
          <a:prstGeom prst="rect">
            <a:avLst/>
          </a:prstGeom>
          <a:noFill/>
          <a:ln/>
        </p:spPr>
        <p:txBody>
          <a:bodyPr wrap="square" lIns="0" tIns="0" rIns="0" bIns="0" rtlCol="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solidFill>
                  <a:schemeClr val="bg1"/>
                </a:solidFill>
              </a:rPr>
              <a:t>Background: why models overfit</a:t>
            </a:r>
            <a:endParaRPr lang="en-US" sz="4000" dirty="0"/>
          </a:p>
        </p:txBody>
      </p:sp>
      <p:sp>
        <p:nvSpPr>
          <p:cNvPr id="4" name="txt_22">
            <a:extLst>
              <a:ext uri="{FF2B5EF4-FFF2-40B4-BE49-F238E27FC236}">
                <a16:creationId xmlns:a16="http://schemas.microsoft.com/office/drawing/2014/main" id="{216E0C26-EA76-1F1C-AE16-7D48E7C59690}"/>
              </a:ext>
            </a:extLst>
          </p:cNvPr>
          <p:cNvSpPr txBox="1"/>
          <p:nvPr/>
        </p:nvSpPr>
        <p:spPr>
          <a:xfrm>
            <a:off x="548640" y="3749040"/>
            <a:ext cx="10058400" cy="457200"/>
          </a:xfrm>
          <a:prstGeom prst="rect">
            <a:avLst/>
          </a:prstGeom>
          <a:noFill/>
          <a:ln/>
        </p:spPr>
        <p:txBody>
          <a:bodyPr wrap="square" lIns="0" tIns="0" rIns="0" bIns="0" rtlCol="0" anchor="t"/>
          <a:lstStyle/>
          <a:p>
            <a:pPr marL="0" indent="0">
              <a:buNone/>
            </a:pPr>
            <a:r>
              <a:rPr lang="en-US" sz="1800" dirty="0">
                <a:solidFill>
                  <a:schemeClr val="bg1"/>
                </a:solidFill>
              </a:rPr>
              <a:t>Linear regression, too many features, and the bias–variance tradeoff</a:t>
            </a:r>
            <a:endParaRPr lang="en-US" sz="1800" dirty="0"/>
          </a:p>
        </p:txBody>
      </p:sp>
    </p:spTree>
    <p:extLst>
      <p:ext uri="{BB962C8B-B14F-4D97-AF65-F5344CB8AC3E}">
        <p14:creationId xmlns:p14="http://schemas.microsoft.com/office/powerpoint/2010/main" val="113799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1 · BACKGROUND</a:t>
            </a:r>
            <a:endParaRPr lang="en-US" sz="1200" dirty="0"/>
          </a:p>
        </p:txBody>
      </p:sp>
      <p:sp>
        <p:nvSpPr>
          <p:cNvPr id="3" name="Text 0"/>
          <p:cNvSpPr>
            <a:spLocks noGrp="1"/>
          </p:cNvSpPr>
          <p:nvPr>
            <p:ph type="title" idx="101" hasCustomPrompt="1"/>
          </p:nvPr>
        </p:nvSpPr>
        <p:spPr>
          <a:xfrm>
            <a:off x="548640" y="794223"/>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Linear regression: a weighted sum of features</a:t>
            </a:r>
            <a:endParaRPr lang="en-US" sz="3000" dirty="0"/>
          </a:p>
        </p:txBody>
      </p:sp>
      <p:sp>
        <p:nvSpPr>
          <p:cNvPr id="4" name="formula_23"/>
          <p:cNvSpPr/>
          <p:nvPr/>
        </p:nvSpPr>
        <p:spPr>
          <a:xfrm>
            <a:off x="548640" y="1508760"/>
            <a:ext cx="5212080" cy="1097280"/>
          </a:xfrm>
          <a:prstGeom prst="roundRect">
            <a:avLst>
              <a:gd name="adj" fmla="val 6667"/>
            </a:avLst>
          </a:prstGeom>
          <a:solidFill>
            <a:schemeClr val="tx2">
              <a:lumMod val="90000"/>
              <a:lumOff val="10000"/>
            </a:schemeClr>
          </a:solidFill>
          <a:ln/>
        </p:spPr>
        <p:txBody>
          <a:bodyPr/>
          <a:lstStyle/>
          <a:p>
            <a:endParaRPr lang="en-US" dirty="0"/>
          </a:p>
        </p:txBody>
      </p:sp>
      <p:sp>
        <p:nvSpPr>
          <p:cNvPr id="5" name="txt_24"/>
          <p:cNvSpPr txBox="1"/>
          <p:nvPr/>
        </p:nvSpPr>
        <p:spPr>
          <a:xfrm>
            <a:off x="777240" y="1508760"/>
            <a:ext cx="4754880" cy="1097280"/>
          </a:xfrm>
          <a:prstGeom prst="rect">
            <a:avLst/>
          </a:prstGeom>
          <a:solidFill>
            <a:schemeClr val="tx2">
              <a:lumMod val="90000"/>
              <a:lumOff val="10000"/>
            </a:schemeClr>
          </a:solidFill>
          <a:ln/>
        </p:spPr>
        <p:txBody>
          <a:bodyPr wrap="square" lIns="0" tIns="0" rIns="0" bIns="0" rtlCol="0" anchor="ctr"/>
          <a:lstStyle/>
          <a:p>
            <a:pPr marL="0" indent="0">
              <a:buNone/>
            </a:pPr>
            <a:r>
              <a:rPr lang="en-US" sz="2000" b="1" dirty="0">
                <a:solidFill>
                  <a:schemeClr val="bg1"/>
                </a:solidFill>
              </a:rPr>
              <a:t>prediction = b + w₁·x₁ + w₂·x₂ + … + wₚ·xₚ</a:t>
            </a:r>
            <a:endParaRPr lang="en-US" sz="2000" dirty="0"/>
          </a:p>
        </p:txBody>
      </p:sp>
      <p:sp>
        <p:nvSpPr>
          <p:cNvPr id="6" name="Text 4"/>
          <p:cNvSpPr txBox="1"/>
          <p:nvPr/>
        </p:nvSpPr>
        <p:spPr>
          <a:xfrm>
            <a:off x="548640" y="2834640"/>
            <a:ext cx="5212080" cy="2377440"/>
          </a:xfrm>
          <a:prstGeom prst="rect">
            <a:avLst/>
          </a:prstGeom>
          <a:noFill/>
          <a:ln/>
        </p:spPr>
        <p:txBody>
          <a:bodyPr wrap="square" lIns="0" tIns="0" rIns="0" bIns="0" rtlCol="0" anchor="t"/>
          <a:lstStyle/>
          <a:p>
            <a:pPr marL="342900" indent="-342900">
              <a:spcAft>
                <a:spcPts val="800"/>
              </a:spcAft>
              <a:buSzPct val="100000"/>
              <a:buChar char="•"/>
            </a:pPr>
            <a:r>
              <a:rPr lang="en-US" dirty="0">
                <a:solidFill>
                  <a:schemeClr val="tx1"/>
                </a:solidFill>
              </a:rPr>
              <a:t>Each weight (coefficient) says how much the prediction changes when that feature goes up by 1, with the others held fixed.</a:t>
            </a:r>
            <a:endParaRPr lang="en-US" dirty="0"/>
          </a:p>
          <a:p>
            <a:pPr marL="342900" indent="-342900">
              <a:spcAft>
                <a:spcPts val="800"/>
              </a:spcAft>
              <a:buSzPct val="100000"/>
              <a:buChar char="•"/>
            </a:pPr>
            <a:r>
              <a:rPr lang="en-US" dirty="0">
                <a:solidFill>
                  <a:schemeClr val="tx1"/>
                </a:solidFill>
              </a:rPr>
              <a:t>Fitting means choosing the weights. Least squares picks the ones that make the squared training errors (residuals) as small as possible.</a:t>
            </a:r>
            <a:endParaRPr lang="en-US" dirty="0"/>
          </a:p>
        </p:txBody>
      </p:sp>
      <p:sp>
        <p:nvSpPr>
          <p:cNvPr id="7" name="plot_25"/>
          <p:cNvSpPr/>
          <p:nvPr/>
        </p:nvSpPr>
        <p:spPr>
          <a:xfrm>
            <a:off x="6583680" y="1737360"/>
            <a:ext cx="4846320" cy="2926080"/>
          </a:xfrm>
          <a:prstGeom prst="rect">
            <a:avLst/>
          </a:prstGeom>
          <a:solidFill>
            <a:schemeClr val="bg2"/>
          </a:solidFill>
          <a:ln/>
        </p:spPr>
        <p:txBody>
          <a:bodyPr/>
          <a:lstStyle/>
          <a:p>
            <a:endParaRPr lang="en-US"/>
          </a:p>
        </p:txBody>
      </p:sp>
      <p:sp>
        <p:nvSpPr>
          <p:cNvPr id="8" name="seg_26"/>
          <p:cNvSpPr/>
          <p:nvPr/>
        </p:nvSpPr>
        <p:spPr>
          <a:xfrm>
            <a:off x="7068312" y="3639312"/>
            <a:ext cx="0" cy="161115"/>
          </a:xfrm>
          <a:prstGeom prst="line">
            <a:avLst/>
          </a:prstGeom>
          <a:noFill/>
          <a:ln w="22225">
            <a:solidFill>
              <a:schemeClr val="accent2"/>
            </a:solidFill>
            <a:prstDash val="dash"/>
          </a:ln>
        </p:spPr>
        <p:txBody>
          <a:bodyPr/>
          <a:lstStyle/>
          <a:p>
            <a:endParaRPr lang="en-US"/>
          </a:p>
        </p:txBody>
      </p:sp>
      <p:sp>
        <p:nvSpPr>
          <p:cNvPr id="9" name="seg_27"/>
          <p:cNvSpPr/>
          <p:nvPr/>
        </p:nvSpPr>
        <p:spPr>
          <a:xfrm>
            <a:off x="7552944" y="3623778"/>
            <a:ext cx="0" cy="324398"/>
          </a:xfrm>
          <a:prstGeom prst="line">
            <a:avLst/>
          </a:prstGeom>
          <a:noFill/>
          <a:ln w="22225">
            <a:solidFill>
              <a:schemeClr val="accent2"/>
            </a:solidFill>
            <a:prstDash val="dash"/>
          </a:ln>
        </p:spPr>
        <p:txBody>
          <a:bodyPr/>
          <a:lstStyle/>
          <a:p>
            <a:endParaRPr lang="en-US"/>
          </a:p>
        </p:txBody>
      </p:sp>
      <p:sp>
        <p:nvSpPr>
          <p:cNvPr id="10" name="seg_28"/>
          <p:cNvSpPr/>
          <p:nvPr/>
        </p:nvSpPr>
        <p:spPr>
          <a:xfrm>
            <a:off x="8037576" y="3216656"/>
            <a:ext cx="0" cy="230474"/>
          </a:xfrm>
          <a:prstGeom prst="line">
            <a:avLst/>
          </a:prstGeom>
          <a:noFill/>
          <a:ln w="22225">
            <a:solidFill>
              <a:schemeClr val="accent2"/>
            </a:solidFill>
            <a:prstDash val="dash"/>
          </a:ln>
        </p:spPr>
        <p:txBody>
          <a:bodyPr/>
          <a:lstStyle/>
          <a:p>
            <a:endParaRPr lang="en-US"/>
          </a:p>
        </p:txBody>
      </p:sp>
      <p:sp>
        <p:nvSpPr>
          <p:cNvPr id="11" name="seg_29"/>
          <p:cNvSpPr/>
          <p:nvPr/>
        </p:nvSpPr>
        <p:spPr>
          <a:xfrm>
            <a:off x="8522208" y="3270481"/>
            <a:ext cx="0" cy="157503"/>
          </a:xfrm>
          <a:prstGeom prst="line">
            <a:avLst/>
          </a:prstGeom>
          <a:noFill/>
          <a:ln w="22225">
            <a:solidFill>
              <a:schemeClr val="accent2"/>
            </a:solidFill>
            <a:prstDash val="dash"/>
          </a:ln>
        </p:spPr>
        <p:txBody>
          <a:bodyPr/>
          <a:lstStyle/>
          <a:p>
            <a:endParaRPr lang="en-US"/>
          </a:p>
        </p:txBody>
      </p:sp>
      <p:sp>
        <p:nvSpPr>
          <p:cNvPr id="12" name="seg_30"/>
          <p:cNvSpPr/>
          <p:nvPr/>
        </p:nvSpPr>
        <p:spPr>
          <a:xfrm>
            <a:off x="9006840" y="2761488"/>
            <a:ext cx="0" cy="332345"/>
          </a:xfrm>
          <a:prstGeom prst="line">
            <a:avLst/>
          </a:prstGeom>
          <a:noFill/>
          <a:ln w="22225">
            <a:solidFill>
              <a:schemeClr val="accent2"/>
            </a:solidFill>
            <a:prstDash val="dash"/>
          </a:ln>
        </p:spPr>
        <p:txBody>
          <a:bodyPr/>
          <a:lstStyle/>
          <a:p>
            <a:endParaRPr lang="en-US"/>
          </a:p>
        </p:txBody>
      </p:sp>
      <p:sp>
        <p:nvSpPr>
          <p:cNvPr id="13" name="seg_31"/>
          <p:cNvSpPr/>
          <p:nvPr/>
        </p:nvSpPr>
        <p:spPr>
          <a:xfrm>
            <a:off x="9491472" y="2917184"/>
            <a:ext cx="0" cy="250704"/>
          </a:xfrm>
          <a:prstGeom prst="line">
            <a:avLst/>
          </a:prstGeom>
          <a:noFill/>
          <a:ln w="22225">
            <a:solidFill>
              <a:schemeClr val="accent2"/>
            </a:solidFill>
            <a:prstDash val="dash"/>
          </a:ln>
        </p:spPr>
        <p:txBody>
          <a:bodyPr/>
          <a:lstStyle/>
          <a:p>
            <a:endParaRPr lang="en-US"/>
          </a:p>
        </p:txBody>
      </p:sp>
      <p:sp>
        <p:nvSpPr>
          <p:cNvPr id="14" name="seg_32"/>
          <p:cNvSpPr/>
          <p:nvPr/>
        </p:nvSpPr>
        <p:spPr>
          <a:xfrm>
            <a:off x="9976104" y="2663952"/>
            <a:ext cx="0" cy="76584"/>
          </a:xfrm>
          <a:prstGeom prst="line">
            <a:avLst/>
          </a:prstGeom>
          <a:noFill/>
          <a:ln w="22225">
            <a:solidFill>
              <a:schemeClr val="accent2"/>
            </a:solidFill>
            <a:prstDash val="dash"/>
          </a:ln>
        </p:spPr>
        <p:txBody>
          <a:bodyPr/>
          <a:lstStyle/>
          <a:p>
            <a:endParaRPr lang="en-US"/>
          </a:p>
        </p:txBody>
      </p:sp>
      <p:sp>
        <p:nvSpPr>
          <p:cNvPr id="15" name="seg_33"/>
          <p:cNvSpPr/>
          <p:nvPr/>
        </p:nvSpPr>
        <p:spPr>
          <a:xfrm>
            <a:off x="10460736" y="2563887"/>
            <a:ext cx="0" cy="343905"/>
          </a:xfrm>
          <a:prstGeom prst="line">
            <a:avLst/>
          </a:prstGeom>
          <a:noFill/>
          <a:ln w="22225">
            <a:solidFill>
              <a:schemeClr val="accent2"/>
            </a:solidFill>
            <a:prstDash val="dash"/>
          </a:ln>
        </p:spPr>
        <p:txBody>
          <a:bodyPr/>
          <a:lstStyle/>
          <a:p>
            <a:endParaRPr lang="en-US"/>
          </a:p>
        </p:txBody>
      </p:sp>
      <p:sp>
        <p:nvSpPr>
          <p:cNvPr id="16" name="seg_34"/>
          <p:cNvSpPr/>
          <p:nvPr/>
        </p:nvSpPr>
        <p:spPr>
          <a:xfrm>
            <a:off x="10945368" y="2111248"/>
            <a:ext cx="0" cy="275991"/>
          </a:xfrm>
          <a:prstGeom prst="line">
            <a:avLst/>
          </a:prstGeom>
          <a:noFill/>
          <a:ln w="22225">
            <a:solidFill>
              <a:schemeClr val="accent2"/>
            </a:solidFill>
            <a:prstDash val="dash"/>
          </a:ln>
        </p:spPr>
        <p:txBody>
          <a:bodyPr/>
          <a:lstStyle/>
          <a:p>
            <a:endParaRPr lang="en-US"/>
          </a:p>
        </p:txBody>
      </p:sp>
      <p:sp>
        <p:nvSpPr>
          <p:cNvPr id="17" name="seg_35"/>
          <p:cNvSpPr/>
          <p:nvPr/>
        </p:nvSpPr>
        <p:spPr>
          <a:xfrm flipV="1">
            <a:off x="6729070" y="2263585"/>
            <a:ext cx="4555541" cy="1660496"/>
          </a:xfrm>
          <a:prstGeom prst="line">
            <a:avLst/>
          </a:prstGeom>
          <a:noFill/>
          <a:ln w="38100">
            <a:solidFill>
              <a:schemeClr val="accent1"/>
            </a:solidFill>
            <a:prstDash val="solid"/>
          </a:ln>
        </p:spPr>
        <p:txBody>
          <a:bodyPr/>
          <a:lstStyle/>
          <a:p>
            <a:endParaRPr lang="en-US"/>
          </a:p>
        </p:txBody>
      </p:sp>
      <p:sp>
        <p:nvSpPr>
          <p:cNvPr id="18" name="pt_36"/>
          <p:cNvSpPr/>
          <p:nvPr/>
        </p:nvSpPr>
        <p:spPr>
          <a:xfrm>
            <a:off x="6995160" y="3566160"/>
            <a:ext cx="146304" cy="146304"/>
          </a:xfrm>
          <a:prstGeom prst="ellipse">
            <a:avLst/>
          </a:prstGeom>
          <a:solidFill>
            <a:schemeClr val="tx1"/>
          </a:solidFill>
          <a:ln/>
        </p:spPr>
        <p:txBody>
          <a:bodyPr/>
          <a:lstStyle/>
          <a:p>
            <a:endParaRPr lang="en-US"/>
          </a:p>
        </p:txBody>
      </p:sp>
      <p:sp>
        <p:nvSpPr>
          <p:cNvPr id="19" name="pt_37"/>
          <p:cNvSpPr/>
          <p:nvPr/>
        </p:nvSpPr>
        <p:spPr>
          <a:xfrm>
            <a:off x="7479792" y="3875024"/>
            <a:ext cx="146304" cy="146304"/>
          </a:xfrm>
          <a:prstGeom prst="ellipse">
            <a:avLst/>
          </a:prstGeom>
          <a:solidFill>
            <a:schemeClr val="tx1"/>
          </a:solidFill>
          <a:ln/>
        </p:spPr>
        <p:txBody>
          <a:bodyPr/>
          <a:lstStyle/>
          <a:p>
            <a:endParaRPr lang="en-US"/>
          </a:p>
        </p:txBody>
      </p:sp>
      <p:sp>
        <p:nvSpPr>
          <p:cNvPr id="20" name="pt_38"/>
          <p:cNvSpPr/>
          <p:nvPr/>
        </p:nvSpPr>
        <p:spPr>
          <a:xfrm>
            <a:off x="7964424" y="3143504"/>
            <a:ext cx="146304" cy="146304"/>
          </a:xfrm>
          <a:prstGeom prst="ellipse">
            <a:avLst/>
          </a:prstGeom>
          <a:solidFill>
            <a:schemeClr val="tx1"/>
          </a:solidFill>
          <a:ln/>
        </p:spPr>
        <p:txBody>
          <a:bodyPr/>
          <a:lstStyle/>
          <a:p>
            <a:endParaRPr lang="en-US"/>
          </a:p>
        </p:txBody>
      </p:sp>
      <p:sp>
        <p:nvSpPr>
          <p:cNvPr id="21" name="pt_39"/>
          <p:cNvSpPr/>
          <p:nvPr/>
        </p:nvSpPr>
        <p:spPr>
          <a:xfrm>
            <a:off x="8449056" y="3354832"/>
            <a:ext cx="146304" cy="146304"/>
          </a:xfrm>
          <a:prstGeom prst="ellipse">
            <a:avLst/>
          </a:prstGeom>
          <a:solidFill>
            <a:schemeClr val="tx1"/>
          </a:solidFill>
          <a:ln/>
        </p:spPr>
        <p:txBody>
          <a:bodyPr/>
          <a:lstStyle/>
          <a:p>
            <a:endParaRPr lang="en-US"/>
          </a:p>
        </p:txBody>
      </p:sp>
      <p:sp>
        <p:nvSpPr>
          <p:cNvPr id="22" name="pt_40"/>
          <p:cNvSpPr/>
          <p:nvPr/>
        </p:nvSpPr>
        <p:spPr>
          <a:xfrm>
            <a:off x="8933688" y="2688336"/>
            <a:ext cx="146304" cy="146304"/>
          </a:xfrm>
          <a:prstGeom prst="ellipse">
            <a:avLst/>
          </a:prstGeom>
          <a:solidFill>
            <a:schemeClr val="tx1"/>
          </a:solidFill>
          <a:ln/>
        </p:spPr>
        <p:txBody>
          <a:bodyPr/>
          <a:lstStyle/>
          <a:p>
            <a:endParaRPr lang="en-US"/>
          </a:p>
        </p:txBody>
      </p:sp>
      <p:sp>
        <p:nvSpPr>
          <p:cNvPr id="23" name="pt_41"/>
          <p:cNvSpPr/>
          <p:nvPr/>
        </p:nvSpPr>
        <p:spPr>
          <a:xfrm>
            <a:off x="9418320" y="3094736"/>
            <a:ext cx="146304" cy="146304"/>
          </a:xfrm>
          <a:prstGeom prst="ellipse">
            <a:avLst/>
          </a:prstGeom>
          <a:solidFill>
            <a:schemeClr val="tx1"/>
          </a:solidFill>
          <a:ln/>
        </p:spPr>
        <p:txBody>
          <a:bodyPr/>
          <a:lstStyle/>
          <a:p>
            <a:endParaRPr lang="en-US"/>
          </a:p>
        </p:txBody>
      </p:sp>
      <p:sp>
        <p:nvSpPr>
          <p:cNvPr id="24" name="pt_42"/>
          <p:cNvSpPr/>
          <p:nvPr/>
        </p:nvSpPr>
        <p:spPr>
          <a:xfrm>
            <a:off x="9902952" y="2590800"/>
            <a:ext cx="146304" cy="146304"/>
          </a:xfrm>
          <a:prstGeom prst="ellipse">
            <a:avLst/>
          </a:prstGeom>
          <a:solidFill>
            <a:schemeClr val="tx1"/>
          </a:solidFill>
          <a:ln/>
        </p:spPr>
        <p:txBody>
          <a:bodyPr/>
          <a:lstStyle/>
          <a:p>
            <a:endParaRPr lang="en-US"/>
          </a:p>
        </p:txBody>
      </p:sp>
      <p:sp>
        <p:nvSpPr>
          <p:cNvPr id="25" name="pt_43"/>
          <p:cNvSpPr/>
          <p:nvPr/>
        </p:nvSpPr>
        <p:spPr>
          <a:xfrm>
            <a:off x="10387584" y="2834640"/>
            <a:ext cx="146304" cy="146304"/>
          </a:xfrm>
          <a:prstGeom prst="ellipse">
            <a:avLst/>
          </a:prstGeom>
          <a:solidFill>
            <a:schemeClr val="tx1"/>
          </a:solidFill>
          <a:ln/>
        </p:spPr>
        <p:txBody>
          <a:bodyPr/>
          <a:lstStyle/>
          <a:p>
            <a:endParaRPr lang="en-US"/>
          </a:p>
        </p:txBody>
      </p:sp>
      <p:sp>
        <p:nvSpPr>
          <p:cNvPr id="26" name="pt_44"/>
          <p:cNvSpPr/>
          <p:nvPr/>
        </p:nvSpPr>
        <p:spPr>
          <a:xfrm>
            <a:off x="10872216" y="2038096"/>
            <a:ext cx="146304" cy="146304"/>
          </a:xfrm>
          <a:prstGeom prst="ellipse">
            <a:avLst/>
          </a:prstGeom>
          <a:solidFill>
            <a:schemeClr val="tx1"/>
          </a:solidFill>
          <a:ln/>
        </p:spPr>
        <p:txBody>
          <a:bodyPr/>
          <a:lstStyle/>
          <a:p>
            <a:endParaRPr lang="en-US"/>
          </a:p>
        </p:txBody>
      </p:sp>
      <p:sp>
        <p:nvSpPr>
          <p:cNvPr id="28" name="txt_46"/>
          <p:cNvSpPr txBox="1"/>
          <p:nvPr/>
        </p:nvSpPr>
        <p:spPr>
          <a:xfrm>
            <a:off x="6551676" y="4686086"/>
            <a:ext cx="5056632" cy="457200"/>
          </a:xfrm>
          <a:prstGeom prst="rect">
            <a:avLst/>
          </a:prstGeom>
          <a:noFill/>
          <a:ln/>
        </p:spPr>
        <p:txBody>
          <a:bodyPr wrap="square" lIns="0" tIns="0" rIns="0" bIns="0" rtlCol="0" anchor="t"/>
          <a:lstStyle/>
          <a:p>
            <a:pPr marL="0" indent="0" algn="l">
              <a:buNone/>
            </a:pPr>
            <a:r>
              <a:rPr lang="en-US" sz="1200" dirty="0">
                <a:solidFill>
                  <a:schemeClr val="tx2"/>
                </a:solidFill>
              </a:rPr>
              <a:t>Dots: training data   Teal line: fitted model   Orange dashes: residuals (errors)</a:t>
            </a:r>
            <a:endParaRPr lang="en-US" sz="1200" dirty="0"/>
          </a:p>
        </p:txBody>
      </p:sp>
      <p:sp>
        <p:nvSpPr>
          <p:cNvPr id="29" name="callout_47"/>
          <p:cNvSpPr txBox="1"/>
          <p:nvPr/>
        </p:nvSpPr>
        <p:spPr>
          <a:xfrm>
            <a:off x="266700" y="5234495"/>
            <a:ext cx="11373612" cy="1226832"/>
          </a:xfrm>
          <a:prstGeom prst="roundRect">
            <a:avLst>
              <a:gd name="adj" fmla="val 11429"/>
            </a:avLst>
          </a:prstGeom>
          <a:solidFill>
            <a:schemeClr val="accent3"/>
          </a:solidFill>
          <a:ln/>
        </p:spPr>
        <p:txBody>
          <a:bodyPr wrap="square" lIns="127000" tIns="127000" rIns="127000" bIns="127000" rtlCol="0" anchor="ctr"/>
          <a:lstStyle/>
          <a:p>
            <a:r>
              <a:rPr lang="en-US" sz="2000" dirty="0">
                <a:solidFill>
                  <a:schemeClr val="bg1"/>
                </a:solidFill>
              </a:rPr>
              <a:t>Ordinary least squares tries to minimize training error, without penalizing model complexity. As a result, it may fit the training data too closely, including random noise, leading to overfitting and poor predictions on new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1 · BACKGROUND</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With many features, least squares overfits</a:t>
            </a:r>
            <a:endParaRPr lang="en-US" sz="3000" dirty="0"/>
          </a:p>
        </p:txBody>
      </p:sp>
      <p:graphicFrame>
        <p:nvGraphicFramePr>
          <p:cNvPr id="4" name="Chart 0"/>
          <p:cNvGraphicFramePr/>
          <p:nvPr/>
        </p:nvGraphicFramePr>
        <p:xfrm>
          <a:off x="548640" y="1463040"/>
          <a:ext cx="685800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_48"/>
          <p:cNvSpPr/>
          <p:nvPr/>
        </p:nvSpPr>
        <p:spPr>
          <a:xfrm>
            <a:off x="7680960" y="1508760"/>
            <a:ext cx="3959352" cy="4023360"/>
          </a:xfrm>
          <a:prstGeom prst="roundRect">
            <a:avLst>
              <a:gd name="adj" fmla="val 1848"/>
            </a:avLst>
          </a:prstGeom>
          <a:solidFill>
            <a:schemeClr val="bg2"/>
          </a:solidFill>
          <a:ln/>
        </p:spPr>
        <p:txBody>
          <a:bodyPr/>
          <a:lstStyle/>
          <a:p>
            <a:endParaRPr lang="en-US"/>
          </a:p>
        </p:txBody>
      </p:sp>
      <p:sp>
        <p:nvSpPr>
          <p:cNvPr id="6" name="cardtext_49"/>
          <p:cNvSpPr txBox="1"/>
          <p:nvPr/>
        </p:nvSpPr>
        <p:spPr>
          <a:xfrm>
            <a:off x="7406640" y="1092200"/>
            <a:ext cx="4645660" cy="4311904"/>
          </a:xfrm>
          <a:prstGeom prst="rect">
            <a:avLst/>
          </a:prstGeom>
          <a:noFill/>
          <a:ln/>
        </p:spPr>
        <p:txBody>
          <a:bodyPr wrap="square" lIns="0" tIns="0" rIns="0" bIns="0" rtlCol="0" anchor="t"/>
          <a:lstStyle/>
          <a:p>
            <a:pPr marL="0" indent="0">
              <a:spcAft>
                <a:spcPts val="400"/>
              </a:spcAft>
              <a:buNone/>
            </a:pPr>
            <a:r>
              <a:rPr lang="en-US" b="1" dirty="0">
                <a:solidFill>
                  <a:schemeClr val="tx1"/>
                </a:solidFill>
              </a:rPr>
              <a:t>What the simulation shows</a:t>
            </a:r>
            <a:endParaRPr lang="en-US" dirty="0"/>
          </a:p>
          <a:p>
            <a:pPr marL="342900" indent="-342900">
              <a:spcAft>
                <a:spcPts val="400"/>
              </a:spcAft>
              <a:buSzPct val="100000"/>
              <a:buChar char="•"/>
            </a:pPr>
            <a:r>
              <a:rPr lang="en-US" sz="1600" dirty="0">
                <a:solidFill>
                  <a:schemeClr val="tx1"/>
                </a:solidFill>
              </a:rPr>
              <a:t>Training error keeps falling toward 0 as features are added</a:t>
            </a:r>
            <a:r>
              <a:rPr lang="en-US" sz="1600" dirty="0"/>
              <a:t>, because each additional feature gives the model more coefficients to adjust, making it more flexible.</a:t>
            </a:r>
          </a:p>
          <a:p>
            <a:pPr marL="342900" indent="-342900">
              <a:spcAft>
                <a:spcPts val="400"/>
              </a:spcAft>
              <a:buSzPct val="100000"/>
              <a:buChar char="•"/>
            </a:pPr>
            <a:r>
              <a:rPr lang="en-US" sz="1600" dirty="0"/>
              <a:t>With more coefficients, the model has more freedom to fit the training observations, including random noise. Adding useful features helps the model capture real relationships and make better predictions.</a:t>
            </a:r>
          </a:p>
          <a:p>
            <a:pPr marL="342900" indent="-342900">
              <a:spcAft>
                <a:spcPts val="400"/>
              </a:spcAft>
              <a:buSzPct val="100000"/>
              <a:buChar char="•"/>
            </a:pPr>
            <a:r>
              <a:rPr lang="en-US" sz="1600" dirty="0"/>
              <a:t>Adding unnecessary features allows the model to fit random noise rather than meaningful patterns. This is overfitting.</a:t>
            </a:r>
          </a:p>
          <a:p>
            <a:pPr marL="342900" indent="-342900">
              <a:spcAft>
                <a:spcPts val="400"/>
              </a:spcAft>
              <a:buSzPct val="100000"/>
              <a:buChar char="•"/>
            </a:pPr>
            <a:r>
              <a:rPr lang="en-US" sz="1600" dirty="0"/>
              <a:t>When the number of features approaches the number of observations: The model may fit the training data almost perfectly, but its coefficients can become extremely unstable, leading to very poor predictions on new data.</a:t>
            </a:r>
          </a:p>
        </p:txBody>
      </p:sp>
      <p:sp>
        <p:nvSpPr>
          <p:cNvPr id="7" name="callout_50"/>
          <p:cNvSpPr txBox="1"/>
          <p:nvPr/>
        </p:nvSpPr>
        <p:spPr>
          <a:xfrm>
            <a:off x="338328" y="5964428"/>
            <a:ext cx="11091672" cy="594360"/>
          </a:xfrm>
          <a:prstGeom prst="roundRect">
            <a:avLst>
              <a:gd name="adj" fmla="val 12308"/>
            </a:avLst>
          </a:prstGeom>
          <a:solidFill>
            <a:schemeClr val="accent3"/>
          </a:solidFill>
          <a:ln/>
        </p:spPr>
        <p:txBody>
          <a:bodyPr wrap="square" lIns="127000" tIns="127000" rIns="127000" bIns="127000" rtlCol="0" anchor="ctr"/>
          <a:lstStyle/>
          <a:p>
            <a:pPr marL="0" indent="0" algn="l">
              <a:buNone/>
            </a:pPr>
            <a:r>
              <a:rPr lang="en-US" sz="2000" b="1" dirty="0">
                <a:solidFill>
                  <a:schemeClr val="bg1"/>
                </a:solidFill>
              </a:rPr>
              <a:t>What do we want? keep all the features but stop the weights from getting wild.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1 · BACKGROUND</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Bias and variance: two ways a model can be wrong</a:t>
            </a:r>
            <a:endParaRPr lang="en-US" sz="3000" dirty="0"/>
          </a:p>
        </p:txBody>
      </p:sp>
      <p:graphicFrame>
        <p:nvGraphicFramePr>
          <p:cNvPr id="4" name="Chart 0"/>
          <p:cNvGraphicFramePr/>
          <p:nvPr/>
        </p:nvGraphicFramePr>
        <p:xfrm>
          <a:off x="548640" y="1463040"/>
          <a:ext cx="65836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_51"/>
          <p:cNvSpPr/>
          <p:nvPr/>
        </p:nvSpPr>
        <p:spPr>
          <a:xfrm>
            <a:off x="7406640" y="1508760"/>
            <a:ext cx="4233672" cy="1325880"/>
          </a:xfrm>
          <a:prstGeom prst="roundRect">
            <a:avLst>
              <a:gd name="adj" fmla="val 5517"/>
            </a:avLst>
          </a:prstGeom>
          <a:solidFill>
            <a:schemeClr val="bg2"/>
          </a:solidFill>
          <a:ln/>
        </p:spPr>
        <p:txBody>
          <a:bodyPr/>
          <a:lstStyle/>
          <a:p>
            <a:endParaRPr lang="en-US"/>
          </a:p>
        </p:txBody>
      </p:sp>
      <p:sp>
        <p:nvSpPr>
          <p:cNvPr id="6" name="cardtext_52"/>
          <p:cNvSpPr txBox="1"/>
          <p:nvPr/>
        </p:nvSpPr>
        <p:spPr>
          <a:xfrm>
            <a:off x="7589520" y="1636776"/>
            <a:ext cx="3867912" cy="1069848"/>
          </a:xfrm>
          <a:prstGeom prst="rect">
            <a:avLst/>
          </a:prstGeom>
          <a:noFill/>
          <a:ln/>
        </p:spPr>
        <p:txBody>
          <a:bodyPr wrap="square" lIns="0" tIns="0" rIns="0" bIns="0" rtlCol="0" anchor="t"/>
          <a:lstStyle/>
          <a:p>
            <a:pPr>
              <a:spcAft>
                <a:spcPts val="400"/>
              </a:spcAft>
            </a:pPr>
            <a:r>
              <a:rPr lang="en-US" b="1" dirty="0"/>
              <a:t>Bias</a:t>
            </a:r>
            <a:r>
              <a:rPr lang="en-US" dirty="0"/>
              <a:t> is the systematic error that occurs when a model is too simple to capture the true relationship in the data. (underfitting)</a:t>
            </a:r>
            <a:endParaRPr lang="en-US" sz="1800" dirty="0"/>
          </a:p>
        </p:txBody>
      </p:sp>
      <p:sp>
        <p:nvSpPr>
          <p:cNvPr id="7" name="card_53"/>
          <p:cNvSpPr/>
          <p:nvPr/>
        </p:nvSpPr>
        <p:spPr>
          <a:xfrm>
            <a:off x="7406640" y="2971800"/>
            <a:ext cx="4233672" cy="1325880"/>
          </a:xfrm>
          <a:prstGeom prst="roundRect">
            <a:avLst>
              <a:gd name="adj" fmla="val 5517"/>
            </a:avLst>
          </a:prstGeom>
          <a:solidFill>
            <a:schemeClr val="bg2"/>
          </a:solidFill>
          <a:ln/>
        </p:spPr>
        <p:txBody>
          <a:bodyPr/>
          <a:lstStyle/>
          <a:p>
            <a:endParaRPr lang="en-US"/>
          </a:p>
        </p:txBody>
      </p:sp>
      <p:sp>
        <p:nvSpPr>
          <p:cNvPr id="8" name="cardtext_54"/>
          <p:cNvSpPr txBox="1"/>
          <p:nvPr/>
        </p:nvSpPr>
        <p:spPr>
          <a:xfrm>
            <a:off x="7589520" y="3099816"/>
            <a:ext cx="3867912" cy="1069848"/>
          </a:xfrm>
          <a:prstGeom prst="rect">
            <a:avLst/>
          </a:prstGeom>
          <a:noFill/>
          <a:ln/>
        </p:spPr>
        <p:txBody>
          <a:bodyPr wrap="square" lIns="0" tIns="0" rIns="0" bIns="0" rtlCol="0" anchor="t"/>
          <a:lstStyle/>
          <a:p>
            <a:pPr>
              <a:spcAft>
                <a:spcPts val="400"/>
              </a:spcAft>
            </a:pPr>
            <a:r>
              <a:rPr lang="en-US" b="1" dirty="0"/>
              <a:t>Variance </a:t>
            </a:r>
            <a:r>
              <a:rPr lang="en-US" dirty="0"/>
              <a:t>measures how much a model's predictions would change if we trained it using a different sample of data. (overfitting)</a:t>
            </a:r>
            <a:endParaRPr lang="en-US" sz="1800" dirty="0"/>
          </a:p>
        </p:txBody>
      </p:sp>
      <p:sp>
        <p:nvSpPr>
          <p:cNvPr id="9" name="card_55"/>
          <p:cNvSpPr/>
          <p:nvPr/>
        </p:nvSpPr>
        <p:spPr>
          <a:xfrm>
            <a:off x="7406640" y="4434840"/>
            <a:ext cx="4233672" cy="960120"/>
          </a:xfrm>
          <a:prstGeom prst="roundRect">
            <a:avLst>
              <a:gd name="adj" fmla="val 7619"/>
            </a:avLst>
          </a:prstGeom>
          <a:solidFill>
            <a:schemeClr val="bg2"/>
          </a:solidFill>
          <a:ln/>
        </p:spPr>
        <p:txBody>
          <a:bodyPr/>
          <a:lstStyle/>
          <a:p>
            <a:endParaRPr lang="en-US"/>
          </a:p>
        </p:txBody>
      </p:sp>
      <p:sp>
        <p:nvSpPr>
          <p:cNvPr id="10" name="cardtext_56"/>
          <p:cNvSpPr txBox="1"/>
          <p:nvPr/>
        </p:nvSpPr>
        <p:spPr>
          <a:xfrm>
            <a:off x="7589520" y="4562856"/>
            <a:ext cx="3867912" cy="704088"/>
          </a:xfrm>
          <a:prstGeom prst="rect">
            <a:avLst/>
          </a:prstGeom>
          <a:noFill/>
          <a:ln/>
        </p:spPr>
        <p:txBody>
          <a:bodyPr wrap="square" lIns="0" tIns="0" rIns="0" bIns="0" rtlCol="0" anchor="t"/>
          <a:lstStyle/>
          <a:p>
            <a:pPr marL="0" indent="0">
              <a:spcAft>
                <a:spcPts val="400"/>
              </a:spcAft>
              <a:buNone/>
            </a:pPr>
            <a:r>
              <a:rPr lang="en-US" sz="2000" b="1" dirty="0">
                <a:solidFill>
                  <a:schemeClr val="tx1"/>
                </a:solidFill>
              </a:rPr>
              <a:t>Noise</a:t>
            </a:r>
            <a:endParaRPr lang="en-US" sz="2000" dirty="0"/>
          </a:p>
          <a:p>
            <a:pPr marL="0" indent="0">
              <a:spcAft>
                <a:spcPts val="400"/>
              </a:spcAft>
              <a:buNone/>
            </a:pPr>
            <a:r>
              <a:rPr lang="en-US" dirty="0">
                <a:solidFill>
                  <a:schemeClr val="tx1"/>
                </a:solidFill>
              </a:rPr>
              <a:t>Randomness we can never predict.</a:t>
            </a:r>
            <a:endParaRPr lang="en-US" sz="2000" dirty="0"/>
          </a:p>
        </p:txBody>
      </p:sp>
      <p:sp>
        <p:nvSpPr>
          <p:cNvPr id="11" name="callout_57"/>
          <p:cNvSpPr txBox="1"/>
          <p:nvPr/>
        </p:nvSpPr>
        <p:spPr>
          <a:xfrm>
            <a:off x="548640" y="5577840"/>
            <a:ext cx="11091672" cy="640080"/>
          </a:xfrm>
          <a:prstGeom prst="roundRect">
            <a:avLst>
              <a:gd name="adj" fmla="val 11429"/>
            </a:avLst>
          </a:prstGeom>
          <a:solidFill>
            <a:schemeClr val="accent3"/>
          </a:solidFill>
          <a:ln/>
        </p:spPr>
        <p:txBody>
          <a:bodyPr wrap="square" lIns="127000" tIns="127000" rIns="127000" bIns="127000" rtlCol="0" anchor="ctr"/>
          <a:lstStyle/>
          <a:p>
            <a:pPr marL="0" indent="0" algn="l">
              <a:buNone/>
            </a:pPr>
            <a:r>
              <a:rPr lang="en-US" sz="2000" b="1" dirty="0">
                <a:solidFill>
                  <a:schemeClr val="bg1"/>
                </a:solidFill>
              </a:rPr>
              <a:t>Test error ≈ bias² + variance + noise. We trade bias against variance.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1 · BACKGROUND</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Bias–variance in models you already know</a:t>
            </a:r>
            <a:endParaRPr lang="en-US" sz="3000" dirty="0"/>
          </a:p>
        </p:txBody>
      </p:sp>
      <p:sp>
        <p:nvSpPr>
          <p:cNvPr id="4" name="chip_58"/>
          <p:cNvSpPr txBox="1"/>
          <p:nvPr/>
        </p:nvSpPr>
        <p:spPr>
          <a:xfrm>
            <a:off x="548640" y="1554480"/>
            <a:ext cx="3108960" cy="594360"/>
          </a:xfrm>
          <a:prstGeom prst="roundRect">
            <a:avLst>
              <a:gd name="adj" fmla="val 15385"/>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KNN with large k</a:t>
            </a:r>
            <a:endParaRPr lang="en-US" sz="1400" dirty="0"/>
          </a:p>
        </p:txBody>
      </p:sp>
      <p:sp>
        <p:nvSpPr>
          <p:cNvPr id="5" name="chip_59"/>
          <p:cNvSpPr txBox="1"/>
          <p:nvPr/>
        </p:nvSpPr>
        <p:spPr>
          <a:xfrm>
            <a:off x="4544568" y="1554480"/>
            <a:ext cx="3108960" cy="594360"/>
          </a:xfrm>
          <a:prstGeom prst="roundRect">
            <a:avLst>
              <a:gd name="adj" fmla="val 15385"/>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KNN with moderate k</a:t>
            </a:r>
            <a:endParaRPr lang="en-US" sz="1400" dirty="0"/>
          </a:p>
        </p:txBody>
      </p:sp>
      <p:sp>
        <p:nvSpPr>
          <p:cNvPr id="6" name="chip_60"/>
          <p:cNvSpPr txBox="1"/>
          <p:nvPr/>
        </p:nvSpPr>
        <p:spPr>
          <a:xfrm>
            <a:off x="8531352" y="1554480"/>
            <a:ext cx="3108960" cy="594360"/>
          </a:xfrm>
          <a:prstGeom prst="roundRect">
            <a:avLst>
              <a:gd name="adj" fmla="val 15385"/>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KNN with k = 1</a:t>
            </a:r>
            <a:endParaRPr lang="en-US" sz="1400" dirty="0"/>
          </a:p>
        </p:txBody>
      </p:sp>
      <p:sp>
        <p:nvSpPr>
          <p:cNvPr id="7" name="arrow_61"/>
          <p:cNvSpPr txBox="1"/>
          <p:nvPr/>
        </p:nvSpPr>
        <p:spPr>
          <a:xfrm>
            <a:off x="548640" y="2331720"/>
            <a:ext cx="11091672" cy="457200"/>
          </a:xfrm>
          <a:prstGeom prst="rightArrow">
            <a:avLst/>
          </a:prstGeom>
          <a:solidFill>
            <a:schemeClr val="accent5"/>
          </a:solidFill>
          <a:ln/>
        </p:spPr>
        <p:txBody>
          <a:bodyPr wrap="square" lIns="0" tIns="0" rIns="0" bIns="0" rtlCol="0" anchor="ctr"/>
          <a:lstStyle/>
          <a:p>
            <a:pPr marL="0" indent="0" algn="ctr">
              <a:buNone/>
            </a:pPr>
            <a:r>
              <a:rPr lang="en-US" sz="1400" b="1" dirty="0">
                <a:solidFill>
                  <a:schemeClr val="tx1"/>
                </a:solidFill>
              </a:rPr>
              <a:t>Model flexibility</a:t>
            </a:r>
            <a:endParaRPr lang="en-US" sz="1400" dirty="0"/>
          </a:p>
        </p:txBody>
      </p:sp>
      <p:sp>
        <p:nvSpPr>
          <p:cNvPr id="8" name="chip_62"/>
          <p:cNvSpPr txBox="1"/>
          <p:nvPr/>
        </p:nvSpPr>
        <p:spPr>
          <a:xfrm>
            <a:off x="548640" y="2971800"/>
            <a:ext cx="3108960" cy="594360"/>
          </a:xfrm>
          <a:prstGeom prst="roundRect">
            <a:avLst>
              <a:gd name="adj" fmla="val 15385"/>
            </a:avLst>
          </a:prstGeom>
          <a:solidFill>
            <a:schemeClr val="accent2"/>
          </a:solidFill>
          <a:ln/>
        </p:spPr>
        <p:txBody>
          <a:bodyPr wrap="square" lIns="50800" tIns="50800" rIns="50800" bIns="50800" rtlCol="0" anchor="ctr"/>
          <a:lstStyle/>
          <a:p>
            <a:pPr marL="0" indent="0" algn="ctr">
              <a:buNone/>
            </a:pPr>
            <a:r>
              <a:rPr lang="en-US" sz="1400" b="1" dirty="0">
                <a:solidFill>
                  <a:schemeClr val="tx1"/>
                </a:solidFill>
              </a:rPr>
              <a:t>Few features</a:t>
            </a:r>
            <a:endParaRPr lang="en-US" sz="1400" dirty="0"/>
          </a:p>
        </p:txBody>
      </p:sp>
      <p:sp>
        <p:nvSpPr>
          <p:cNvPr id="9" name="chip_63"/>
          <p:cNvSpPr txBox="1"/>
          <p:nvPr/>
        </p:nvSpPr>
        <p:spPr>
          <a:xfrm>
            <a:off x="4544568" y="2971800"/>
            <a:ext cx="3108960" cy="594360"/>
          </a:xfrm>
          <a:prstGeom prst="roundRect">
            <a:avLst>
              <a:gd name="adj" fmla="val 15385"/>
            </a:avLst>
          </a:prstGeom>
          <a:solidFill>
            <a:schemeClr val="accent2"/>
          </a:solidFill>
          <a:ln/>
        </p:spPr>
        <p:txBody>
          <a:bodyPr wrap="square" lIns="50800" tIns="50800" rIns="50800" bIns="50800" rtlCol="0" anchor="ctr"/>
          <a:lstStyle/>
          <a:p>
            <a:pPr marL="0" indent="0" algn="ctr">
              <a:buNone/>
            </a:pPr>
            <a:r>
              <a:rPr lang="en-US" sz="1400" b="1" dirty="0">
                <a:solidFill>
                  <a:schemeClr val="tx1"/>
                </a:solidFill>
              </a:rPr>
              <a:t>A moderate number of features</a:t>
            </a:r>
            <a:endParaRPr lang="en-US" sz="1400" dirty="0"/>
          </a:p>
        </p:txBody>
      </p:sp>
      <p:sp>
        <p:nvSpPr>
          <p:cNvPr id="10" name="chip_64"/>
          <p:cNvSpPr txBox="1"/>
          <p:nvPr/>
        </p:nvSpPr>
        <p:spPr>
          <a:xfrm>
            <a:off x="8531352" y="2971800"/>
            <a:ext cx="3108960" cy="594360"/>
          </a:xfrm>
          <a:prstGeom prst="roundRect">
            <a:avLst>
              <a:gd name="adj" fmla="val 15385"/>
            </a:avLst>
          </a:prstGeom>
          <a:solidFill>
            <a:schemeClr val="accent2"/>
          </a:solidFill>
          <a:ln/>
        </p:spPr>
        <p:txBody>
          <a:bodyPr wrap="square" lIns="50800" tIns="50800" rIns="50800" bIns="50800" rtlCol="0" anchor="ctr"/>
          <a:lstStyle/>
          <a:p>
            <a:pPr marL="0" indent="0" algn="ctr">
              <a:buNone/>
            </a:pPr>
            <a:r>
              <a:rPr lang="en-US" sz="1400" b="1" dirty="0">
                <a:solidFill>
                  <a:schemeClr val="tx1"/>
                </a:solidFill>
              </a:rPr>
              <a:t>Many features, high-degree polynomials</a:t>
            </a:r>
            <a:endParaRPr lang="en-US" sz="1400" dirty="0"/>
          </a:p>
        </p:txBody>
      </p:sp>
      <p:sp>
        <p:nvSpPr>
          <p:cNvPr id="11" name="card_65"/>
          <p:cNvSpPr/>
          <p:nvPr/>
        </p:nvSpPr>
        <p:spPr>
          <a:xfrm>
            <a:off x="548640" y="3886200"/>
            <a:ext cx="5440680" cy="1371600"/>
          </a:xfrm>
          <a:prstGeom prst="roundRect">
            <a:avLst>
              <a:gd name="adj" fmla="val 5333"/>
            </a:avLst>
          </a:prstGeom>
          <a:solidFill>
            <a:schemeClr val="bg2"/>
          </a:solidFill>
          <a:ln/>
        </p:spPr>
        <p:txBody>
          <a:bodyPr/>
          <a:lstStyle/>
          <a:p>
            <a:endParaRPr lang="en-US"/>
          </a:p>
        </p:txBody>
      </p:sp>
      <p:sp>
        <p:nvSpPr>
          <p:cNvPr id="12" name="cardtext_66"/>
          <p:cNvSpPr txBox="1"/>
          <p:nvPr/>
        </p:nvSpPr>
        <p:spPr>
          <a:xfrm>
            <a:off x="731520" y="4014216"/>
            <a:ext cx="5074920" cy="111556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Too rigid: high bias, low variance</a:t>
            </a:r>
            <a:endParaRPr lang="en-US" sz="1800" dirty="0"/>
          </a:p>
          <a:p>
            <a:pPr marL="0" indent="0">
              <a:spcAft>
                <a:spcPts val="400"/>
              </a:spcAft>
              <a:buNone/>
            </a:pPr>
            <a:r>
              <a:rPr lang="en-US" sz="1600" dirty="0">
                <a:solidFill>
                  <a:schemeClr val="tx1"/>
                </a:solidFill>
              </a:rPr>
              <a:t>Too simple to capture the real pattern, so it misses on training and test data alike. Underfitting.</a:t>
            </a:r>
            <a:endParaRPr lang="en-US" sz="1800" dirty="0"/>
          </a:p>
        </p:txBody>
      </p:sp>
      <p:sp>
        <p:nvSpPr>
          <p:cNvPr id="13" name="card_67"/>
          <p:cNvSpPr/>
          <p:nvPr/>
        </p:nvSpPr>
        <p:spPr>
          <a:xfrm>
            <a:off x="6199632" y="3886200"/>
            <a:ext cx="5440680" cy="1371600"/>
          </a:xfrm>
          <a:prstGeom prst="roundRect">
            <a:avLst>
              <a:gd name="adj" fmla="val 5333"/>
            </a:avLst>
          </a:prstGeom>
          <a:solidFill>
            <a:schemeClr val="bg2"/>
          </a:solidFill>
          <a:ln/>
        </p:spPr>
        <p:txBody>
          <a:bodyPr/>
          <a:lstStyle/>
          <a:p>
            <a:endParaRPr lang="en-US"/>
          </a:p>
        </p:txBody>
      </p:sp>
      <p:sp>
        <p:nvSpPr>
          <p:cNvPr id="14" name="cardtext_68"/>
          <p:cNvSpPr txBox="1"/>
          <p:nvPr/>
        </p:nvSpPr>
        <p:spPr>
          <a:xfrm>
            <a:off x="6382512" y="4014216"/>
            <a:ext cx="5074920" cy="111556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Too flexible: low bias, high variance</a:t>
            </a:r>
            <a:endParaRPr lang="en-US" sz="1800" dirty="0"/>
          </a:p>
          <a:p>
            <a:pPr marL="0" indent="0">
              <a:spcAft>
                <a:spcPts val="400"/>
              </a:spcAft>
              <a:buNone/>
            </a:pPr>
            <a:r>
              <a:rPr lang="en-US" sz="1600" dirty="0">
                <a:solidFill>
                  <a:schemeClr val="tx1"/>
                </a:solidFill>
              </a:rPr>
              <a:t>Follows the training data closely, noise included. A different sample gives a very different model. Overfitting.</a:t>
            </a:r>
            <a:endParaRPr lang="en-US" sz="1800" dirty="0"/>
          </a:p>
        </p:txBody>
      </p:sp>
      <p:sp>
        <p:nvSpPr>
          <p:cNvPr id="15" name="callout_69"/>
          <p:cNvSpPr txBox="1"/>
          <p:nvPr/>
        </p:nvSpPr>
        <p:spPr>
          <a:xfrm>
            <a:off x="548640" y="5486400"/>
            <a:ext cx="11091672" cy="731520"/>
          </a:xfrm>
          <a:prstGeom prst="roundRect">
            <a:avLst>
              <a:gd name="adj" fmla="val 10000"/>
            </a:avLst>
          </a:prstGeom>
          <a:solidFill>
            <a:schemeClr val="accent3"/>
          </a:solidFill>
          <a:ln/>
        </p:spPr>
        <p:txBody>
          <a:bodyPr wrap="square" lIns="127000" tIns="127000" rIns="127000" bIns="127000" rtlCol="0" anchor="ctr"/>
          <a:lstStyle/>
          <a:p>
            <a:pPr marL="0" indent="0" algn="l">
              <a:buNone/>
            </a:pPr>
            <a:r>
              <a:rPr lang="en-US" sz="1600" b="1" dirty="0">
                <a:solidFill>
                  <a:schemeClr val="bg1"/>
                </a:solidFill>
              </a:rPr>
              <a:t>Every hyperparameter you tuned in Week 6 was a bias–variance dial. Today’s new dial: the regularization strength α.</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1 · BACKGROUND</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Interpretability vs. flexibility</a:t>
            </a:r>
            <a:endParaRPr lang="en-US" sz="3000" dirty="0"/>
          </a:p>
        </p:txBody>
      </p:sp>
      <p:sp>
        <p:nvSpPr>
          <p:cNvPr id="4" name="arrow_70"/>
          <p:cNvSpPr txBox="1"/>
          <p:nvPr/>
        </p:nvSpPr>
        <p:spPr>
          <a:xfrm>
            <a:off x="548640" y="1508760"/>
            <a:ext cx="11091672" cy="457200"/>
          </a:xfrm>
          <a:prstGeom prst="rightArrow">
            <a:avLst/>
          </a:prstGeom>
          <a:solidFill>
            <a:schemeClr val="accent5"/>
          </a:solidFill>
          <a:ln/>
        </p:spPr>
        <p:txBody>
          <a:bodyPr wrap="square" lIns="0" tIns="0" rIns="0" bIns="0" rtlCol="0" anchor="ctr"/>
          <a:lstStyle/>
          <a:p>
            <a:pPr marL="0" indent="0" algn="ctr">
              <a:buNone/>
            </a:pPr>
            <a:r>
              <a:rPr lang="en-US" sz="1400" b="1" dirty="0">
                <a:solidFill>
                  <a:schemeClr val="tx1"/>
                </a:solidFill>
              </a:rPr>
              <a:t>Easier to explain  →  harder to explain, more flexible</a:t>
            </a:r>
            <a:endParaRPr lang="en-US" sz="1400" dirty="0"/>
          </a:p>
        </p:txBody>
      </p:sp>
      <p:sp>
        <p:nvSpPr>
          <p:cNvPr id="5" name="chip_71"/>
          <p:cNvSpPr txBox="1"/>
          <p:nvPr/>
        </p:nvSpPr>
        <p:spPr>
          <a:xfrm>
            <a:off x="548640" y="2194560"/>
            <a:ext cx="1691640" cy="731520"/>
          </a:xfrm>
          <a:prstGeom prst="roundRect">
            <a:avLst>
              <a:gd name="adj" fmla="val 12500"/>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Lasso</a:t>
            </a:r>
            <a:endParaRPr lang="en-US" sz="1400" dirty="0"/>
          </a:p>
        </p:txBody>
      </p:sp>
      <p:sp>
        <p:nvSpPr>
          <p:cNvPr id="6" name="chip_72"/>
          <p:cNvSpPr txBox="1"/>
          <p:nvPr/>
        </p:nvSpPr>
        <p:spPr>
          <a:xfrm>
            <a:off x="2416393" y="2194560"/>
            <a:ext cx="1691640" cy="731520"/>
          </a:xfrm>
          <a:prstGeom prst="roundRect">
            <a:avLst>
              <a:gd name="adj" fmla="val 12500"/>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Ridge</a:t>
            </a:r>
            <a:endParaRPr lang="en-US" sz="1400" dirty="0"/>
          </a:p>
        </p:txBody>
      </p:sp>
      <p:sp>
        <p:nvSpPr>
          <p:cNvPr id="7" name="chip_73"/>
          <p:cNvSpPr txBox="1"/>
          <p:nvPr/>
        </p:nvSpPr>
        <p:spPr>
          <a:xfrm>
            <a:off x="4284147" y="2194560"/>
            <a:ext cx="1691640" cy="731520"/>
          </a:xfrm>
          <a:prstGeom prst="roundRect">
            <a:avLst>
              <a:gd name="adj" fmla="val 12500"/>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Linear / logistic regression</a:t>
            </a:r>
            <a:endParaRPr lang="en-US" sz="1400" dirty="0"/>
          </a:p>
        </p:txBody>
      </p:sp>
      <p:sp>
        <p:nvSpPr>
          <p:cNvPr id="8" name="chip_74"/>
          <p:cNvSpPr txBox="1"/>
          <p:nvPr/>
        </p:nvSpPr>
        <p:spPr>
          <a:xfrm>
            <a:off x="6151900" y="2194560"/>
            <a:ext cx="1691640" cy="731520"/>
          </a:xfrm>
          <a:prstGeom prst="roundRect">
            <a:avLst>
              <a:gd name="adj" fmla="val 12500"/>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LDA</a:t>
            </a:r>
            <a:endParaRPr lang="en-US" sz="1400" dirty="0"/>
          </a:p>
        </p:txBody>
      </p:sp>
      <p:sp>
        <p:nvSpPr>
          <p:cNvPr id="9" name="chip_75"/>
          <p:cNvSpPr txBox="1"/>
          <p:nvPr/>
        </p:nvSpPr>
        <p:spPr>
          <a:xfrm>
            <a:off x="8019654" y="2194560"/>
            <a:ext cx="1691640" cy="731520"/>
          </a:xfrm>
          <a:prstGeom prst="roundRect">
            <a:avLst>
              <a:gd name="adj" fmla="val 12500"/>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QDA</a:t>
            </a:r>
            <a:endParaRPr lang="en-US" sz="1400" dirty="0"/>
          </a:p>
        </p:txBody>
      </p:sp>
      <p:sp>
        <p:nvSpPr>
          <p:cNvPr id="10" name="chip_76"/>
          <p:cNvSpPr txBox="1"/>
          <p:nvPr/>
        </p:nvSpPr>
        <p:spPr>
          <a:xfrm>
            <a:off x="9887407" y="2194560"/>
            <a:ext cx="1691640" cy="731520"/>
          </a:xfrm>
          <a:prstGeom prst="roundRect">
            <a:avLst>
              <a:gd name="adj" fmla="val 12500"/>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KNN</a:t>
            </a:r>
            <a:endParaRPr lang="en-US" sz="1400" dirty="0"/>
          </a:p>
        </p:txBody>
      </p:sp>
      <p:sp>
        <p:nvSpPr>
          <p:cNvPr id="11" name="txt_77"/>
          <p:cNvSpPr txBox="1"/>
          <p:nvPr/>
        </p:nvSpPr>
        <p:spPr>
          <a:xfrm>
            <a:off x="548640" y="3017520"/>
            <a:ext cx="11091672" cy="365760"/>
          </a:xfrm>
          <a:prstGeom prst="rect">
            <a:avLst/>
          </a:prstGeom>
          <a:noFill/>
          <a:ln/>
        </p:spPr>
        <p:txBody>
          <a:bodyPr wrap="square" lIns="0" tIns="0" rIns="0" bIns="0" rtlCol="0" anchor="t"/>
          <a:lstStyle/>
          <a:p>
            <a:pPr marL="0" indent="0">
              <a:buNone/>
            </a:pPr>
            <a:r>
              <a:rPr lang="en-US" sz="1200" dirty="0">
                <a:solidFill>
                  <a:schemeClr val="tx2"/>
                </a:solidFill>
              </a:rPr>
              <a:t>Rough guide only: placement depends on the problem. Trees, ensembles and neural networks sit further to the right.</a:t>
            </a:r>
            <a:endParaRPr lang="en-US" sz="1200" dirty="0"/>
          </a:p>
        </p:txBody>
      </p:sp>
      <p:sp>
        <p:nvSpPr>
          <p:cNvPr id="12" name="card_78"/>
          <p:cNvSpPr/>
          <p:nvPr/>
        </p:nvSpPr>
        <p:spPr>
          <a:xfrm>
            <a:off x="548640" y="3520440"/>
            <a:ext cx="5440680" cy="1737360"/>
          </a:xfrm>
          <a:prstGeom prst="roundRect">
            <a:avLst>
              <a:gd name="adj" fmla="val 4211"/>
            </a:avLst>
          </a:prstGeom>
          <a:solidFill>
            <a:schemeClr val="bg2"/>
          </a:solidFill>
          <a:ln/>
        </p:spPr>
        <p:txBody>
          <a:bodyPr/>
          <a:lstStyle/>
          <a:p>
            <a:endParaRPr lang="en-US"/>
          </a:p>
        </p:txBody>
      </p:sp>
      <p:sp>
        <p:nvSpPr>
          <p:cNvPr id="13" name="cardtext_79"/>
          <p:cNvSpPr txBox="1"/>
          <p:nvPr/>
        </p:nvSpPr>
        <p:spPr>
          <a:xfrm>
            <a:off x="731520" y="3648456"/>
            <a:ext cx="5074920" cy="148132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When interpretability matters</a:t>
            </a:r>
            <a:endParaRPr lang="en-US" sz="1800" dirty="0"/>
          </a:p>
          <a:p>
            <a:pPr marL="0" indent="0">
              <a:spcAft>
                <a:spcPts val="400"/>
              </a:spcAft>
              <a:buNone/>
            </a:pPr>
            <a:r>
              <a:rPr lang="en-US" sz="1600" dirty="0">
                <a:solidFill>
                  <a:schemeClr val="tx1"/>
                </a:solidFill>
              </a:rPr>
              <a:t>You must explain which features drive a prediction and by how much: medicine, lending, policy, science. Fewer features and stable coefficients help.</a:t>
            </a:r>
            <a:endParaRPr lang="en-US" sz="1800" dirty="0"/>
          </a:p>
        </p:txBody>
      </p:sp>
      <p:sp>
        <p:nvSpPr>
          <p:cNvPr id="14" name="card_80"/>
          <p:cNvSpPr/>
          <p:nvPr/>
        </p:nvSpPr>
        <p:spPr>
          <a:xfrm>
            <a:off x="6199632" y="3520440"/>
            <a:ext cx="5440680" cy="1737360"/>
          </a:xfrm>
          <a:prstGeom prst="roundRect">
            <a:avLst>
              <a:gd name="adj" fmla="val 4211"/>
            </a:avLst>
          </a:prstGeom>
          <a:solidFill>
            <a:schemeClr val="bg2"/>
          </a:solidFill>
          <a:ln/>
        </p:spPr>
        <p:txBody>
          <a:bodyPr/>
          <a:lstStyle/>
          <a:p>
            <a:endParaRPr lang="en-US"/>
          </a:p>
        </p:txBody>
      </p:sp>
      <p:sp>
        <p:nvSpPr>
          <p:cNvPr id="15" name="cardtext_81"/>
          <p:cNvSpPr txBox="1"/>
          <p:nvPr/>
        </p:nvSpPr>
        <p:spPr>
          <a:xfrm>
            <a:off x="6382512" y="3648456"/>
            <a:ext cx="5074920" cy="148132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When flexibility matters</a:t>
            </a:r>
            <a:endParaRPr lang="en-US" sz="1800" dirty="0"/>
          </a:p>
          <a:p>
            <a:pPr marL="0" indent="0">
              <a:spcAft>
                <a:spcPts val="400"/>
              </a:spcAft>
              <a:buNone/>
            </a:pPr>
            <a:r>
              <a:rPr lang="en-US" sz="1600" dirty="0">
                <a:solidFill>
                  <a:schemeClr val="tx1"/>
                </a:solidFill>
              </a:rPr>
              <a:t>Only prediction accuracy counts, there is plenty of data, and the patterns are complicated. Explanation is secondary.</a:t>
            </a:r>
            <a:endParaRPr lang="en-US" sz="1800" dirty="0"/>
          </a:p>
        </p:txBody>
      </p:sp>
      <p:sp>
        <p:nvSpPr>
          <p:cNvPr id="16" name="callout_82"/>
          <p:cNvSpPr txBox="1"/>
          <p:nvPr/>
        </p:nvSpPr>
        <p:spPr>
          <a:xfrm>
            <a:off x="548640" y="5257800"/>
            <a:ext cx="11155680" cy="1161288"/>
          </a:xfrm>
          <a:prstGeom prst="roundRect">
            <a:avLst>
              <a:gd name="adj" fmla="val 0"/>
            </a:avLst>
          </a:prstGeom>
          <a:solidFill>
            <a:schemeClr val="accent3"/>
          </a:solidFill>
          <a:ln/>
        </p:spPr>
        <p:txBody>
          <a:bodyPr wrap="square" lIns="127000" tIns="127000" rIns="127000" bIns="127000" rtlCol="0" anchor="ctr"/>
          <a:lstStyle/>
          <a:p>
            <a:pPr marL="0" indent="0" algn="l">
              <a:buNone/>
            </a:pPr>
            <a:r>
              <a:rPr lang="en-US" sz="2000" b="1" dirty="0">
                <a:solidFill>
                  <a:schemeClr val="bg1"/>
                </a:solidFill>
              </a:rPr>
              <a:t>Regularization lets us keep an interpretable linear model and tune its flexibility: ridge stabilizes it, lasso also trims it.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7225B571-23A4-0CE0-AF95-1784C30F364A}"/>
              </a:ext>
            </a:extLst>
          </p:cNvPr>
          <p:cNvSpPr txBox="1">
            <a:spLocks/>
          </p:cNvSpPr>
          <p:nvPr/>
        </p:nvSpPr>
        <p:spPr>
          <a:xfrm>
            <a:off x="548640" y="2286000"/>
            <a:ext cx="9144000" cy="320040"/>
          </a:xfrm>
          <a:prstGeom prst="rect">
            <a:avLst/>
          </a:prstGeom>
          <a:noFill/>
          <a:ln/>
        </p:spPr>
        <p:txBody>
          <a:bodyPr wrap="square" lIns="0" tIns="0" rIns="0" bIns="0"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kern="0" spc="200">
                <a:solidFill>
                  <a:schemeClr val="accent2"/>
                </a:solidFill>
              </a:rPr>
              <a:t>PART 2</a:t>
            </a:r>
            <a:endParaRPr lang="en-US" sz="1600" dirty="0"/>
          </a:p>
        </p:txBody>
      </p:sp>
      <p:sp>
        <p:nvSpPr>
          <p:cNvPr id="3" name="Text 1">
            <a:extLst>
              <a:ext uri="{FF2B5EF4-FFF2-40B4-BE49-F238E27FC236}">
                <a16:creationId xmlns:a16="http://schemas.microsoft.com/office/drawing/2014/main" id="{2A2CE22E-8F02-6AB8-9CFE-261CFBBCE280}"/>
              </a:ext>
            </a:extLst>
          </p:cNvPr>
          <p:cNvSpPr txBox="1">
            <a:spLocks/>
          </p:cNvSpPr>
          <p:nvPr/>
        </p:nvSpPr>
        <p:spPr>
          <a:xfrm>
            <a:off x="548640" y="2697480"/>
            <a:ext cx="10515600" cy="914400"/>
          </a:xfrm>
          <a:prstGeom prst="rect">
            <a:avLst/>
          </a:prstGeom>
          <a:noFill/>
          <a:ln/>
        </p:spPr>
        <p:txBody>
          <a:bodyPr wrap="square" lIns="0" tIns="0" rIns="0" bIns="0" rtlCol="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solidFill>
                  <a:schemeClr val="bg1"/>
                </a:solidFill>
              </a:rPr>
              <a:t>Ridge and lasso regression</a:t>
            </a:r>
            <a:endParaRPr lang="en-US" sz="4000" dirty="0"/>
          </a:p>
        </p:txBody>
      </p:sp>
      <p:sp>
        <p:nvSpPr>
          <p:cNvPr id="4" name="txt_83">
            <a:extLst>
              <a:ext uri="{FF2B5EF4-FFF2-40B4-BE49-F238E27FC236}">
                <a16:creationId xmlns:a16="http://schemas.microsoft.com/office/drawing/2014/main" id="{3A56141F-0827-9635-985C-00C255968E96}"/>
              </a:ext>
            </a:extLst>
          </p:cNvPr>
          <p:cNvSpPr txBox="1"/>
          <p:nvPr/>
        </p:nvSpPr>
        <p:spPr>
          <a:xfrm>
            <a:off x="548640" y="3749040"/>
            <a:ext cx="10058400" cy="457200"/>
          </a:xfrm>
          <a:prstGeom prst="rect">
            <a:avLst/>
          </a:prstGeom>
          <a:noFill/>
          <a:ln/>
        </p:spPr>
        <p:txBody>
          <a:bodyPr wrap="square" lIns="0" tIns="0" rIns="0" bIns="0" rtlCol="0" anchor="t"/>
          <a:lstStyle/>
          <a:p>
            <a:pPr marL="0" indent="0">
              <a:buNone/>
            </a:pPr>
            <a:r>
              <a:rPr lang="en-US" sz="1800" dirty="0">
                <a:solidFill>
                  <a:schemeClr val="bg1"/>
                </a:solidFill>
              </a:rPr>
              <a:t>Add a penalty for large coefficients</a:t>
            </a:r>
            <a:endParaRPr lang="en-US" sz="1800" dirty="0"/>
          </a:p>
        </p:txBody>
      </p:sp>
    </p:spTree>
    <p:extLst>
      <p:ext uri="{BB962C8B-B14F-4D97-AF65-F5344CB8AC3E}">
        <p14:creationId xmlns:p14="http://schemas.microsoft.com/office/powerpoint/2010/main" val="2097835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2 · RIDGE AND LASSO</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The big idea: fit the data, but pay for complexity</a:t>
            </a:r>
            <a:endParaRPr lang="en-US" sz="3000" dirty="0"/>
          </a:p>
        </p:txBody>
      </p:sp>
      <p:sp>
        <p:nvSpPr>
          <p:cNvPr id="4" name="chip_84"/>
          <p:cNvSpPr txBox="1"/>
          <p:nvPr/>
        </p:nvSpPr>
        <p:spPr>
          <a:xfrm>
            <a:off x="548640" y="1363980"/>
            <a:ext cx="3200400" cy="1143000"/>
          </a:xfrm>
          <a:prstGeom prst="roundRect">
            <a:avLst>
              <a:gd name="adj" fmla="val 8000"/>
            </a:avLst>
          </a:prstGeom>
          <a:solidFill>
            <a:schemeClr val="accent1"/>
          </a:solidFill>
          <a:ln/>
        </p:spPr>
        <p:txBody>
          <a:bodyPr wrap="square" lIns="50800" tIns="50800" rIns="50800" bIns="50800" rtlCol="0" anchor="ctr"/>
          <a:lstStyle/>
          <a:p>
            <a:pPr marL="0" indent="0" algn="ctr">
              <a:buNone/>
            </a:pPr>
            <a:r>
              <a:rPr lang="en-US" sz="1500" b="1" dirty="0">
                <a:solidFill>
                  <a:schemeClr val="bg1"/>
                </a:solidFill>
              </a:rPr>
              <a:t>Training error: how wrong are we on the training data?</a:t>
            </a:r>
            <a:endParaRPr lang="en-US" sz="1500" dirty="0"/>
          </a:p>
        </p:txBody>
      </p:sp>
      <p:sp>
        <p:nvSpPr>
          <p:cNvPr id="5" name="txt_85"/>
          <p:cNvSpPr txBox="1"/>
          <p:nvPr/>
        </p:nvSpPr>
        <p:spPr>
          <a:xfrm>
            <a:off x="3749040" y="1363980"/>
            <a:ext cx="731520" cy="1143000"/>
          </a:xfrm>
          <a:prstGeom prst="rect">
            <a:avLst/>
          </a:prstGeom>
          <a:noFill/>
          <a:ln/>
        </p:spPr>
        <p:txBody>
          <a:bodyPr wrap="square" lIns="0" tIns="0" rIns="0" bIns="0" rtlCol="0" anchor="ctr"/>
          <a:lstStyle/>
          <a:p>
            <a:pPr marL="0" indent="0" algn="ctr">
              <a:buNone/>
            </a:pPr>
            <a:r>
              <a:rPr lang="en-US" sz="3600" b="1" dirty="0">
                <a:solidFill>
                  <a:schemeClr val="tx1"/>
                </a:solidFill>
              </a:rPr>
              <a:t>+</a:t>
            </a:r>
            <a:endParaRPr lang="en-US" sz="3600" dirty="0"/>
          </a:p>
        </p:txBody>
      </p:sp>
      <p:sp>
        <p:nvSpPr>
          <p:cNvPr id="6" name="chip_86"/>
          <p:cNvSpPr txBox="1"/>
          <p:nvPr/>
        </p:nvSpPr>
        <p:spPr>
          <a:xfrm>
            <a:off x="4480560" y="1363980"/>
            <a:ext cx="3200400" cy="1143000"/>
          </a:xfrm>
          <a:prstGeom prst="roundRect">
            <a:avLst>
              <a:gd name="adj" fmla="val 8000"/>
            </a:avLst>
          </a:prstGeom>
          <a:solidFill>
            <a:schemeClr val="accent2"/>
          </a:solidFill>
          <a:ln/>
        </p:spPr>
        <p:txBody>
          <a:bodyPr wrap="square" lIns="50800" tIns="50800" rIns="50800" bIns="50800" rtlCol="0" anchor="ctr"/>
          <a:lstStyle/>
          <a:p>
            <a:pPr marL="0" indent="0" algn="ctr">
              <a:buNone/>
            </a:pPr>
            <a:r>
              <a:rPr lang="en-US" sz="1500" b="1" dirty="0">
                <a:solidFill>
                  <a:schemeClr val="tx1"/>
                </a:solidFill>
              </a:rPr>
              <a:t>α × Penalty: how large are the coefficients?</a:t>
            </a:r>
            <a:endParaRPr lang="en-US" sz="1500" dirty="0"/>
          </a:p>
        </p:txBody>
      </p:sp>
      <p:sp>
        <p:nvSpPr>
          <p:cNvPr id="7" name="txt_87"/>
          <p:cNvSpPr txBox="1"/>
          <p:nvPr/>
        </p:nvSpPr>
        <p:spPr>
          <a:xfrm>
            <a:off x="7680960" y="1363980"/>
            <a:ext cx="731520" cy="1143000"/>
          </a:xfrm>
          <a:prstGeom prst="rect">
            <a:avLst/>
          </a:prstGeom>
          <a:noFill/>
          <a:ln/>
        </p:spPr>
        <p:txBody>
          <a:bodyPr wrap="square" lIns="0" tIns="0" rIns="0" bIns="0" rtlCol="0" anchor="ctr"/>
          <a:lstStyle/>
          <a:p>
            <a:pPr marL="0" indent="0" algn="ctr">
              <a:buNone/>
            </a:pPr>
            <a:r>
              <a:rPr lang="en-US" sz="3600" b="1" dirty="0">
                <a:solidFill>
                  <a:schemeClr val="tx1"/>
                </a:solidFill>
              </a:rPr>
              <a:t>=</a:t>
            </a:r>
            <a:endParaRPr lang="en-US" sz="3600" dirty="0"/>
          </a:p>
        </p:txBody>
      </p:sp>
      <p:sp>
        <p:nvSpPr>
          <p:cNvPr id="8" name="chip_88"/>
          <p:cNvSpPr txBox="1"/>
          <p:nvPr/>
        </p:nvSpPr>
        <p:spPr>
          <a:xfrm>
            <a:off x="8412480" y="1363980"/>
            <a:ext cx="3200400" cy="1143000"/>
          </a:xfrm>
          <a:prstGeom prst="roundRect">
            <a:avLst>
              <a:gd name="adj" fmla="val 8000"/>
            </a:avLst>
          </a:prstGeom>
          <a:solidFill>
            <a:schemeClr val="tx1"/>
          </a:solidFill>
          <a:ln/>
        </p:spPr>
        <p:txBody>
          <a:bodyPr wrap="square" lIns="50800" tIns="50800" rIns="50800" bIns="50800" rtlCol="0" anchor="ctr"/>
          <a:lstStyle/>
          <a:p>
            <a:pPr marL="0" indent="0" algn="ctr">
              <a:buNone/>
            </a:pPr>
            <a:r>
              <a:rPr lang="en-US" sz="1500" b="1" dirty="0">
                <a:solidFill>
                  <a:schemeClr val="bg1"/>
                </a:solidFill>
              </a:rPr>
              <a:t>What the model minimizes</a:t>
            </a:r>
            <a:endParaRPr lang="en-US" sz="1500" dirty="0"/>
          </a:p>
        </p:txBody>
      </p:sp>
      <p:sp>
        <p:nvSpPr>
          <p:cNvPr id="9" name="card_89"/>
          <p:cNvSpPr/>
          <p:nvPr/>
        </p:nvSpPr>
        <p:spPr>
          <a:xfrm>
            <a:off x="548640" y="2971800"/>
            <a:ext cx="3557016" cy="1828800"/>
          </a:xfrm>
          <a:prstGeom prst="roundRect">
            <a:avLst>
              <a:gd name="adj" fmla="val 4000"/>
            </a:avLst>
          </a:prstGeom>
          <a:solidFill>
            <a:schemeClr val="bg2"/>
          </a:solidFill>
          <a:ln/>
        </p:spPr>
        <p:txBody>
          <a:bodyPr/>
          <a:lstStyle/>
          <a:p>
            <a:endParaRPr lang="en-US"/>
          </a:p>
        </p:txBody>
      </p:sp>
      <p:sp>
        <p:nvSpPr>
          <p:cNvPr id="10" name="cardtext_90"/>
          <p:cNvSpPr txBox="1"/>
          <p:nvPr/>
        </p:nvSpPr>
        <p:spPr>
          <a:xfrm>
            <a:off x="718820" y="2782316"/>
            <a:ext cx="3191256" cy="157276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α = 0</a:t>
            </a:r>
            <a:endParaRPr lang="en-US" sz="1800" dirty="0"/>
          </a:p>
          <a:p>
            <a:pPr marL="0" indent="0">
              <a:spcAft>
                <a:spcPts val="400"/>
              </a:spcAft>
              <a:buNone/>
            </a:pPr>
            <a:r>
              <a:rPr lang="en-US" sz="1600" dirty="0">
                <a:solidFill>
                  <a:schemeClr val="tx1"/>
                </a:solidFill>
              </a:rPr>
              <a:t>No penalty: ordinary least squares. Can overfit when there are many features.</a:t>
            </a:r>
            <a:endParaRPr lang="en-US" sz="1800" dirty="0"/>
          </a:p>
        </p:txBody>
      </p:sp>
      <p:sp>
        <p:nvSpPr>
          <p:cNvPr id="11" name="card_91"/>
          <p:cNvSpPr/>
          <p:nvPr/>
        </p:nvSpPr>
        <p:spPr>
          <a:xfrm>
            <a:off x="4315968" y="2971800"/>
            <a:ext cx="3557016" cy="1828800"/>
          </a:xfrm>
          <a:prstGeom prst="roundRect">
            <a:avLst>
              <a:gd name="adj" fmla="val 4000"/>
            </a:avLst>
          </a:prstGeom>
          <a:solidFill>
            <a:schemeClr val="bg2"/>
          </a:solidFill>
          <a:ln/>
        </p:spPr>
        <p:txBody>
          <a:bodyPr/>
          <a:lstStyle/>
          <a:p>
            <a:endParaRPr lang="en-US"/>
          </a:p>
        </p:txBody>
      </p:sp>
      <p:sp>
        <p:nvSpPr>
          <p:cNvPr id="12" name="cardtext_92"/>
          <p:cNvSpPr txBox="1"/>
          <p:nvPr/>
        </p:nvSpPr>
        <p:spPr>
          <a:xfrm>
            <a:off x="4486148" y="2782316"/>
            <a:ext cx="3191256" cy="157276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Moderate α</a:t>
            </a:r>
            <a:endParaRPr lang="en-US" sz="1800" dirty="0"/>
          </a:p>
          <a:p>
            <a:pPr marL="0" indent="0">
              <a:spcAft>
                <a:spcPts val="400"/>
              </a:spcAft>
              <a:buNone/>
            </a:pPr>
            <a:r>
              <a:rPr lang="en-US" sz="1600" dirty="0">
                <a:solidFill>
                  <a:schemeClr val="tx1"/>
                </a:solidFill>
              </a:rPr>
              <a:t>Coefficients shrink a little. Variance drops a lot, bias rises a little. Usually the best choice.</a:t>
            </a:r>
            <a:endParaRPr lang="en-US" sz="1800" dirty="0"/>
          </a:p>
        </p:txBody>
      </p:sp>
      <p:sp>
        <p:nvSpPr>
          <p:cNvPr id="13" name="card_93"/>
          <p:cNvSpPr/>
          <p:nvPr/>
        </p:nvSpPr>
        <p:spPr>
          <a:xfrm>
            <a:off x="8083296" y="2971800"/>
            <a:ext cx="3557016" cy="1828800"/>
          </a:xfrm>
          <a:prstGeom prst="roundRect">
            <a:avLst>
              <a:gd name="adj" fmla="val 4000"/>
            </a:avLst>
          </a:prstGeom>
          <a:solidFill>
            <a:schemeClr val="bg2"/>
          </a:solidFill>
          <a:ln/>
        </p:spPr>
        <p:txBody>
          <a:bodyPr/>
          <a:lstStyle/>
          <a:p>
            <a:endParaRPr lang="en-US"/>
          </a:p>
        </p:txBody>
      </p:sp>
      <p:sp>
        <p:nvSpPr>
          <p:cNvPr id="14" name="cardtext_94"/>
          <p:cNvSpPr txBox="1"/>
          <p:nvPr/>
        </p:nvSpPr>
        <p:spPr>
          <a:xfrm>
            <a:off x="8253476" y="2782316"/>
            <a:ext cx="3191256" cy="157276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Very large α</a:t>
            </a:r>
            <a:endParaRPr lang="en-US" sz="1800" dirty="0"/>
          </a:p>
          <a:p>
            <a:pPr marL="0" indent="0">
              <a:spcAft>
                <a:spcPts val="400"/>
              </a:spcAft>
              <a:buNone/>
            </a:pPr>
            <a:r>
              <a:rPr lang="en-US" sz="1600" dirty="0">
                <a:solidFill>
                  <a:schemeClr val="tx1"/>
                </a:solidFill>
              </a:rPr>
              <a:t>Coefficients are pushed to 0 and the model predicts roughly the average. Underfitting.</a:t>
            </a:r>
            <a:endParaRPr lang="en-US" sz="1800" dirty="0"/>
          </a:p>
        </p:txBody>
      </p:sp>
      <p:sp>
        <p:nvSpPr>
          <p:cNvPr id="15" name="callout_95"/>
          <p:cNvSpPr txBox="1"/>
          <p:nvPr/>
        </p:nvSpPr>
        <p:spPr>
          <a:xfrm>
            <a:off x="534924" y="4589018"/>
            <a:ext cx="11091672" cy="640080"/>
          </a:xfrm>
          <a:prstGeom prst="roundRect">
            <a:avLst>
              <a:gd name="adj" fmla="val 11429"/>
            </a:avLst>
          </a:prstGeom>
          <a:solidFill>
            <a:schemeClr val="accent3"/>
          </a:solidFill>
          <a:ln/>
        </p:spPr>
        <p:txBody>
          <a:bodyPr wrap="square" lIns="127000" tIns="127000" rIns="127000" bIns="127000" rtlCol="0" anchor="ctr"/>
          <a:lstStyle/>
          <a:p>
            <a:pPr marL="0" indent="0" algn="ctr">
              <a:buNone/>
            </a:pPr>
            <a:r>
              <a:rPr lang="en-US" sz="1600" b="1" dirty="0">
                <a:solidFill>
                  <a:schemeClr val="bg1"/>
                </a:solidFill>
              </a:rPr>
              <a:t>We accept a little bias to buy a lot less variance. This is called shrinkage.</a:t>
            </a:r>
            <a:endParaRPr lang="en-US" sz="1600" dirty="0"/>
          </a:p>
        </p:txBody>
      </p:sp>
      <p:sp>
        <p:nvSpPr>
          <p:cNvPr id="16" name="txt_96"/>
          <p:cNvSpPr txBox="1"/>
          <p:nvPr/>
        </p:nvSpPr>
        <p:spPr>
          <a:xfrm>
            <a:off x="625348" y="4139692"/>
            <a:ext cx="11091672" cy="365760"/>
          </a:xfrm>
          <a:prstGeom prst="rect">
            <a:avLst/>
          </a:prstGeom>
          <a:noFill/>
          <a:ln/>
        </p:spPr>
        <p:txBody>
          <a:bodyPr wrap="square" lIns="0" tIns="0" rIns="0" bIns="0" rtlCol="0" anchor="t"/>
          <a:lstStyle/>
          <a:p>
            <a:pPr marL="0" indent="0">
              <a:buNone/>
            </a:pPr>
            <a:r>
              <a:rPr lang="en-US" sz="1400" dirty="0">
                <a:solidFill>
                  <a:schemeClr val="tx2"/>
                </a:solidFill>
              </a:rPr>
              <a:t>Naming: ISLP writes λ (lambda). scikit-learn calls the same quantity alpha (α).</a:t>
            </a:r>
            <a:endParaRPr lang="en-US" sz="1400" dirty="0"/>
          </a:p>
        </p:txBody>
      </p:sp>
      <p:sp>
        <p:nvSpPr>
          <p:cNvPr id="18" name="TextBox 17">
            <a:extLst>
              <a:ext uri="{FF2B5EF4-FFF2-40B4-BE49-F238E27FC236}">
                <a16:creationId xmlns:a16="http://schemas.microsoft.com/office/drawing/2014/main" id="{40B9B1FA-4AAC-0090-4E60-8353DC91E5E9}"/>
              </a:ext>
            </a:extLst>
          </p:cNvPr>
          <p:cNvSpPr txBox="1"/>
          <p:nvPr/>
        </p:nvSpPr>
        <p:spPr>
          <a:xfrm>
            <a:off x="519176" y="5303520"/>
            <a:ext cx="11304016" cy="1477328"/>
          </a:xfrm>
          <a:prstGeom prst="rect">
            <a:avLst/>
          </a:prstGeom>
          <a:noFill/>
        </p:spPr>
        <p:txBody>
          <a:bodyPr wrap="square">
            <a:spAutoFit/>
          </a:bodyPr>
          <a:lstStyle/>
          <a:p>
            <a:r>
              <a:rPr lang="en-US" dirty="0"/>
              <a:t>Ordinary linear regression only tries to minimize the errors in the training data. Ridge and Lasso still want small errors, but they also penalize large coefficients. Ridge squares the coefficients, while Lasso takes their absolute values. Lambda controls how much we care about that penalty. As lambda increases, we restrict the model more, which may reduce overfitting. </a:t>
            </a:r>
            <a:r>
              <a:rPr lang="en-US" b="1" dirty="0"/>
              <a:t>OLS minimizes training error. Ridge and Lasso balance training error against model complexity.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461770-FD26-0EFB-F0F6-A0827C7C66C0}"/>
              </a:ext>
            </a:extLst>
          </p:cNvPr>
          <p:cNvSpPr txBox="1"/>
          <p:nvPr/>
        </p:nvSpPr>
        <p:spPr>
          <a:xfrm>
            <a:off x="508000" y="437634"/>
            <a:ext cx="11684000" cy="584775"/>
          </a:xfrm>
          <a:prstGeom prst="rect">
            <a:avLst/>
          </a:prstGeom>
          <a:noFill/>
        </p:spPr>
        <p:txBody>
          <a:bodyPr wrap="square">
            <a:spAutoFit/>
          </a:bodyPr>
          <a:lstStyle/>
          <a:p>
            <a:r>
              <a:rPr lang="en-US" sz="3200" dirty="0">
                <a:solidFill>
                  <a:schemeClr val="accent5"/>
                </a:solidFill>
              </a:rPr>
              <a:t>How do Linear Regression, Ridge, and Lasso minimize error?</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DB83715-432C-578D-0029-CA1BF46C6E59}"/>
                  </a:ext>
                </a:extLst>
              </p:cNvPr>
              <p:cNvSpPr txBox="1"/>
              <p:nvPr/>
            </p:nvSpPr>
            <p:spPr>
              <a:xfrm>
                <a:off x="596900" y="1301664"/>
                <a:ext cx="11303000" cy="1362937"/>
              </a:xfrm>
              <a:prstGeom prst="rect">
                <a:avLst/>
              </a:prstGeom>
              <a:noFill/>
            </p:spPr>
            <p:txBody>
              <a:bodyPr wrap="square">
                <a:spAutoFit/>
              </a:bodyPr>
              <a:lstStyle/>
              <a:p>
                <a:pPr>
                  <a:buNone/>
                </a:pPr>
                <a:r>
                  <a:rPr lang="en-US" sz="2000" b="1" dirty="0"/>
                  <a:t>1. Ordinary Linear Regression (OLS): </a:t>
                </a:r>
                <a:r>
                  <a:rPr lang="en-US" sz="2000" dirty="0"/>
                  <a:t>Minimizes the Residual Sum of Squares (RSS)</a:t>
                </a:r>
              </a:p>
              <a:p>
                <a:pPr>
                  <a:buNone/>
                </a:pPr>
                <a:endParaRPr lang="en-US" dirty="0"/>
              </a:p>
              <a:p>
                <a:pPr algn="ctr">
                  <a:buNone/>
                </a:pPr>
                <a:r>
                  <a:rPr lang="en-US" sz="2400" dirty="0">
                    <a:solidFill>
                      <a:schemeClr val="tx1"/>
                    </a:solidFill>
                  </a:rPr>
                  <a:t>RSS =</a:t>
                </a:r>
                <a14:m>
                  <m:oMath xmlns:m="http://schemas.openxmlformats.org/officeDocument/2006/math">
                    <m:nary>
                      <m:naryPr>
                        <m:chr m:val="∑"/>
                        <m:ctrlPr>
                          <a:rPr lang="en-US" sz="2400" b="0" i="1" smtClean="0">
                            <a:solidFill>
                              <a:schemeClr val="tx1"/>
                            </a:solidFill>
                            <a:latin typeface="Cambria Math" panose="02040503050406030204" pitchFamily="18" charset="0"/>
                          </a:rPr>
                        </m:ctrlPr>
                      </m:naryPr>
                      <m:sub>
                        <m:r>
                          <m:rPr>
                            <m:brk m:alnAt="23"/>
                          </m:rPr>
                          <a:rPr lang="en-US" sz="2400" b="0" i="1" smtClean="0">
                            <a:solidFill>
                              <a:schemeClr val="tx1"/>
                            </a:solidFill>
                            <a:latin typeface="Cambria Math" panose="02040503050406030204" pitchFamily="18" charset="0"/>
                          </a:rPr>
                          <m:t>𝑖</m:t>
                        </m:r>
                        <m:r>
                          <m:rPr>
                            <m:brk m:alnAt="23"/>
                          </m:rPr>
                          <a:rPr lang="en-US" sz="2400" b="0" i="1" smtClean="0">
                            <a:solidFill>
                              <a:schemeClr val="tx1"/>
                            </a:solidFill>
                            <a:latin typeface="Cambria Math" panose="02040503050406030204" pitchFamily="18" charset="0"/>
                          </a:rPr>
                          <m:t>=</m:t>
                        </m:r>
                        <m:r>
                          <m:rPr>
                            <m:brk m:alnAt="23"/>
                          </m:rPr>
                          <a:rPr lang="en-US" sz="2400" b="0" i="1" smtClean="0">
                            <a:solidFill>
                              <a:schemeClr val="tx1"/>
                            </a:solidFill>
                            <a:latin typeface="Cambria Math" panose="02040503050406030204" pitchFamily="18" charset="0"/>
                          </a:rPr>
                          <m:t>1</m:t>
                        </m:r>
                      </m:sub>
                      <m:sup>
                        <m:r>
                          <a:rPr lang="en-US" sz="2400" b="0" i="1" smtClean="0">
                            <a:solidFill>
                              <a:schemeClr val="tx1"/>
                            </a:solidFill>
                            <a:latin typeface="Cambria Math" panose="02040503050406030204" pitchFamily="18" charset="0"/>
                          </a:rPr>
                          <m:t>𝑛</m:t>
                        </m:r>
                      </m:sup>
                      <m:e>
                        <m:sSup>
                          <m:sSupPr>
                            <m:ctrlPr>
                              <a:rPr lang="en-US" sz="2400" b="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m:t>
                            </m:r>
                            <m:sSub>
                              <m:sSubPr>
                                <m:ctrlPr>
                                  <a:rPr lang="en-US" sz="2400" i="1" dirty="0">
                                    <a:solidFill>
                                      <a:schemeClr val="tx1"/>
                                    </a:solidFill>
                                    <a:latin typeface="Cambria Math" panose="02040503050406030204" pitchFamily="18" charset="0"/>
                                  </a:rPr>
                                </m:ctrlPr>
                              </m:sSubPr>
                              <m:e>
                                <m:r>
                                  <a:rPr lang="en-US" sz="2400" i="1" dirty="0">
                                    <a:solidFill>
                                      <a:schemeClr val="tx1"/>
                                    </a:solidFill>
                                    <a:latin typeface="Cambria Math" panose="02040503050406030204" pitchFamily="18" charset="0"/>
                                  </a:rPr>
                                  <m:t>𝑦</m:t>
                                </m:r>
                              </m:e>
                              <m:sub>
                                <m:r>
                                  <a:rPr lang="en-US" sz="2400" i="1" dirty="0">
                                    <a:solidFill>
                                      <a:schemeClr val="tx1"/>
                                    </a:solidFill>
                                    <a:latin typeface="Cambria Math" panose="02040503050406030204" pitchFamily="18" charset="0"/>
                                  </a:rPr>
                                  <m:t>𝑖</m:t>
                                </m:r>
                              </m:sub>
                            </m:sSub>
                            <m:r>
                              <a:rPr lang="en-US" sz="2400" b="0" i="1" smtClean="0">
                                <a:solidFill>
                                  <a:schemeClr val="tx1"/>
                                </a:solidFill>
                                <a:latin typeface="Cambria Math" panose="02040503050406030204" pitchFamily="18" charset="0"/>
                              </a:rPr>
                              <m:t>− </m:t>
                            </m:r>
                            <m:acc>
                              <m:accPr>
                                <m:chr m:val="̂"/>
                                <m:ctrlPr>
                                  <a:rPr lang="en-US" sz="2400" b="0" i="1" smtClean="0">
                                    <a:solidFill>
                                      <a:schemeClr val="tx1"/>
                                    </a:solidFill>
                                    <a:latin typeface="Cambria Math" panose="02040503050406030204" pitchFamily="18" charset="0"/>
                                  </a:rPr>
                                </m:ctrlPr>
                              </m:accPr>
                              <m:e>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𝑦</m:t>
                                    </m:r>
                                  </m:e>
                                  <m:sub>
                                    <m:r>
                                      <a:rPr lang="en-US" sz="2400" b="0" i="1" smtClean="0">
                                        <a:solidFill>
                                          <a:schemeClr val="tx1"/>
                                        </a:solidFill>
                                        <a:latin typeface="Cambria Math" panose="02040503050406030204" pitchFamily="18" charset="0"/>
                                      </a:rPr>
                                      <m:t>𝑖</m:t>
                                    </m:r>
                                  </m:sub>
                                </m:sSub>
                              </m:e>
                            </m:acc>
                            <m:r>
                              <a:rPr lang="en-US" sz="2400" b="0" i="1" smtClean="0">
                                <a:solidFill>
                                  <a:schemeClr val="tx1"/>
                                </a:solidFill>
                                <a:latin typeface="Cambria Math" panose="02040503050406030204" pitchFamily="18" charset="0"/>
                              </a:rPr>
                              <m:t>)</m:t>
                            </m:r>
                          </m:e>
                          <m:sup>
                            <m:r>
                              <a:rPr lang="en-US" sz="2400" b="0" i="1" smtClean="0">
                                <a:solidFill>
                                  <a:schemeClr val="tx1"/>
                                </a:solidFill>
                                <a:latin typeface="Cambria Math" panose="02040503050406030204" pitchFamily="18" charset="0"/>
                              </a:rPr>
                              <m:t>2</m:t>
                            </m:r>
                          </m:sup>
                        </m:sSup>
                      </m:e>
                    </m:nary>
                  </m:oMath>
                </a14:m>
                <a:endParaRPr lang="en-US" dirty="0"/>
              </a:p>
              <a:p>
                <a:pPr>
                  <a:buNone/>
                </a:pPr>
                <a:endParaRPr lang="en-US" dirty="0"/>
              </a:p>
            </p:txBody>
          </p:sp>
        </mc:Choice>
        <mc:Fallback>
          <p:sp>
            <p:nvSpPr>
              <p:cNvPr id="5" name="TextBox 4">
                <a:extLst>
                  <a:ext uri="{FF2B5EF4-FFF2-40B4-BE49-F238E27FC236}">
                    <a16:creationId xmlns:a16="http://schemas.microsoft.com/office/drawing/2014/main" id="{1DB83715-432C-578D-0029-CA1BF46C6E59}"/>
                  </a:ext>
                </a:extLst>
              </p:cNvPr>
              <p:cNvSpPr txBox="1">
                <a:spLocks noRot="1" noChangeAspect="1" noMove="1" noResize="1" noEditPoints="1" noAdjustHandles="1" noChangeArrowheads="1" noChangeShapeType="1" noTextEdit="1"/>
              </p:cNvSpPr>
              <p:nvPr/>
            </p:nvSpPr>
            <p:spPr>
              <a:xfrm>
                <a:off x="596900" y="1301664"/>
                <a:ext cx="11303000" cy="1362937"/>
              </a:xfrm>
              <a:prstGeom prst="rect">
                <a:avLst/>
              </a:prstGeom>
              <a:blipFill>
                <a:blip r:embed="rId2"/>
                <a:stretch>
                  <a:fillRect l="-593" t="-2691" b="-43498"/>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9DF787E-B27E-4640-C904-91A76E889982}"/>
              </a:ext>
            </a:extLst>
          </p:cNvPr>
          <p:cNvSpPr txBox="1"/>
          <p:nvPr/>
        </p:nvSpPr>
        <p:spPr>
          <a:xfrm>
            <a:off x="596900" y="2452370"/>
            <a:ext cx="11150600" cy="369332"/>
          </a:xfrm>
          <a:prstGeom prst="rect">
            <a:avLst/>
          </a:prstGeom>
          <a:noFill/>
        </p:spPr>
        <p:txBody>
          <a:bodyPr wrap="square">
            <a:spAutoFit/>
          </a:bodyPr>
          <a:lstStyle/>
          <a:p>
            <a:r>
              <a:rPr lang="en-US" dirty="0"/>
              <a:t>OLS finds the coefficients that minimize the total squared prediction errors on the training data.</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E3044211-43B0-D617-77A5-0DCDF0A3E0AD}"/>
                  </a:ext>
                </a:extLst>
              </p:cNvPr>
              <p:cNvSpPr txBox="1"/>
              <p:nvPr/>
            </p:nvSpPr>
            <p:spPr>
              <a:xfrm>
                <a:off x="596900" y="3047004"/>
                <a:ext cx="11303000" cy="1470531"/>
              </a:xfrm>
              <a:prstGeom prst="rect">
                <a:avLst/>
              </a:prstGeom>
              <a:noFill/>
            </p:spPr>
            <p:txBody>
              <a:bodyPr wrap="square">
                <a:spAutoFit/>
              </a:bodyPr>
              <a:lstStyle/>
              <a:p>
                <a:pPr>
                  <a:buNone/>
                </a:pPr>
                <a:r>
                  <a:rPr lang="en-US" sz="2000" b="1" dirty="0"/>
                  <a:t>2. Ridge Regression (L2): </a:t>
                </a:r>
                <a:r>
                  <a:rPr lang="en-US" sz="2000" dirty="0"/>
                  <a:t>Minimizes</a:t>
                </a:r>
              </a:p>
              <a:p>
                <a:pPr>
                  <a:buNone/>
                </a:pPr>
                <a:endParaRPr lang="en-US" sz="2000" dirty="0"/>
              </a:p>
              <a:p>
                <a:pPr algn="ctr">
                  <a:buNone/>
                </a:pPr>
                <a:r>
                  <a:rPr lang="en-US" sz="2400" dirty="0"/>
                  <a:t>RSS + </a:t>
                </a:r>
                <a:r>
                  <a:rPr lang="en-US" sz="2400" dirty="0">
                    <a:latin typeface="Cambria Math" panose="02040503050406030204" pitchFamily="18" charset="0"/>
                    <a:ea typeface="Cambria Math" panose="02040503050406030204" pitchFamily="18" charset="0"/>
                  </a:rPr>
                  <a:t>𝝀</a:t>
                </a:r>
                <a14:m>
                  <m:oMath xmlns:m="http://schemas.openxmlformats.org/officeDocument/2006/math">
                    <m:nary>
                      <m:naryPr>
                        <m:chr m:val="∑"/>
                        <m:ctrlPr>
                          <a:rPr lang="en-US" sz="2400" b="0" i="1" smtClean="0">
                            <a:latin typeface="Cambria Math" panose="02040503050406030204" pitchFamily="18" charset="0"/>
                            <a:ea typeface="Cambria Math" panose="02040503050406030204" pitchFamily="18" charset="0"/>
                          </a:rPr>
                        </m:ctrlPr>
                      </m:naryPr>
                      <m:sub>
                        <m:r>
                          <m:rPr>
                            <m:brk m:alnAt="23"/>
                          </m:rPr>
                          <a:rPr lang="en-US" sz="2400" b="0" i="1" smtClean="0">
                            <a:latin typeface="Cambria Math" panose="02040503050406030204" pitchFamily="18" charset="0"/>
                            <a:ea typeface="Cambria Math" panose="02040503050406030204" pitchFamily="18" charset="0"/>
                          </a:rPr>
                          <m:t>𝑗</m:t>
                        </m:r>
                        <m:r>
                          <m:rPr>
                            <m:brk m:alnAt="23"/>
                          </m:rPr>
                          <a:rPr lang="en-US" sz="2400" b="0" i="1" smtClean="0">
                            <a:latin typeface="Cambria Math" panose="02040503050406030204" pitchFamily="18" charset="0"/>
                            <a:ea typeface="Cambria Math" panose="02040503050406030204" pitchFamily="18" charset="0"/>
                          </a:rPr>
                          <m:t>=</m:t>
                        </m:r>
                        <m:r>
                          <m:rPr>
                            <m:brk m:alnAt="23"/>
                          </m:rPr>
                          <a:rPr lang="en-US" sz="2400" b="0" i="1" smtClean="0">
                            <a:latin typeface="Cambria Math" panose="02040503050406030204" pitchFamily="18" charset="0"/>
                            <a:ea typeface="Cambria Math" panose="02040503050406030204" pitchFamily="18" charset="0"/>
                          </a:rPr>
                          <m:t>1</m:t>
                        </m:r>
                      </m:sub>
                      <m:sup>
                        <m:r>
                          <a:rPr lang="en-US" sz="2400" b="0" i="1" smtClean="0">
                            <a:latin typeface="Cambria Math" panose="02040503050406030204" pitchFamily="18" charset="0"/>
                            <a:ea typeface="Cambria Math" panose="02040503050406030204" pitchFamily="18" charset="0"/>
                          </a:rPr>
                          <m:t>𝑝</m:t>
                        </m:r>
                      </m:sup>
                      <m:e>
                        <m:sSubSup>
                          <m:sSubSupPr>
                            <m:ctrlPr>
                              <a:rPr lang="el-GR" sz="2400" i="1" smtClean="0">
                                <a:latin typeface="Cambria Math" panose="02040503050406030204" pitchFamily="18" charset="0"/>
                                <a:ea typeface="Cambria Math" panose="02040503050406030204" pitchFamily="18" charset="0"/>
                              </a:rPr>
                            </m:ctrlPr>
                          </m:sSubSupPr>
                          <m:e>
                            <m:r>
                              <m:rPr>
                                <m:sty m:val="p"/>
                              </m:rPr>
                              <a:rPr lang="el-GR" sz="2400" i="1" smtClean="0">
                                <a:latin typeface="Cambria Math" panose="02040503050406030204" pitchFamily="18" charset="0"/>
                                <a:ea typeface="Cambria Math" panose="02040503050406030204" pitchFamily="18" charset="0"/>
                              </a:rPr>
                              <m:t>β</m:t>
                            </m:r>
                          </m:e>
                          <m:sub>
                            <m:r>
                              <a:rPr lang="en-US" sz="2400" b="0" i="1" smtClean="0">
                                <a:latin typeface="Cambria Math" panose="02040503050406030204" pitchFamily="18" charset="0"/>
                                <a:ea typeface="Cambria Math" panose="02040503050406030204" pitchFamily="18" charset="0"/>
                              </a:rPr>
                              <m:t>𝑗</m:t>
                            </m:r>
                          </m:sub>
                          <m:sup>
                            <m:r>
                              <a:rPr lang="en-US" sz="2400" b="0" i="1" smtClean="0">
                                <a:latin typeface="Cambria Math" panose="02040503050406030204" pitchFamily="18" charset="0"/>
                                <a:ea typeface="Cambria Math" panose="02040503050406030204" pitchFamily="18" charset="0"/>
                              </a:rPr>
                              <m:t>2</m:t>
                            </m:r>
                          </m:sup>
                        </m:sSubSup>
                      </m:e>
                    </m:nary>
                  </m:oMath>
                </a14:m>
                <a:endParaRPr lang="en-US" sz="2000" dirty="0"/>
              </a:p>
              <a:p>
                <a:pPr>
                  <a:buNone/>
                </a:pPr>
                <a:endParaRPr lang="en-US" sz="2000" dirty="0"/>
              </a:p>
            </p:txBody>
          </p:sp>
        </mc:Choice>
        <mc:Fallback>
          <p:sp>
            <p:nvSpPr>
              <p:cNvPr id="9" name="TextBox 8">
                <a:extLst>
                  <a:ext uri="{FF2B5EF4-FFF2-40B4-BE49-F238E27FC236}">
                    <a16:creationId xmlns:a16="http://schemas.microsoft.com/office/drawing/2014/main" id="{E3044211-43B0-D617-77A5-0DCDF0A3E0AD}"/>
                  </a:ext>
                </a:extLst>
              </p:cNvPr>
              <p:cNvSpPr txBox="1">
                <a:spLocks noRot="1" noChangeAspect="1" noMove="1" noResize="1" noEditPoints="1" noAdjustHandles="1" noChangeArrowheads="1" noChangeShapeType="1" noTextEdit="1"/>
              </p:cNvSpPr>
              <p:nvPr/>
            </p:nvSpPr>
            <p:spPr>
              <a:xfrm>
                <a:off x="596900" y="3047004"/>
                <a:ext cx="11303000" cy="1470531"/>
              </a:xfrm>
              <a:prstGeom prst="rect">
                <a:avLst/>
              </a:prstGeom>
              <a:blipFill>
                <a:blip r:embed="rId3"/>
                <a:stretch>
                  <a:fillRect l="-593" t="-249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DE81202F-7D9D-2526-E0C4-D97A40AEDE06}"/>
              </a:ext>
            </a:extLst>
          </p:cNvPr>
          <p:cNvSpPr txBox="1"/>
          <p:nvPr/>
        </p:nvSpPr>
        <p:spPr>
          <a:xfrm>
            <a:off x="596900" y="4320169"/>
            <a:ext cx="11303000" cy="369332"/>
          </a:xfrm>
          <a:prstGeom prst="rect">
            <a:avLst/>
          </a:prstGeom>
          <a:noFill/>
        </p:spPr>
        <p:txBody>
          <a:bodyPr wrap="square">
            <a:spAutoFit/>
          </a:bodyPr>
          <a:lstStyle/>
          <a:p>
            <a:r>
              <a:rPr lang="en-US" dirty="0"/>
              <a:t>Training error + penalty on squared coefficients. Ridge discourages large coefficients, shrinking them toward zero.</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52F345D-1C1C-06A5-1054-E9E7D0691A3B}"/>
                  </a:ext>
                </a:extLst>
              </p:cNvPr>
              <p:cNvSpPr txBox="1"/>
              <p:nvPr/>
            </p:nvSpPr>
            <p:spPr>
              <a:xfrm>
                <a:off x="520700" y="4912638"/>
                <a:ext cx="11150600" cy="1136208"/>
              </a:xfrm>
              <a:prstGeom prst="rect">
                <a:avLst/>
              </a:prstGeom>
              <a:noFill/>
            </p:spPr>
            <p:txBody>
              <a:bodyPr wrap="square">
                <a:spAutoFit/>
              </a:bodyPr>
              <a:lstStyle/>
              <a:p>
                <a:pPr>
                  <a:buNone/>
                </a:pPr>
                <a:r>
                  <a:rPr lang="en-US" sz="2000" b="1" dirty="0"/>
                  <a:t>3. Lasso Regression (L1): </a:t>
                </a:r>
                <a:r>
                  <a:rPr lang="en-US" sz="2000" dirty="0"/>
                  <a:t>Minimizes:</a:t>
                </a:r>
              </a:p>
              <a:p>
                <a:pPr>
                  <a:buNone/>
                </a:pPr>
                <a:endParaRPr lang="en-US" dirty="0"/>
              </a:p>
              <a:p>
                <a:pPr algn="ctr">
                  <a:buNone/>
                </a:pPr>
                <a:r>
                  <a:rPr lang="en-US" sz="2400" dirty="0"/>
                  <a:t>RSS + </a:t>
                </a:r>
                <a:r>
                  <a:rPr lang="en-US" sz="2400" dirty="0">
                    <a:latin typeface="Cambria Math" panose="02040503050406030204" pitchFamily="18" charset="0"/>
                    <a:ea typeface="Cambria Math" panose="02040503050406030204" pitchFamily="18" charset="0"/>
                  </a:rPr>
                  <a:t>𝝀</a:t>
                </a:r>
                <a14:m>
                  <m:oMath xmlns:m="http://schemas.openxmlformats.org/officeDocument/2006/math">
                    <m:nary>
                      <m:naryPr>
                        <m:chr m:val="∑"/>
                        <m:ctrlPr>
                          <a:rPr lang="en-US" sz="2400" i="1">
                            <a:latin typeface="Cambria Math" panose="02040503050406030204" pitchFamily="18" charset="0"/>
                            <a:ea typeface="Cambria Math" panose="02040503050406030204" pitchFamily="18" charset="0"/>
                          </a:rPr>
                        </m:ctrlPr>
                      </m:naryPr>
                      <m:sub>
                        <m:r>
                          <m:rPr>
                            <m:brk m:alnAt="23"/>
                          </m:rPr>
                          <a:rPr lang="en-US" sz="2400" i="1">
                            <a:latin typeface="Cambria Math" panose="02040503050406030204" pitchFamily="18" charset="0"/>
                            <a:ea typeface="Cambria Math" panose="02040503050406030204" pitchFamily="18" charset="0"/>
                          </a:rPr>
                          <m:t>𝑗</m:t>
                        </m:r>
                        <m:r>
                          <m:rPr>
                            <m:brk m:alnAt="23"/>
                          </m:rPr>
                          <a:rPr lang="en-US" sz="2400" i="1">
                            <a:latin typeface="Cambria Math" panose="02040503050406030204" pitchFamily="18" charset="0"/>
                            <a:ea typeface="Cambria Math" panose="02040503050406030204" pitchFamily="18" charset="0"/>
                          </a:rPr>
                          <m:t>=</m:t>
                        </m:r>
                        <m:r>
                          <m:rPr>
                            <m:brk m:alnAt="23"/>
                          </m:rPr>
                          <a:rPr lang="en-US" sz="2400" i="1">
                            <a:latin typeface="Cambria Math" panose="02040503050406030204" pitchFamily="18" charset="0"/>
                            <a:ea typeface="Cambria Math" panose="02040503050406030204" pitchFamily="18" charset="0"/>
                          </a:rPr>
                          <m:t>1</m:t>
                        </m:r>
                      </m:sub>
                      <m:sup>
                        <m:r>
                          <a:rPr lang="en-US" sz="2400" i="1">
                            <a:latin typeface="Cambria Math" panose="02040503050406030204" pitchFamily="18" charset="0"/>
                            <a:ea typeface="Cambria Math" panose="02040503050406030204" pitchFamily="18" charset="0"/>
                          </a:rPr>
                          <m:t>𝑝</m:t>
                        </m:r>
                      </m:sup>
                      <m:e>
                        <m:d>
                          <m:dPr>
                            <m:begChr m:val="|"/>
                            <m:endChr m:val="|"/>
                            <m:ctrlPr>
                              <a:rPr lang="en-US" sz="2400" i="1" smtClean="0">
                                <a:latin typeface="Cambria Math" panose="02040503050406030204" pitchFamily="18" charset="0"/>
                                <a:ea typeface="Cambria Math" panose="02040503050406030204" pitchFamily="18" charset="0"/>
                              </a:rPr>
                            </m:ctrlPr>
                          </m:dPr>
                          <m:e>
                            <m:sSub>
                              <m:sSubPr>
                                <m:ctrlPr>
                                  <a:rPr lang="el-GR" sz="2400" i="1" smtClean="0">
                                    <a:latin typeface="Cambria Math" panose="02040503050406030204" pitchFamily="18" charset="0"/>
                                    <a:ea typeface="Cambria Math" panose="02040503050406030204" pitchFamily="18" charset="0"/>
                                  </a:rPr>
                                </m:ctrlPr>
                              </m:sSubPr>
                              <m:e>
                                <m:r>
                                  <m:rPr>
                                    <m:sty m:val="p"/>
                                  </m:rPr>
                                  <a:rPr lang="el-GR" sz="2400" i="1" smtClean="0">
                                    <a:latin typeface="Cambria Math" panose="02040503050406030204" pitchFamily="18" charset="0"/>
                                    <a:ea typeface="Cambria Math" panose="02040503050406030204" pitchFamily="18" charset="0"/>
                                  </a:rPr>
                                  <m:t>β</m:t>
                                </m:r>
                              </m:e>
                              <m:sub>
                                <m:r>
                                  <a:rPr lang="en-US" sz="2400" b="0" i="1" smtClean="0">
                                    <a:latin typeface="Cambria Math" panose="02040503050406030204" pitchFamily="18" charset="0"/>
                                    <a:ea typeface="Cambria Math" panose="02040503050406030204" pitchFamily="18" charset="0"/>
                                  </a:rPr>
                                  <m:t>𝑗</m:t>
                                </m:r>
                              </m:sub>
                            </m:sSub>
                          </m:e>
                        </m:d>
                      </m:e>
                    </m:nary>
                  </m:oMath>
                </a14:m>
                <a:endParaRPr lang="en-US" dirty="0"/>
              </a:p>
            </p:txBody>
          </p:sp>
        </mc:Choice>
        <mc:Fallback>
          <p:sp>
            <p:nvSpPr>
              <p:cNvPr id="13" name="TextBox 12">
                <a:extLst>
                  <a:ext uri="{FF2B5EF4-FFF2-40B4-BE49-F238E27FC236}">
                    <a16:creationId xmlns:a16="http://schemas.microsoft.com/office/drawing/2014/main" id="{452F345D-1C1C-06A5-1054-E9E7D0691A3B}"/>
                  </a:ext>
                </a:extLst>
              </p:cNvPr>
              <p:cNvSpPr txBox="1">
                <a:spLocks noRot="1" noChangeAspect="1" noMove="1" noResize="1" noEditPoints="1" noAdjustHandles="1" noChangeArrowheads="1" noChangeShapeType="1" noTextEdit="1"/>
              </p:cNvSpPr>
              <p:nvPr/>
            </p:nvSpPr>
            <p:spPr>
              <a:xfrm>
                <a:off x="520700" y="4912638"/>
                <a:ext cx="11150600" cy="1136208"/>
              </a:xfrm>
              <a:prstGeom prst="rect">
                <a:avLst/>
              </a:prstGeom>
              <a:blipFill>
                <a:blip r:embed="rId4"/>
                <a:stretch>
                  <a:fillRect l="-546" t="-3226" b="-6989"/>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8F209AB7-7181-4C37-FB16-B7241B687B59}"/>
              </a:ext>
            </a:extLst>
          </p:cNvPr>
          <p:cNvSpPr txBox="1"/>
          <p:nvPr/>
        </p:nvSpPr>
        <p:spPr>
          <a:xfrm>
            <a:off x="431800" y="6165340"/>
            <a:ext cx="11468100" cy="646331"/>
          </a:xfrm>
          <a:prstGeom prst="rect">
            <a:avLst/>
          </a:prstGeom>
          <a:noFill/>
        </p:spPr>
        <p:txBody>
          <a:bodyPr wrap="square">
            <a:spAutoFit/>
          </a:bodyPr>
          <a:lstStyle/>
          <a:p>
            <a:pPr>
              <a:buNone/>
            </a:pPr>
            <a:r>
              <a:rPr lang="en-US" dirty="0"/>
              <a:t>Training error + penalty on absolute coefficients. Lasso shrinks coefficients and can set some exactly to zero, removing predictors from the model.</a:t>
            </a:r>
          </a:p>
        </p:txBody>
      </p:sp>
    </p:spTree>
    <p:extLst>
      <p:ext uri="{BB962C8B-B14F-4D97-AF65-F5344CB8AC3E}">
        <p14:creationId xmlns:p14="http://schemas.microsoft.com/office/powerpoint/2010/main" val="2702692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32A91011-A6D4-AC13-C1F7-E904CEAA6F31}"/>
                  </a:ext>
                </a:extLst>
              </p:cNvPr>
              <p:cNvGraphicFramePr>
                <a:graphicFrameLocks noGrp="1"/>
              </p:cNvGraphicFramePr>
              <p:nvPr>
                <p:extLst>
                  <p:ext uri="{D42A27DB-BD31-4B8C-83A1-F6EECF244321}">
                    <p14:modId xmlns:p14="http://schemas.microsoft.com/office/powerpoint/2010/main" val="3790432520"/>
                  </p:ext>
                </p:extLst>
              </p:nvPr>
            </p:nvGraphicFramePr>
            <p:xfrm>
              <a:off x="1333500" y="1286034"/>
              <a:ext cx="9486900" cy="2582418"/>
            </p:xfrm>
            <a:graphic>
              <a:graphicData uri="http://schemas.openxmlformats.org/drawingml/2006/table">
                <a:tbl>
                  <a:tblPr>
                    <a:tableStyleId>{5C22544A-7EE6-4342-B048-85BDC9FD1C3A}</a:tableStyleId>
                  </a:tblPr>
                  <a:tblGrid>
                    <a:gridCol w="3543300">
                      <a:extLst>
                        <a:ext uri="{9D8B030D-6E8A-4147-A177-3AD203B41FA5}">
                          <a16:colId xmlns:a16="http://schemas.microsoft.com/office/drawing/2014/main" val="2512220543"/>
                        </a:ext>
                      </a:extLst>
                    </a:gridCol>
                    <a:gridCol w="5943600">
                      <a:extLst>
                        <a:ext uri="{9D8B030D-6E8A-4147-A177-3AD203B41FA5}">
                          <a16:colId xmlns:a16="http://schemas.microsoft.com/office/drawing/2014/main" val="1950059594"/>
                        </a:ext>
                      </a:extLst>
                    </a:gridCol>
                  </a:tblGrid>
                  <a:tr h="0">
                    <a:tc>
                      <a:txBody>
                        <a:bodyPr/>
                        <a:lstStyle/>
                        <a:p>
                          <a:pPr>
                            <a:buNone/>
                          </a:pPr>
                          <a:r>
                            <a:rPr lang="en-US" dirty="0"/>
                            <a:t>Symbol</a:t>
                          </a:r>
                        </a:p>
                      </a:txBody>
                      <a:tcPr anchor="ctr">
                        <a:solidFill>
                          <a:schemeClr val="accent1">
                            <a:lumMod val="20000"/>
                            <a:lumOff val="80000"/>
                          </a:schemeClr>
                        </a:solidFill>
                      </a:tcPr>
                    </a:tc>
                    <a:tc>
                      <a:txBody>
                        <a:bodyPr/>
                        <a:lstStyle/>
                        <a:p>
                          <a:pPr>
                            <a:buNone/>
                          </a:pPr>
                          <a:r>
                            <a:rPr lang="en-US" dirty="0"/>
                            <a:t>Meaning</a:t>
                          </a:r>
                        </a:p>
                      </a:txBody>
                      <a:tcPr anchor="ctr">
                        <a:solidFill>
                          <a:schemeClr val="accent1">
                            <a:lumMod val="20000"/>
                            <a:lumOff val="80000"/>
                          </a:schemeClr>
                        </a:solidFill>
                      </a:tcPr>
                    </a:tc>
                    <a:extLst>
                      <a:ext uri="{0D108BD9-81ED-4DB2-BD59-A6C34878D82A}">
                        <a16:rowId xmlns:a16="http://schemas.microsoft.com/office/drawing/2014/main" val="1498744877"/>
                      </a:ext>
                    </a:extLst>
                  </a:tr>
                  <a:tr h="0">
                    <a:tc>
                      <a:txBody>
                        <a:bodyPr/>
                        <a:lstStyle/>
                        <a:p>
                          <a:pPr>
                            <a:buNone/>
                          </a:pPr>
                          <a14:m>
                            <m:oMathPara xmlns:m="http://schemas.openxmlformats.org/officeDocument/2006/math">
                              <m:oMath>
                                <m:sSub>
                                  <m:sSubPr>
                                    <m:ctrlPr>
                                      <a:rPr lang="en-US" sz="1800" i="1" dirty="0">
                                        <a:solidFill>
                                          <a:schemeClr val="tx1"/>
                                        </a:solidFill>
                                        <a:latin typeface="Cambria Math" panose="02040503050406030204" pitchFamily="18" charset="0"/>
                                      </a:rPr>
                                    </m:ctrlPr>
                                  </m:sSubPr>
                                  <m:e>
                                    <m:r>
                                      <a:rPr lang="en-US" sz="1800" i="1" dirty="0">
                                        <a:solidFill>
                                          <a:schemeClr val="tx1"/>
                                        </a:solidFill>
                                        <a:latin typeface="Cambria Math" panose="02040503050406030204" pitchFamily="18" charset="0"/>
                                      </a:rPr>
                                      <m:t>𝑦</m:t>
                                    </m:r>
                                  </m:e>
                                  <m:sub>
                                    <m:r>
                                      <a:rPr lang="en-US" sz="1800" i="1" dirty="0">
                                        <a:solidFill>
                                          <a:schemeClr val="tx1"/>
                                        </a:solidFill>
                                        <a:latin typeface="Cambria Math" panose="02040503050406030204" pitchFamily="18" charset="0"/>
                                      </a:rPr>
                                      <m:t>𝑖</m:t>
                                    </m:r>
                                  </m:sub>
                                </m:sSub>
                              </m:oMath>
                            </m:oMathPara>
                          </a14:m>
                          <a:endParaRPr lang="en-US" dirty="0"/>
                        </a:p>
                      </a:txBody>
                      <a:tcPr anchor="ctr"/>
                    </a:tc>
                    <a:tc>
                      <a:txBody>
                        <a:bodyPr/>
                        <a:lstStyle/>
                        <a:p>
                          <a:pPr>
                            <a:buNone/>
                          </a:pPr>
                          <a:r>
                            <a:rPr lang="en-US"/>
                            <a:t>Actual value</a:t>
                          </a:r>
                        </a:p>
                      </a:txBody>
                      <a:tcPr anchor="ctr"/>
                    </a:tc>
                    <a:extLst>
                      <a:ext uri="{0D108BD9-81ED-4DB2-BD59-A6C34878D82A}">
                        <a16:rowId xmlns:a16="http://schemas.microsoft.com/office/drawing/2014/main" val="109882403"/>
                      </a:ext>
                    </a:extLst>
                  </a:tr>
                  <a:tr h="0">
                    <a:tc>
                      <a:txBody>
                        <a:bodyPr/>
                        <a:lstStyle/>
                        <a:p>
                          <a:pPr>
                            <a:buNone/>
                          </a:pPr>
                          <a14:m>
                            <m:oMathPara xmlns:m="http://schemas.openxmlformats.org/officeDocument/2006/math">
                              <m:oMath>
                                <m:acc>
                                  <m:accPr>
                                    <m:chr m:val="̂"/>
                                    <m:ctrlPr>
                                      <a:rPr lang="en-US" sz="1800" b="0" i="1" smtClean="0">
                                        <a:solidFill>
                                          <a:schemeClr val="tx1"/>
                                        </a:solidFill>
                                        <a:latin typeface="Cambria Math" panose="02040503050406030204" pitchFamily="18" charset="0"/>
                                      </a:rPr>
                                    </m:ctrlPr>
                                  </m:accPr>
                                  <m:e>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𝑦</m:t>
                                        </m:r>
                                      </m:e>
                                      <m:sub>
                                        <m:r>
                                          <a:rPr lang="en-US" sz="1800" b="0" i="1" smtClean="0">
                                            <a:solidFill>
                                              <a:schemeClr val="tx1"/>
                                            </a:solidFill>
                                            <a:latin typeface="Cambria Math" panose="02040503050406030204" pitchFamily="18" charset="0"/>
                                          </a:rPr>
                                          <m:t>𝑖</m:t>
                                        </m:r>
                                      </m:sub>
                                    </m:sSub>
                                  </m:e>
                                </m:acc>
                              </m:oMath>
                            </m:oMathPara>
                          </a14:m>
                          <a:endParaRPr lang="en-US" dirty="0"/>
                        </a:p>
                      </a:txBody>
                      <a:tcPr anchor="ctr"/>
                    </a:tc>
                    <a:tc>
                      <a:txBody>
                        <a:bodyPr/>
                        <a:lstStyle/>
                        <a:p>
                          <a:pPr>
                            <a:buNone/>
                          </a:pPr>
                          <a:r>
                            <a:rPr lang="en-US"/>
                            <a:t>Predicted value</a:t>
                          </a:r>
                        </a:p>
                      </a:txBody>
                      <a:tcPr anchor="ctr"/>
                    </a:tc>
                    <a:extLst>
                      <a:ext uri="{0D108BD9-81ED-4DB2-BD59-A6C34878D82A}">
                        <a16:rowId xmlns:a16="http://schemas.microsoft.com/office/drawing/2014/main" val="3688793245"/>
                      </a:ext>
                    </a:extLst>
                  </a:tr>
                  <a:tr h="0">
                    <a:tc>
                      <a:txBody>
                        <a:bodyPr/>
                        <a:lstStyle/>
                        <a:p>
                          <a:pPr>
                            <a:buNone/>
                          </a:pPr>
                          <a14:m>
                            <m:oMathPara xmlns:m="http://schemas.openxmlformats.org/officeDocument/2006/math">
                              <m:oMath>
                                <m:sSub>
                                  <m:sSubPr>
                                    <m:ctrlPr>
                                      <a:rPr lang="el-GR" sz="1800" i="1" smtClean="0">
                                        <a:latin typeface="Cambria Math" panose="02040503050406030204" pitchFamily="18" charset="0"/>
                                        <a:ea typeface="Cambria Math" panose="02040503050406030204" pitchFamily="18" charset="0"/>
                                      </a:rPr>
                                    </m:ctrlPr>
                                  </m:sSubPr>
                                  <m:e>
                                    <m:r>
                                      <m:rPr>
                                        <m:sty m:val="p"/>
                                      </m:rPr>
                                      <a:rPr lang="el-GR" sz="1800" i="1" smtClean="0">
                                        <a:latin typeface="Cambria Math" panose="02040503050406030204" pitchFamily="18" charset="0"/>
                                        <a:ea typeface="Cambria Math" panose="02040503050406030204" pitchFamily="18" charset="0"/>
                                      </a:rPr>
                                      <m:t>β</m:t>
                                    </m:r>
                                  </m:e>
                                  <m:sub>
                                    <m:r>
                                      <a:rPr lang="en-US" sz="1800" b="0" i="1" smtClean="0">
                                        <a:latin typeface="Cambria Math" panose="02040503050406030204" pitchFamily="18" charset="0"/>
                                        <a:ea typeface="Cambria Math" panose="02040503050406030204" pitchFamily="18" charset="0"/>
                                      </a:rPr>
                                      <m:t>𝑗</m:t>
                                    </m:r>
                                  </m:sub>
                                </m:sSub>
                              </m:oMath>
                            </m:oMathPara>
                          </a14:m>
                          <a:endParaRPr lang="en-US" dirty="0"/>
                        </a:p>
                      </a:txBody>
                      <a:tcPr anchor="ctr"/>
                    </a:tc>
                    <a:tc>
                      <a:txBody>
                        <a:bodyPr/>
                        <a:lstStyle/>
                        <a:p>
                          <a:pPr>
                            <a:buNone/>
                          </a:pPr>
                          <a:r>
                            <a:rPr lang="en-US" dirty="0"/>
                            <a:t>Coefficient for predictor j</a:t>
                          </a:r>
                        </a:p>
                      </a:txBody>
                      <a:tcPr anchor="ctr"/>
                    </a:tc>
                    <a:extLst>
                      <a:ext uri="{0D108BD9-81ED-4DB2-BD59-A6C34878D82A}">
                        <a16:rowId xmlns:a16="http://schemas.microsoft.com/office/drawing/2014/main" val="1488915636"/>
                      </a:ext>
                    </a:extLst>
                  </a:tr>
                  <a:tr h="0">
                    <a:tc>
                      <a:txBody>
                        <a:bodyPr/>
                        <a:lstStyle/>
                        <a:p>
                          <a:pPr algn="ctr">
                            <a:buNone/>
                          </a:pPr>
                          <a:r>
                            <a:rPr lang="en-US" sz="1800" dirty="0">
                              <a:latin typeface="Cambria Math" panose="02040503050406030204" pitchFamily="18" charset="0"/>
                              <a:ea typeface="Cambria Math" panose="02040503050406030204" pitchFamily="18" charset="0"/>
                            </a:rPr>
                            <a:t>𝝀 or </a:t>
                          </a:r>
                          <a:r>
                            <a:rPr lang="el-GR" sz="1800" dirty="0">
                              <a:latin typeface="Cambria Math" panose="02040503050406030204" pitchFamily="18" charset="0"/>
                              <a:ea typeface="Cambria Math" panose="02040503050406030204" pitchFamily="18" charset="0"/>
                            </a:rPr>
                            <a:t>α</a:t>
                          </a:r>
                          <a:endParaRPr lang="en-US" dirty="0"/>
                        </a:p>
                      </a:txBody>
                      <a:tcPr anchor="ctr"/>
                    </a:tc>
                    <a:tc>
                      <a:txBody>
                        <a:bodyPr/>
                        <a:lstStyle/>
                        <a:p>
                          <a:pPr>
                            <a:buNone/>
                          </a:pPr>
                          <a:r>
                            <a:rPr lang="en-US"/>
                            <a:t>Penalty strength (called alpha in scikit-learn)</a:t>
                          </a:r>
                        </a:p>
                      </a:txBody>
                      <a:tcPr anchor="ctr"/>
                    </a:tc>
                    <a:extLst>
                      <a:ext uri="{0D108BD9-81ED-4DB2-BD59-A6C34878D82A}">
                        <a16:rowId xmlns:a16="http://schemas.microsoft.com/office/drawing/2014/main" val="2814164113"/>
                      </a:ext>
                    </a:extLst>
                  </a:tr>
                  <a:tr h="0">
                    <a:tc>
                      <a:txBody>
                        <a:bodyPr/>
                        <a:lstStyle/>
                        <a:p>
                          <a:pPr algn="ctr">
                            <a:buNone/>
                          </a:pPr>
                          <a:r>
                            <a:rPr lang="en-US" dirty="0"/>
                            <a:t>n</a:t>
                          </a:r>
                        </a:p>
                      </a:txBody>
                      <a:tcPr anchor="ctr"/>
                    </a:tc>
                    <a:tc>
                      <a:txBody>
                        <a:bodyPr/>
                        <a:lstStyle/>
                        <a:p>
                          <a:pPr>
                            <a:buNone/>
                          </a:pPr>
                          <a:r>
                            <a:rPr lang="en-US"/>
                            <a:t>Number of observations</a:t>
                          </a:r>
                        </a:p>
                      </a:txBody>
                      <a:tcPr anchor="ctr"/>
                    </a:tc>
                    <a:extLst>
                      <a:ext uri="{0D108BD9-81ED-4DB2-BD59-A6C34878D82A}">
                        <a16:rowId xmlns:a16="http://schemas.microsoft.com/office/drawing/2014/main" val="1606104726"/>
                      </a:ext>
                    </a:extLst>
                  </a:tr>
                  <a:tr h="0">
                    <a:tc>
                      <a:txBody>
                        <a:bodyPr/>
                        <a:lstStyle/>
                        <a:p>
                          <a:pPr algn="ctr">
                            <a:buNone/>
                          </a:pPr>
                          <a:r>
                            <a:rPr lang="en-US" dirty="0"/>
                            <a:t>p</a:t>
                          </a:r>
                        </a:p>
                      </a:txBody>
                      <a:tcPr anchor="ctr"/>
                    </a:tc>
                    <a:tc>
                      <a:txBody>
                        <a:bodyPr/>
                        <a:lstStyle/>
                        <a:p>
                          <a:pPr>
                            <a:buNone/>
                          </a:pPr>
                          <a:r>
                            <a:rPr lang="en-US" dirty="0"/>
                            <a:t>Number of predictors</a:t>
                          </a:r>
                        </a:p>
                      </a:txBody>
                      <a:tcPr anchor="ctr"/>
                    </a:tc>
                    <a:extLst>
                      <a:ext uri="{0D108BD9-81ED-4DB2-BD59-A6C34878D82A}">
                        <a16:rowId xmlns:a16="http://schemas.microsoft.com/office/drawing/2014/main" val="320143670"/>
                      </a:ext>
                    </a:extLst>
                  </a:tr>
                </a:tbl>
              </a:graphicData>
            </a:graphic>
          </p:graphicFrame>
        </mc:Choice>
        <mc:Fallback>
          <p:graphicFrame>
            <p:nvGraphicFramePr>
              <p:cNvPr id="2" name="Table 1">
                <a:extLst>
                  <a:ext uri="{FF2B5EF4-FFF2-40B4-BE49-F238E27FC236}">
                    <a16:creationId xmlns:a16="http://schemas.microsoft.com/office/drawing/2014/main" id="{32A91011-A6D4-AC13-C1F7-E904CEAA6F31}"/>
                  </a:ext>
                </a:extLst>
              </p:cNvPr>
              <p:cNvGraphicFramePr>
                <a:graphicFrameLocks noGrp="1"/>
              </p:cNvGraphicFramePr>
              <p:nvPr>
                <p:extLst>
                  <p:ext uri="{D42A27DB-BD31-4B8C-83A1-F6EECF244321}">
                    <p14:modId xmlns:p14="http://schemas.microsoft.com/office/powerpoint/2010/main" val="3790432520"/>
                  </p:ext>
                </p:extLst>
              </p:nvPr>
            </p:nvGraphicFramePr>
            <p:xfrm>
              <a:off x="1333500" y="1286034"/>
              <a:ext cx="9486900" cy="2582418"/>
            </p:xfrm>
            <a:graphic>
              <a:graphicData uri="http://schemas.openxmlformats.org/drawingml/2006/table">
                <a:tbl>
                  <a:tblPr>
                    <a:tableStyleId>{5C22544A-7EE6-4342-B048-85BDC9FD1C3A}</a:tableStyleId>
                  </a:tblPr>
                  <a:tblGrid>
                    <a:gridCol w="3543300">
                      <a:extLst>
                        <a:ext uri="{9D8B030D-6E8A-4147-A177-3AD203B41FA5}">
                          <a16:colId xmlns:a16="http://schemas.microsoft.com/office/drawing/2014/main" val="2512220543"/>
                        </a:ext>
                      </a:extLst>
                    </a:gridCol>
                    <a:gridCol w="5943600">
                      <a:extLst>
                        <a:ext uri="{9D8B030D-6E8A-4147-A177-3AD203B41FA5}">
                          <a16:colId xmlns:a16="http://schemas.microsoft.com/office/drawing/2014/main" val="1950059594"/>
                        </a:ext>
                      </a:extLst>
                    </a:gridCol>
                  </a:tblGrid>
                  <a:tr h="365760">
                    <a:tc>
                      <a:txBody>
                        <a:bodyPr/>
                        <a:lstStyle/>
                        <a:p>
                          <a:pPr>
                            <a:buNone/>
                          </a:pPr>
                          <a:r>
                            <a:rPr lang="en-US" dirty="0"/>
                            <a:t>Symbol</a:t>
                          </a:r>
                        </a:p>
                      </a:txBody>
                      <a:tcPr anchor="ctr">
                        <a:solidFill>
                          <a:schemeClr val="accent1">
                            <a:lumMod val="20000"/>
                            <a:lumOff val="80000"/>
                          </a:schemeClr>
                        </a:solidFill>
                      </a:tcPr>
                    </a:tc>
                    <a:tc>
                      <a:txBody>
                        <a:bodyPr/>
                        <a:lstStyle/>
                        <a:p>
                          <a:pPr>
                            <a:buNone/>
                          </a:pPr>
                          <a:r>
                            <a:rPr lang="en-US" dirty="0"/>
                            <a:t>Meaning</a:t>
                          </a:r>
                        </a:p>
                      </a:txBody>
                      <a:tcPr anchor="ctr">
                        <a:solidFill>
                          <a:schemeClr val="accent1">
                            <a:lumMod val="20000"/>
                            <a:lumOff val="80000"/>
                          </a:schemeClr>
                        </a:solidFill>
                      </a:tcPr>
                    </a:tc>
                    <a:extLst>
                      <a:ext uri="{0D108BD9-81ED-4DB2-BD59-A6C34878D82A}">
                        <a16:rowId xmlns:a16="http://schemas.microsoft.com/office/drawing/2014/main" val="1498744877"/>
                      </a:ext>
                    </a:extLst>
                  </a:tr>
                  <a:tr h="365760">
                    <a:tc>
                      <a:txBody>
                        <a:bodyPr/>
                        <a:lstStyle/>
                        <a:p>
                          <a:endParaRPr lang="en-US"/>
                        </a:p>
                      </a:txBody>
                      <a:tcPr anchor="ctr">
                        <a:blipFill>
                          <a:blip r:embed="rId2"/>
                          <a:stretch>
                            <a:fillRect l="-172" t="-106667" r="-168041" b="-536667"/>
                          </a:stretch>
                        </a:blipFill>
                      </a:tcPr>
                    </a:tc>
                    <a:tc>
                      <a:txBody>
                        <a:bodyPr/>
                        <a:lstStyle/>
                        <a:p>
                          <a:pPr>
                            <a:buNone/>
                          </a:pPr>
                          <a:r>
                            <a:rPr lang="en-US"/>
                            <a:t>Actual value</a:t>
                          </a:r>
                        </a:p>
                      </a:txBody>
                      <a:tcPr anchor="ctr"/>
                    </a:tc>
                    <a:extLst>
                      <a:ext uri="{0D108BD9-81ED-4DB2-BD59-A6C34878D82A}">
                        <a16:rowId xmlns:a16="http://schemas.microsoft.com/office/drawing/2014/main" val="109882403"/>
                      </a:ext>
                    </a:extLst>
                  </a:tr>
                  <a:tr h="365760">
                    <a:tc>
                      <a:txBody>
                        <a:bodyPr/>
                        <a:lstStyle/>
                        <a:p>
                          <a:endParaRPr lang="en-US"/>
                        </a:p>
                      </a:txBody>
                      <a:tcPr anchor="ctr">
                        <a:blipFill>
                          <a:blip r:embed="rId2"/>
                          <a:stretch>
                            <a:fillRect l="-172" t="-203279" r="-168041" b="-427869"/>
                          </a:stretch>
                        </a:blipFill>
                      </a:tcPr>
                    </a:tc>
                    <a:tc>
                      <a:txBody>
                        <a:bodyPr/>
                        <a:lstStyle/>
                        <a:p>
                          <a:pPr>
                            <a:buNone/>
                          </a:pPr>
                          <a:r>
                            <a:rPr lang="en-US"/>
                            <a:t>Predicted value</a:t>
                          </a:r>
                        </a:p>
                      </a:txBody>
                      <a:tcPr anchor="ctr"/>
                    </a:tc>
                    <a:extLst>
                      <a:ext uri="{0D108BD9-81ED-4DB2-BD59-A6C34878D82A}">
                        <a16:rowId xmlns:a16="http://schemas.microsoft.com/office/drawing/2014/main" val="3688793245"/>
                      </a:ext>
                    </a:extLst>
                  </a:tr>
                  <a:tr h="387858">
                    <a:tc>
                      <a:txBody>
                        <a:bodyPr/>
                        <a:lstStyle/>
                        <a:p>
                          <a:endParaRPr lang="en-US"/>
                        </a:p>
                      </a:txBody>
                      <a:tcPr anchor="ctr">
                        <a:blipFill>
                          <a:blip r:embed="rId2"/>
                          <a:stretch>
                            <a:fillRect l="-172" t="-293651" r="-168041" b="-314286"/>
                          </a:stretch>
                        </a:blipFill>
                      </a:tcPr>
                    </a:tc>
                    <a:tc>
                      <a:txBody>
                        <a:bodyPr/>
                        <a:lstStyle/>
                        <a:p>
                          <a:pPr>
                            <a:buNone/>
                          </a:pPr>
                          <a:r>
                            <a:rPr lang="en-US" dirty="0"/>
                            <a:t>Coefficient for predictor j</a:t>
                          </a:r>
                        </a:p>
                      </a:txBody>
                      <a:tcPr anchor="ctr"/>
                    </a:tc>
                    <a:extLst>
                      <a:ext uri="{0D108BD9-81ED-4DB2-BD59-A6C34878D82A}">
                        <a16:rowId xmlns:a16="http://schemas.microsoft.com/office/drawing/2014/main" val="1488915636"/>
                      </a:ext>
                    </a:extLst>
                  </a:tr>
                  <a:tr h="365760">
                    <a:tc>
                      <a:txBody>
                        <a:bodyPr/>
                        <a:lstStyle/>
                        <a:p>
                          <a:pPr algn="ctr">
                            <a:buNone/>
                          </a:pPr>
                          <a:r>
                            <a:rPr lang="en-US" sz="1800" dirty="0">
                              <a:latin typeface="Cambria Math" panose="02040503050406030204" pitchFamily="18" charset="0"/>
                              <a:ea typeface="Cambria Math" panose="02040503050406030204" pitchFamily="18" charset="0"/>
                            </a:rPr>
                            <a:t>𝝀 or </a:t>
                          </a:r>
                          <a:r>
                            <a:rPr lang="el-GR" sz="1800" dirty="0">
                              <a:latin typeface="Cambria Math" panose="02040503050406030204" pitchFamily="18" charset="0"/>
                              <a:ea typeface="Cambria Math" panose="02040503050406030204" pitchFamily="18" charset="0"/>
                            </a:rPr>
                            <a:t>α</a:t>
                          </a:r>
                          <a:endParaRPr lang="en-US" dirty="0"/>
                        </a:p>
                      </a:txBody>
                      <a:tcPr anchor="ctr"/>
                    </a:tc>
                    <a:tc>
                      <a:txBody>
                        <a:bodyPr/>
                        <a:lstStyle/>
                        <a:p>
                          <a:pPr>
                            <a:buNone/>
                          </a:pPr>
                          <a:r>
                            <a:rPr lang="en-US"/>
                            <a:t>Penalty strength (called alpha in scikit-learn)</a:t>
                          </a:r>
                        </a:p>
                      </a:txBody>
                      <a:tcPr anchor="ctr"/>
                    </a:tc>
                    <a:extLst>
                      <a:ext uri="{0D108BD9-81ED-4DB2-BD59-A6C34878D82A}">
                        <a16:rowId xmlns:a16="http://schemas.microsoft.com/office/drawing/2014/main" val="2814164113"/>
                      </a:ext>
                    </a:extLst>
                  </a:tr>
                  <a:tr h="365760">
                    <a:tc>
                      <a:txBody>
                        <a:bodyPr/>
                        <a:lstStyle/>
                        <a:p>
                          <a:pPr algn="ctr">
                            <a:buNone/>
                          </a:pPr>
                          <a:r>
                            <a:rPr lang="en-US" dirty="0"/>
                            <a:t>n</a:t>
                          </a:r>
                        </a:p>
                      </a:txBody>
                      <a:tcPr anchor="ctr"/>
                    </a:tc>
                    <a:tc>
                      <a:txBody>
                        <a:bodyPr/>
                        <a:lstStyle/>
                        <a:p>
                          <a:pPr>
                            <a:buNone/>
                          </a:pPr>
                          <a:r>
                            <a:rPr lang="en-US"/>
                            <a:t>Number of observations</a:t>
                          </a:r>
                        </a:p>
                      </a:txBody>
                      <a:tcPr anchor="ctr"/>
                    </a:tc>
                    <a:extLst>
                      <a:ext uri="{0D108BD9-81ED-4DB2-BD59-A6C34878D82A}">
                        <a16:rowId xmlns:a16="http://schemas.microsoft.com/office/drawing/2014/main" val="1606104726"/>
                      </a:ext>
                    </a:extLst>
                  </a:tr>
                  <a:tr h="365760">
                    <a:tc>
                      <a:txBody>
                        <a:bodyPr/>
                        <a:lstStyle/>
                        <a:p>
                          <a:pPr algn="ctr">
                            <a:buNone/>
                          </a:pPr>
                          <a:r>
                            <a:rPr lang="en-US" dirty="0"/>
                            <a:t>p</a:t>
                          </a:r>
                        </a:p>
                      </a:txBody>
                      <a:tcPr anchor="ctr"/>
                    </a:tc>
                    <a:tc>
                      <a:txBody>
                        <a:bodyPr/>
                        <a:lstStyle/>
                        <a:p>
                          <a:pPr>
                            <a:buNone/>
                          </a:pPr>
                          <a:r>
                            <a:rPr lang="en-US" dirty="0"/>
                            <a:t>Number of predictors</a:t>
                          </a:r>
                        </a:p>
                      </a:txBody>
                      <a:tcPr anchor="ctr"/>
                    </a:tc>
                    <a:extLst>
                      <a:ext uri="{0D108BD9-81ED-4DB2-BD59-A6C34878D82A}">
                        <a16:rowId xmlns:a16="http://schemas.microsoft.com/office/drawing/2014/main" val="320143670"/>
                      </a:ext>
                    </a:extLst>
                  </a:tr>
                </a:tbl>
              </a:graphicData>
            </a:graphic>
          </p:graphicFrame>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46F3645-ADEC-53E1-F78B-3E31664BE40C}"/>
                  </a:ext>
                </a:extLst>
              </p:cNvPr>
              <p:cNvSpPr txBox="1"/>
              <p:nvPr/>
            </p:nvSpPr>
            <p:spPr>
              <a:xfrm>
                <a:off x="698500" y="4060736"/>
                <a:ext cx="10756900" cy="2465611"/>
              </a:xfrm>
              <a:prstGeom prst="rect">
                <a:avLst/>
              </a:prstGeom>
              <a:noFill/>
            </p:spPr>
            <p:txBody>
              <a:bodyPr wrap="square">
                <a:spAutoFit/>
              </a:bodyPr>
              <a:lstStyle/>
              <a:p>
                <a:pPr>
                  <a:buNone/>
                </a:pPr>
                <a:r>
                  <a:rPr lang="en-US" sz="2000" dirty="0"/>
                  <a:t>- RSS adds all squared prediction errors; Mean Squared Error (MSE) divides that total by the number of observations.</a:t>
                </a:r>
              </a:p>
              <a:p>
                <a:pPr>
                  <a:buNone/>
                </a:pPr>
                <a:endParaRPr lang="en-US" sz="2000" dirty="0"/>
              </a:p>
              <a:p>
                <a:pPr>
                  <a:buNone/>
                </a:pPr>
                <a:r>
                  <a:rPr lang="en-US" sz="2000" dirty="0"/>
                  <a:t>- Both measure prediction error, but </a:t>
                </a:r>
                <a:r>
                  <a:rPr lang="en-US" sz="2000" dirty="0">
                    <a:solidFill>
                      <a:schemeClr val="accent5"/>
                    </a:solidFill>
                  </a:rPr>
                  <a:t>MSE is easier to compare across datasets with different numbers of observations.</a:t>
                </a:r>
              </a:p>
              <a:p>
                <a:pPr>
                  <a:buNone/>
                </a:pPr>
                <a:endParaRPr lang="en-US" sz="2000" dirty="0"/>
              </a:p>
              <a:p>
                <a:pPr algn="ctr">
                  <a:buNone/>
                </a:pPr>
                <a:r>
                  <a:rPr lang="en-US" sz="2400" dirty="0"/>
                  <a:t>MSE =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𝑛</m:t>
                        </m:r>
                      </m:den>
                    </m:f>
                  </m:oMath>
                </a14:m>
                <a:r>
                  <a:rPr lang="en-US" sz="2400" dirty="0"/>
                  <a:t> </a:t>
                </a:r>
                <a14:m>
                  <m:oMath xmlns:m="http://schemas.openxmlformats.org/officeDocument/2006/math">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m:rPr>
                            <m:brk m:alnAt="23"/>
                          </m:rPr>
                          <a:rPr lang="en-US" sz="2400" i="1">
                            <a:latin typeface="Cambria Math" panose="02040503050406030204" pitchFamily="18" charset="0"/>
                          </a:rPr>
                          <m:t>=</m:t>
                        </m:r>
                        <m:r>
                          <m:rPr>
                            <m:brk m:alnAt="23"/>
                          </m:rPr>
                          <a:rPr lang="en-US" sz="2400" i="1">
                            <a:latin typeface="Cambria Math" panose="02040503050406030204" pitchFamily="18" charset="0"/>
                          </a:rPr>
                          <m:t>1</m:t>
                        </m:r>
                      </m:sub>
                      <m:sup>
                        <m:r>
                          <a:rPr lang="en-US" sz="2400" i="1">
                            <a:latin typeface="Cambria Math" panose="02040503050406030204" pitchFamily="18" charset="0"/>
                          </a:rPr>
                          <m:t>𝑛</m:t>
                        </m:r>
                      </m:sup>
                      <m:e>
                        <m:sSup>
                          <m:sSupPr>
                            <m:ctrlPr>
                              <a:rPr lang="en-US" sz="2400" i="1">
                                <a:latin typeface="Cambria Math" panose="02040503050406030204" pitchFamily="18" charset="0"/>
                              </a:rPr>
                            </m:ctrlPr>
                          </m:sSupPr>
                          <m:e>
                            <m:r>
                              <a:rPr lang="en-US" sz="2400" i="1">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𝑖</m:t>
                                </m:r>
                              </m:sub>
                            </m:sSub>
                            <m:r>
                              <a:rPr lang="en-US" sz="2400" i="1">
                                <a:latin typeface="Cambria Math" panose="02040503050406030204" pitchFamily="18" charset="0"/>
                              </a:rPr>
                              <m:t>− </m:t>
                            </m:r>
                            <m:acc>
                              <m:accPr>
                                <m:chr m:val="̂"/>
                                <m:ctrlPr>
                                  <a:rPr lang="en-US" sz="2400" i="1">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𝑖</m:t>
                                    </m:r>
                                  </m:sub>
                                </m:sSub>
                              </m:e>
                            </m:acc>
                            <m:r>
                              <a:rPr lang="en-US" sz="2400" i="1">
                                <a:latin typeface="Cambria Math" panose="02040503050406030204" pitchFamily="18" charset="0"/>
                              </a:rPr>
                              <m:t>)</m:t>
                            </m:r>
                          </m:e>
                          <m:sup>
                            <m:r>
                              <a:rPr lang="en-US" sz="2400" i="1">
                                <a:latin typeface="Cambria Math" panose="02040503050406030204" pitchFamily="18" charset="0"/>
                              </a:rPr>
                              <m:t>2</m:t>
                            </m:r>
                          </m:sup>
                        </m:sSup>
                      </m:e>
                    </m:nary>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𝑅𝑆𝑆</m:t>
                        </m:r>
                      </m:num>
                      <m:den>
                        <m:r>
                          <a:rPr lang="en-US" sz="2400" b="0" i="1" smtClean="0">
                            <a:latin typeface="Cambria Math" panose="02040503050406030204" pitchFamily="18" charset="0"/>
                          </a:rPr>
                          <m:t>𝑛</m:t>
                        </m:r>
                      </m:den>
                    </m:f>
                  </m:oMath>
                </a14:m>
                <a:endParaRPr lang="en-US" sz="2400" dirty="0"/>
              </a:p>
            </p:txBody>
          </p:sp>
        </mc:Choice>
        <mc:Fallback>
          <p:sp>
            <p:nvSpPr>
              <p:cNvPr id="4" name="TextBox 3">
                <a:extLst>
                  <a:ext uri="{FF2B5EF4-FFF2-40B4-BE49-F238E27FC236}">
                    <a16:creationId xmlns:a16="http://schemas.microsoft.com/office/drawing/2014/main" id="{446F3645-ADEC-53E1-F78B-3E31664BE40C}"/>
                  </a:ext>
                </a:extLst>
              </p:cNvPr>
              <p:cNvSpPr txBox="1">
                <a:spLocks noRot="1" noChangeAspect="1" noMove="1" noResize="1" noEditPoints="1" noAdjustHandles="1" noChangeArrowheads="1" noChangeShapeType="1" noTextEdit="1"/>
              </p:cNvSpPr>
              <p:nvPr/>
            </p:nvSpPr>
            <p:spPr>
              <a:xfrm>
                <a:off x="698500" y="4060736"/>
                <a:ext cx="10756900" cy="2465611"/>
              </a:xfrm>
              <a:prstGeom prst="rect">
                <a:avLst/>
              </a:prstGeom>
              <a:blipFill>
                <a:blip r:embed="rId3"/>
                <a:stretch>
                  <a:fillRect l="-624" t="-1235" b="-1728"/>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6E9C1AC6-9F3D-D1D3-136F-A523F0B88960}"/>
              </a:ext>
            </a:extLst>
          </p:cNvPr>
          <p:cNvSpPr txBox="1"/>
          <p:nvPr/>
        </p:nvSpPr>
        <p:spPr>
          <a:xfrm>
            <a:off x="431800" y="331653"/>
            <a:ext cx="11684000" cy="584775"/>
          </a:xfrm>
          <a:prstGeom prst="rect">
            <a:avLst/>
          </a:prstGeom>
          <a:noFill/>
        </p:spPr>
        <p:txBody>
          <a:bodyPr wrap="square">
            <a:spAutoFit/>
          </a:bodyPr>
          <a:lstStyle/>
          <a:p>
            <a:r>
              <a:rPr lang="en-US" sz="3200" dirty="0">
                <a:solidFill>
                  <a:schemeClr val="accent5"/>
                </a:solidFill>
              </a:rPr>
              <a:t>How do Linear Regression, Ridge, and Lasso minimize error?</a:t>
            </a:r>
          </a:p>
        </p:txBody>
      </p:sp>
    </p:spTree>
    <p:extLst>
      <p:ext uri="{BB962C8B-B14F-4D97-AF65-F5344CB8AC3E}">
        <p14:creationId xmlns:p14="http://schemas.microsoft.com/office/powerpoint/2010/main" val="2291304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2 · RIDGE AND LASSO</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Ridge regression (L2 penalty)</a:t>
            </a:r>
            <a:endParaRPr lang="en-US" sz="3000" dirty="0"/>
          </a:p>
        </p:txBody>
      </p:sp>
      <p:sp>
        <p:nvSpPr>
          <p:cNvPr id="4" name="Text 2"/>
          <p:cNvSpPr txBox="1"/>
          <p:nvPr/>
        </p:nvSpPr>
        <p:spPr>
          <a:xfrm>
            <a:off x="548640" y="1554480"/>
            <a:ext cx="5669280" cy="2926080"/>
          </a:xfrm>
          <a:prstGeom prst="rect">
            <a:avLst/>
          </a:prstGeom>
          <a:noFill/>
          <a:ln/>
        </p:spPr>
        <p:txBody>
          <a:bodyPr wrap="square" lIns="0" tIns="0" rIns="0" bIns="0" rtlCol="0" anchor="t"/>
          <a:lstStyle/>
          <a:p>
            <a:pPr marL="342900" indent="-342900">
              <a:spcAft>
                <a:spcPts val="800"/>
              </a:spcAft>
              <a:buSzPct val="100000"/>
              <a:buChar char="•"/>
            </a:pPr>
            <a:r>
              <a:rPr lang="en-US" dirty="0">
                <a:solidFill>
                  <a:schemeClr val="tx1"/>
                </a:solidFill>
              </a:rPr>
              <a:t>Penalty: the sum of the squared coefficients</a:t>
            </a:r>
            <a:endParaRPr lang="en-US" dirty="0"/>
          </a:p>
          <a:p>
            <a:pPr marL="342900" indent="-342900">
              <a:spcAft>
                <a:spcPts val="800"/>
              </a:spcAft>
              <a:buSzPct val="100000"/>
              <a:buChar char="•"/>
            </a:pPr>
            <a:r>
              <a:rPr lang="en-US" dirty="0">
                <a:solidFill>
                  <a:schemeClr val="tx1"/>
                </a:solidFill>
              </a:rPr>
              <a:t>Big coefficients are punished the most</a:t>
            </a:r>
            <a:endParaRPr lang="en-US" dirty="0"/>
          </a:p>
          <a:p>
            <a:pPr marL="342900" indent="-342900">
              <a:spcAft>
                <a:spcPts val="800"/>
              </a:spcAft>
              <a:buSzPct val="100000"/>
              <a:buChar char="•"/>
            </a:pPr>
            <a:r>
              <a:rPr lang="en-US" dirty="0">
                <a:solidFill>
                  <a:schemeClr val="tx1"/>
                </a:solidFill>
              </a:rPr>
              <a:t>Shrinks every coefficient toward 0, smoothly</a:t>
            </a:r>
            <a:endParaRPr lang="en-US" dirty="0"/>
          </a:p>
          <a:p>
            <a:pPr marL="342900" indent="-342900">
              <a:spcAft>
                <a:spcPts val="800"/>
              </a:spcAft>
              <a:buSzPct val="100000"/>
              <a:buChar char="•"/>
            </a:pPr>
            <a:r>
              <a:rPr lang="en-US" dirty="0">
                <a:solidFill>
                  <a:schemeClr val="tx1"/>
                </a:solidFill>
              </a:rPr>
              <a:t>No coefficient becomes exactly 0: every feature stays</a:t>
            </a:r>
            <a:endParaRPr lang="en-US" dirty="0"/>
          </a:p>
          <a:p>
            <a:pPr marL="342900" indent="-342900">
              <a:spcAft>
                <a:spcPts val="800"/>
              </a:spcAft>
              <a:buSzPct val="100000"/>
              <a:buChar char="•"/>
            </a:pPr>
            <a:r>
              <a:rPr lang="en-US" dirty="0">
                <a:solidFill>
                  <a:schemeClr val="tx1"/>
                </a:solidFill>
              </a:rPr>
              <a:t>Correlated features share the weight instead of fighting</a:t>
            </a:r>
            <a:endParaRPr lang="en-US" dirty="0"/>
          </a:p>
          <a:p>
            <a:pPr marL="342900" indent="-342900">
              <a:spcAft>
                <a:spcPts val="800"/>
              </a:spcAft>
              <a:buSzPct val="100000"/>
              <a:buChar char="•"/>
            </a:pPr>
            <a:r>
              <a:rPr lang="en-US" dirty="0">
                <a:solidFill>
                  <a:schemeClr val="tx1"/>
                </a:solidFill>
              </a:rPr>
              <a:t>Works well when many features each matter a little</a:t>
            </a:r>
            <a:endParaRPr lang="en-US" dirty="0"/>
          </a:p>
        </p:txBody>
      </p:sp>
      <p:sp>
        <p:nvSpPr>
          <p:cNvPr id="5" name="codebox_97"/>
          <p:cNvSpPr/>
          <p:nvPr/>
        </p:nvSpPr>
        <p:spPr>
          <a:xfrm>
            <a:off x="548640" y="4610100"/>
            <a:ext cx="5669280" cy="914400"/>
          </a:xfrm>
          <a:prstGeom prst="roundRect">
            <a:avLst>
              <a:gd name="adj" fmla="val 6000"/>
            </a:avLst>
          </a:prstGeom>
          <a:solidFill>
            <a:schemeClr val="tx1"/>
          </a:solidFill>
          <a:ln/>
        </p:spPr>
        <p:txBody>
          <a:bodyPr/>
          <a:lstStyle/>
          <a:p>
            <a:endParaRPr lang="en-US"/>
          </a:p>
        </p:txBody>
      </p:sp>
      <p:sp>
        <p:nvSpPr>
          <p:cNvPr id="6" name="code_98"/>
          <p:cNvSpPr txBox="1"/>
          <p:nvPr/>
        </p:nvSpPr>
        <p:spPr>
          <a:xfrm>
            <a:off x="731520" y="4663440"/>
            <a:ext cx="5303520" cy="731520"/>
          </a:xfrm>
          <a:prstGeom prst="rect">
            <a:avLst/>
          </a:prstGeom>
          <a:noFill/>
          <a:ln/>
        </p:spPr>
        <p:txBody>
          <a:bodyPr wrap="square" lIns="0" tIns="0" rIns="0" bIns="0" rtlCol="0" anchor="ctr"/>
          <a:lstStyle/>
          <a:p>
            <a:pPr marL="0" indent="0">
              <a:buNone/>
            </a:pPr>
            <a:r>
              <a:rPr lang="en-US" sz="1400" dirty="0">
                <a:solidFill>
                  <a:schemeClr val="bg1"/>
                </a:solidFill>
                <a:latin typeface="Courier New" pitchFamily="34" charset="0"/>
                <a:ea typeface="Courier New" pitchFamily="34" charset="-122"/>
                <a:cs typeface="Courier New" pitchFamily="34" charset="-120"/>
              </a:rPr>
              <a:t>from sklearn.linear_model import Ridge</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model = Ridge(alpha=1.0)</a:t>
            </a:r>
            <a:endParaRPr lang="en-US" sz="1400" dirty="0"/>
          </a:p>
        </p:txBody>
      </p:sp>
      <p:sp>
        <p:nvSpPr>
          <p:cNvPr id="7" name="txt_99"/>
          <p:cNvSpPr txBox="1"/>
          <p:nvPr/>
        </p:nvSpPr>
        <p:spPr>
          <a:xfrm>
            <a:off x="548640" y="6385560"/>
            <a:ext cx="5669280" cy="320040"/>
          </a:xfrm>
          <a:prstGeom prst="rect">
            <a:avLst/>
          </a:prstGeom>
          <a:noFill/>
          <a:ln/>
        </p:spPr>
        <p:txBody>
          <a:bodyPr wrap="square" lIns="0" tIns="0" rIns="0" bIns="0" rtlCol="0" anchor="t"/>
          <a:lstStyle/>
          <a:p>
            <a:pPr marL="0" indent="0">
              <a:buNone/>
            </a:pPr>
            <a:r>
              <a:rPr lang="en-US" sz="1400" dirty="0">
                <a:solidFill>
                  <a:schemeClr val="tx2"/>
                </a:solidFill>
              </a:rPr>
              <a:t>Larger alpha = stronger shrinkage.</a:t>
            </a:r>
            <a:endParaRPr lang="en-US" sz="1400" dirty="0"/>
          </a:p>
        </p:txBody>
      </p:sp>
      <p:sp>
        <p:nvSpPr>
          <p:cNvPr id="8" name="barpanel_100"/>
          <p:cNvSpPr/>
          <p:nvPr/>
        </p:nvSpPr>
        <p:spPr>
          <a:xfrm>
            <a:off x="6583680" y="1508760"/>
            <a:ext cx="5056632" cy="1920240"/>
          </a:xfrm>
          <a:prstGeom prst="roundRect">
            <a:avLst>
              <a:gd name="adj" fmla="val 3810"/>
            </a:avLst>
          </a:prstGeom>
          <a:solidFill>
            <a:schemeClr val="bg2"/>
          </a:solidFill>
          <a:ln/>
        </p:spPr>
        <p:txBody>
          <a:bodyPr/>
          <a:lstStyle/>
          <a:p>
            <a:endParaRPr lang="en-US"/>
          </a:p>
        </p:txBody>
      </p:sp>
      <p:sp>
        <p:nvSpPr>
          <p:cNvPr id="9" name="txt_101"/>
          <p:cNvSpPr txBox="1"/>
          <p:nvPr/>
        </p:nvSpPr>
        <p:spPr>
          <a:xfrm>
            <a:off x="6720840" y="1581912"/>
            <a:ext cx="4782312" cy="274320"/>
          </a:xfrm>
          <a:prstGeom prst="rect">
            <a:avLst/>
          </a:prstGeom>
          <a:noFill/>
          <a:ln/>
        </p:spPr>
        <p:txBody>
          <a:bodyPr wrap="square" lIns="0" tIns="0" rIns="0" bIns="0" rtlCol="0" anchor="t"/>
          <a:lstStyle/>
          <a:p>
            <a:pPr marL="0" indent="0">
              <a:buNone/>
            </a:pPr>
            <a:r>
              <a:rPr lang="en-US" sz="1400" b="1" dirty="0">
                <a:solidFill>
                  <a:schemeClr val="tx1"/>
                </a:solidFill>
              </a:rPr>
              <a:t>Least squares (illustrative)</a:t>
            </a:r>
            <a:endParaRPr lang="en-US" sz="1400" dirty="0"/>
          </a:p>
        </p:txBody>
      </p:sp>
      <p:sp>
        <p:nvSpPr>
          <p:cNvPr id="10" name="seg_102"/>
          <p:cNvSpPr/>
          <p:nvPr/>
        </p:nvSpPr>
        <p:spPr>
          <a:xfrm>
            <a:off x="6766560" y="2606040"/>
            <a:ext cx="4690872" cy="0"/>
          </a:xfrm>
          <a:prstGeom prst="line">
            <a:avLst/>
          </a:prstGeom>
          <a:noFill/>
          <a:ln w="12700">
            <a:solidFill>
              <a:schemeClr val="tx2"/>
            </a:solidFill>
            <a:prstDash val="solid"/>
          </a:ln>
        </p:spPr>
        <p:txBody>
          <a:bodyPr/>
          <a:lstStyle/>
          <a:p>
            <a:endParaRPr lang="en-US"/>
          </a:p>
        </p:txBody>
      </p:sp>
      <p:sp>
        <p:nvSpPr>
          <p:cNvPr id="11" name="bar_103"/>
          <p:cNvSpPr/>
          <p:nvPr/>
        </p:nvSpPr>
        <p:spPr>
          <a:xfrm>
            <a:off x="6995160" y="1903781"/>
            <a:ext cx="457200" cy="702259"/>
          </a:xfrm>
          <a:prstGeom prst="rect">
            <a:avLst/>
          </a:prstGeom>
          <a:solidFill>
            <a:srgbClr val="156082"/>
          </a:solidFill>
          <a:ln/>
        </p:spPr>
        <p:txBody>
          <a:bodyPr/>
          <a:lstStyle/>
          <a:p>
            <a:endParaRPr lang="en-US"/>
          </a:p>
        </p:txBody>
      </p:sp>
      <p:sp>
        <p:nvSpPr>
          <p:cNvPr id="12" name="txt_104"/>
          <p:cNvSpPr txBox="1"/>
          <p:nvPr/>
        </p:nvSpPr>
        <p:spPr>
          <a:xfrm>
            <a:off x="6995160" y="315468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x₁</a:t>
            </a:r>
            <a:endParaRPr lang="en-US" sz="1200" dirty="0"/>
          </a:p>
        </p:txBody>
      </p:sp>
      <p:sp>
        <p:nvSpPr>
          <p:cNvPr id="13" name="bar_105"/>
          <p:cNvSpPr/>
          <p:nvPr/>
        </p:nvSpPr>
        <p:spPr>
          <a:xfrm>
            <a:off x="7896758" y="2606040"/>
            <a:ext cx="457200" cy="526694"/>
          </a:xfrm>
          <a:prstGeom prst="rect">
            <a:avLst/>
          </a:prstGeom>
          <a:solidFill>
            <a:srgbClr val="156082"/>
          </a:solidFill>
          <a:ln/>
        </p:spPr>
        <p:txBody>
          <a:bodyPr/>
          <a:lstStyle/>
          <a:p>
            <a:endParaRPr lang="en-US"/>
          </a:p>
        </p:txBody>
      </p:sp>
      <p:sp>
        <p:nvSpPr>
          <p:cNvPr id="14" name="txt_106"/>
          <p:cNvSpPr txBox="1"/>
          <p:nvPr/>
        </p:nvSpPr>
        <p:spPr>
          <a:xfrm>
            <a:off x="7896758" y="315468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x₂</a:t>
            </a:r>
            <a:endParaRPr lang="en-US" sz="1200" dirty="0"/>
          </a:p>
        </p:txBody>
      </p:sp>
      <p:sp>
        <p:nvSpPr>
          <p:cNvPr id="15" name="bar_107"/>
          <p:cNvSpPr/>
          <p:nvPr/>
        </p:nvSpPr>
        <p:spPr>
          <a:xfrm>
            <a:off x="8798357" y="2254910"/>
            <a:ext cx="457200" cy="351130"/>
          </a:xfrm>
          <a:prstGeom prst="rect">
            <a:avLst/>
          </a:prstGeom>
          <a:solidFill>
            <a:srgbClr val="156082"/>
          </a:solidFill>
          <a:ln/>
        </p:spPr>
        <p:txBody>
          <a:bodyPr/>
          <a:lstStyle/>
          <a:p>
            <a:endParaRPr lang="en-US"/>
          </a:p>
        </p:txBody>
      </p:sp>
      <p:sp>
        <p:nvSpPr>
          <p:cNvPr id="16" name="txt_108"/>
          <p:cNvSpPr txBox="1"/>
          <p:nvPr/>
        </p:nvSpPr>
        <p:spPr>
          <a:xfrm>
            <a:off x="8798357" y="315468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x₃</a:t>
            </a:r>
            <a:endParaRPr lang="en-US" sz="1200" dirty="0"/>
          </a:p>
        </p:txBody>
      </p:sp>
      <p:sp>
        <p:nvSpPr>
          <p:cNvPr id="17" name="bar_109"/>
          <p:cNvSpPr/>
          <p:nvPr/>
        </p:nvSpPr>
        <p:spPr>
          <a:xfrm>
            <a:off x="9699955" y="2474366"/>
            <a:ext cx="457200" cy="131674"/>
          </a:xfrm>
          <a:prstGeom prst="rect">
            <a:avLst/>
          </a:prstGeom>
          <a:solidFill>
            <a:srgbClr val="156082"/>
          </a:solidFill>
          <a:ln/>
        </p:spPr>
        <p:txBody>
          <a:bodyPr/>
          <a:lstStyle/>
          <a:p>
            <a:endParaRPr lang="en-US"/>
          </a:p>
        </p:txBody>
      </p:sp>
      <p:sp>
        <p:nvSpPr>
          <p:cNvPr id="18" name="txt_110"/>
          <p:cNvSpPr txBox="1"/>
          <p:nvPr/>
        </p:nvSpPr>
        <p:spPr>
          <a:xfrm>
            <a:off x="9699955" y="315468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x₄</a:t>
            </a:r>
            <a:endParaRPr lang="en-US" sz="1200" dirty="0"/>
          </a:p>
        </p:txBody>
      </p:sp>
      <p:sp>
        <p:nvSpPr>
          <p:cNvPr id="19" name="bar_111"/>
          <p:cNvSpPr/>
          <p:nvPr/>
        </p:nvSpPr>
        <p:spPr>
          <a:xfrm>
            <a:off x="10601554" y="2606040"/>
            <a:ext cx="457200" cy="87782"/>
          </a:xfrm>
          <a:prstGeom prst="rect">
            <a:avLst/>
          </a:prstGeom>
          <a:solidFill>
            <a:srgbClr val="156082"/>
          </a:solidFill>
          <a:ln/>
        </p:spPr>
        <p:txBody>
          <a:bodyPr/>
          <a:lstStyle/>
          <a:p>
            <a:endParaRPr lang="en-US"/>
          </a:p>
        </p:txBody>
      </p:sp>
      <p:sp>
        <p:nvSpPr>
          <p:cNvPr id="20" name="txt_112"/>
          <p:cNvSpPr txBox="1"/>
          <p:nvPr/>
        </p:nvSpPr>
        <p:spPr>
          <a:xfrm>
            <a:off x="10601554" y="315468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x₅</a:t>
            </a:r>
            <a:endParaRPr lang="en-US" sz="1200" dirty="0"/>
          </a:p>
        </p:txBody>
      </p:sp>
      <p:sp>
        <p:nvSpPr>
          <p:cNvPr id="21" name="barpanel_113"/>
          <p:cNvSpPr/>
          <p:nvPr/>
        </p:nvSpPr>
        <p:spPr>
          <a:xfrm>
            <a:off x="6583680" y="3611880"/>
            <a:ext cx="5056632" cy="1920240"/>
          </a:xfrm>
          <a:prstGeom prst="roundRect">
            <a:avLst>
              <a:gd name="adj" fmla="val 3810"/>
            </a:avLst>
          </a:prstGeom>
          <a:solidFill>
            <a:schemeClr val="bg2"/>
          </a:solidFill>
          <a:ln/>
        </p:spPr>
        <p:txBody>
          <a:bodyPr/>
          <a:lstStyle/>
          <a:p>
            <a:endParaRPr lang="en-US"/>
          </a:p>
        </p:txBody>
      </p:sp>
      <p:sp>
        <p:nvSpPr>
          <p:cNvPr id="22" name="txt_114"/>
          <p:cNvSpPr txBox="1"/>
          <p:nvPr/>
        </p:nvSpPr>
        <p:spPr>
          <a:xfrm>
            <a:off x="6720840" y="3685032"/>
            <a:ext cx="4782312" cy="274320"/>
          </a:xfrm>
          <a:prstGeom prst="rect">
            <a:avLst/>
          </a:prstGeom>
          <a:noFill/>
          <a:ln/>
        </p:spPr>
        <p:txBody>
          <a:bodyPr wrap="square" lIns="0" tIns="0" rIns="0" bIns="0" rtlCol="0" anchor="t"/>
          <a:lstStyle/>
          <a:p>
            <a:pPr marL="0" indent="0">
              <a:buNone/>
            </a:pPr>
            <a:r>
              <a:rPr lang="en-US" sz="1400" b="1" dirty="0">
                <a:solidFill>
                  <a:schemeClr val="tx1"/>
                </a:solidFill>
              </a:rPr>
              <a:t>Ridge: every bar shrinks, none hits 0</a:t>
            </a:r>
            <a:endParaRPr lang="en-US" sz="1400" dirty="0"/>
          </a:p>
        </p:txBody>
      </p:sp>
      <p:sp>
        <p:nvSpPr>
          <p:cNvPr id="23" name="seg_115"/>
          <p:cNvSpPr/>
          <p:nvPr/>
        </p:nvSpPr>
        <p:spPr>
          <a:xfrm>
            <a:off x="6766560" y="4709160"/>
            <a:ext cx="4690872" cy="0"/>
          </a:xfrm>
          <a:prstGeom prst="line">
            <a:avLst/>
          </a:prstGeom>
          <a:noFill/>
          <a:ln w="12700">
            <a:solidFill>
              <a:schemeClr val="tx2"/>
            </a:solidFill>
            <a:prstDash val="solid"/>
          </a:ln>
        </p:spPr>
        <p:txBody>
          <a:bodyPr/>
          <a:lstStyle/>
          <a:p>
            <a:endParaRPr lang="en-US"/>
          </a:p>
        </p:txBody>
      </p:sp>
      <p:sp>
        <p:nvSpPr>
          <p:cNvPr id="24" name="bar_116"/>
          <p:cNvSpPr/>
          <p:nvPr/>
        </p:nvSpPr>
        <p:spPr>
          <a:xfrm>
            <a:off x="6995160" y="4287804"/>
            <a:ext cx="457200" cy="421356"/>
          </a:xfrm>
          <a:prstGeom prst="rect">
            <a:avLst/>
          </a:prstGeom>
          <a:solidFill>
            <a:srgbClr val="E97132"/>
          </a:solidFill>
          <a:ln/>
        </p:spPr>
        <p:txBody>
          <a:bodyPr/>
          <a:lstStyle/>
          <a:p>
            <a:endParaRPr lang="en-US"/>
          </a:p>
        </p:txBody>
      </p:sp>
      <p:sp>
        <p:nvSpPr>
          <p:cNvPr id="25" name="txt_117"/>
          <p:cNvSpPr txBox="1"/>
          <p:nvPr/>
        </p:nvSpPr>
        <p:spPr>
          <a:xfrm>
            <a:off x="6995160" y="525780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x₁</a:t>
            </a:r>
            <a:endParaRPr lang="en-US" sz="1200" dirty="0"/>
          </a:p>
        </p:txBody>
      </p:sp>
      <p:sp>
        <p:nvSpPr>
          <p:cNvPr id="26" name="bar_118"/>
          <p:cNvSpPr/>
          <p:nvPr/>
        </p:nvSpPr>
        <p:spPr>
          <a:xfrm>
            <a:off x="7896758" y="4709160"/>
            <a:ext cx="457200" cy="316017"/>
          </a:xfrm>
          <a:prstGeom prst="rect">
            <a:avLst/>
          </a:prstGeom>
          <a:solidFill>
            <a:srgbClr val="E97132"/>
          </a:solidFill>
          <a:ln/>
        </p:spPr>
        <p:txBody>
          <a:bodyPr/>
          <a:lstStyle/>
          <a:p>
            <a:endParaRPr lang="en-US"/>
          </a:p>
        </p:txBody>
      </p:sp>
      <p:sp>
        <p:nvSpPr>
          <p:cNvPr id="27" name="txt_119"/>
          <p:cNvSpPr txBox="1"/>
          <p:nvPr/>
        </p:nvSpPr>
        <p:spPr>
          <a:xfrm>
            <a:off x="7896758" y="525780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x₂</a:t>
            </a:r>
            <a:endParaRPr lang="en-US" sz="1200" dirty="0"/>
          </a:p>
        </p:txBody>
      </p:sp>
      <p:sp>
        <p:nvSpPr>
          <p:cNvPr id="28" name="bar_120"/>
          <p:cNvSpPr/>
          <p:nvPr/>
        </p:nvSpPr>
        <p:spPr>
          <a:xfrm>
            <a:off x="8798357" y="4498482"/>
            <a:ext cx="457200" cy="210678"/>
          </a:xfrm>
          <a:prstGeom prst="rect">
            <a:avLst/>
          </a:prstGeom>
          <a:solidFill>
            <a:srgbClr val="E97132"/>
          </a:solidFill>
          <a:ln/>
        </p:spPr>
        <p:txBody>
          <a:bodyPr/>
          <a:lstStyle/>
          <a:p>
            <a:endParaRPr lang="en-US"/>
          </a:p>
        </p:txBody>
      </p:sp>
      <p:sp>
        <p:nvSpPr>
          <p:cNvPr id="29" name="txt_121"/>
          <p:cNvSpPr txBox="1"/>
          <p:nvPr/>
        </p:nvSpPr>
        <p:spPr>
          <a:xfrm>
            <a:off x="8798357" y="525780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x₃</a:t>
            </a:r>
            <a:endParaRPr lang="en-US" sz="1200" dirty="0"/>
          </a:p>
        </p:txBody>
      </p:sp>
      <p:sp>
        <p:nvSpPr>
          <p:cNvPr id="30" name="bar_122"/>
          <p:cNvSpPr/>
          <p:nvPr/>
        </p:nvSpPr>
        <p:spPr>
          <a:xfrm>
            <a:off x="9699955" y="4630156"/>
            <a:ext cx="457200" cy="79004"/>
          </a:xfrm>
          <a:prstGeom prst="rect">
            <a:avLst/>
          </a:prstGeom>
          <a:solidFill>
            <a:srgbClr val="E97132"/>
          </a:solidFill>
          <a:ln/>
        </p:spPr>
        <p:txBody>
          <a:bodyPr/>
          <a:lstStyle/>
          <a:p>
            <a:endParaRPr lang="en-US"/>
          </a:p>
        </p:txBody>
      </p:sp>
      <p:sp>
        <p:nvSpPr>
          <p:cNvPr id="31" name="txt_123"/>
          <p:cNvSpPr txBox="1"/>
          <p:nvPr/>
        </p:nvSpPr>
        <p:spPr>
          <a:xfrm>
            <a:off x="9699955" y="525780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x₄</a:t>
            </a:r>
            <a:endParaRPr lang="en-US" sz="1200" dirty="0"/>
          </a:p>
        </p:txBody>
      </p:sp>
      <p:sp>
        <p:nvSpPr>
          <p:cNvPr id="32" name="bar_124"/>
          <p:cNvSpPr/>
          <p:nvPr/>
        </p:nvSpPr>
        <p:spPr>
          <a:xfrm>
            <a:off x="10601554" y="4709160"/>
            <a:ext cx="457200" cy="52669"/>
          </a:xfrm>
          <a:prstGeom prst="rect">
            <a:avLst/>
          </a:prstGeom>
          <a:solidFill>
            <a:srgbClr val="E97132"/>
          </a:solidFill>
          <a:ln/>
        </p:spPr>
        <p:txBody>
          <a:bodyPr/>
          <a:lstStyle/>
          <a:p>
            <a:endParaRPr lang="en-US"/>
          </a:p>
        </p:txBody>
      </p:sp>
      <p:sp>
        <p:nvSpPr>
          <p:cNvPr id="33" name="txt_125"/>
          <p:cNvSpPr txBox="1"/>
          <p:nvPr/>
        </p:nvSpPr>
        <p:spPr>
          <a:xfrm>
            <a:off x="10601554" y="525780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x₅</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2 · RIDGE AND LASSO</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Ridge in action: coefficients shrink as α grows</a:t>
            </a:r>
            <a:endParaRPr lang="en-US" sz="3000" dirty="0"/>
          </a:p>
        </p:txBody>
      </p:sp>
      <p:graphicFrame>
        <p:nvGraphicFramePr>
          <p:cNvPr id="4" name="Chart 0"/>
          <p:cNvGraphicFramePr/>
          <p:nvPr>
            <p:extLst>
              <p:ext uri="{D42A27DB-BD31-4B8C-83A1-F6EECF244321}">
                <p14:modId xmlns:p14="http://schemas.microsoft.com/office/powerpoint/2010/main" val="505279999"/>
              </p:ext>
            </p:extLst>
          </p:nvPr>
        </p:nvGraphicFramePr>
        <p:xfrm>
          <a:off x="548640" y="1463040"/>
          <a:ext cx="71729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_126"/>
          <p:cNvSpPr/>
          <p:nvPr/>
        </p:nvSpPr>
        <p:spPr>
          <a:xfrm>
            <a:off x="8321040" y="1508760"/>
            <a:ext cx="3319272" cy="4709160"/>
          </a:xfrm>
          <a:prstGeom prst="roundRect">
            <a:avLst>
              <a:gd name="adj" fmla="val 2204"/>
            </a:avLst>
          </a:prstGeom>
          <a:solidFill>
            <a:schemeClr val="bg2"/>
          </a:solidFill>
          <a:ln/>
        </p:spPr>
        <p:txBody>
          <a:bodyPr/>
          <a:lstStyle/>
          <a:p>
            <a:endParaRPr lang="en-US"/>
          </a:p>
        </p:txBody>
      </p:sp>
      <p:sp>
        <p:nvSpPr>
          <p:cNvPr id="6" name="cardtext_127"/>
          <p:cNvSpPr txBox="1"/>
          <p:nvPr/>
        </p:nvSpPr>
        <p:spPr>
          <a:xfrm>
            <a:off x="7432040" y="1463040"/>
            <a:ext cx="4521200" cy="5065776"/>
          </a:xfrm>
          <a:prstGeom prst="rect">
            <a:avLst/>
          </a:prstGeom>
          <a:noFill/>
          <a:ln/>
        </p:spPr>
        <p:txBody>
          <a:bodyPr wrap="square" lIns="0" tIns="0" rIns="0" bIns="0" rtlCol="0" anchor="t"/>
          <a:lstStyle/>
          <a:p>
            <a:pPr marL="0" indent="0">
              <a:spcAft>
                <a:spcPts val="400"/>
              </a:spcAft>
              <a:buNone/>
            </a:pPr>
            <a:r>
              <a:rPr lang="en-US" b="1" dirty="0">
                <a:solidFill>
                  <a:schemeClr val="tx1"/>
                </a:solidFill>
              </a:rPr>
              <a:t>Reading the paths</a:t>
            </a:r>
            <a:endParaRPr lang="en-US" dirty="0"/>
          </a:p>
          <a:p>
            <a:pPr marL="285750" lvl="0" indent="-285750">
              <a:buFontTx/>
              <a:buChar char="-"/>
            </a:pPr>
            <a:r>
              <a:rPr lang="en-US" sz="1600" dirty="0"/>
              <a:t>442 patients, 10 standardized predictors. The goal is to predict disease progression after one year.</a:t>
            </a:r>
          </a:p>
          <a:p>
            <a:pPr marL="285750" lvl="0" indent="-285750">
              <a:buFontTx/>
              <a:buChar char="-"/>
            </a:pPr>
            <a:endParaRPr lang="en-US" sz="500" dirty="0"/>
          </a:p>
          <a:p>
            <a:pPr marL="285750" lvl="0" indent="-285750">
              <a:buFontTx/>
              <a:buChar char="-"/>
            </a:pPr>
            <a:r>
              <a:rPr lang="en-US" sz="1600" dirty="0"/>
              <a:t>Small α (left side): Little regularization. Coefficients are close to those from ordinary linear regression.</a:t>
            </a:r>
          </a:p>
          <a:p>
            <a:pPr lvl="0"/>
            <a:endParaRPr lang="en-US" sz="500" dirty="0"/>
          </a:p>
          <a:p>
            <a:pPr marL="285750" lvl="0" indent="-285750">
              <a:buFontTx/>
              <a:buChar char="-"/>
            </a:pPr>
            <a:r>
              <a:rPr lang="en-US" sz="1600" dirty="0"/>
              <a:t>Increasing α (moving right): Ridge generally shrinks coefficients toward zero, reducing their overall magnitude.</a:t>
            </a:r>
          </a:p>
          <a:p>
            <a:pPr marL="285750" lvl="0" indent="-285750">
              <a:buFontTx/>
              <a:buChar char="-"/>
            </a:pPr>
            <a:endParaRPr lang="en-US" sz="400" dirty="0"/>
          </a:p>
          <a:p>
            <a:pPr marL="285750" lvl="0" indent="-285750">
              <a:buFontTx/>
              <a:buChar char="-"/>
            </a:pPr>
            <a:r>
              <a:rPr lang="en-US" sz="1600" dirty="0"/>
              <a:t>Correlated predictors (s1 and s2): These blood measurements are strongly correlated (r = 0.90). Ordinary linear regression assigns them large, opposite coefficients (−38 and +23), which can be unstable.</a:t>
            </a:r>
          </a:p>
          <a:p>
            <a:pPr marL="285750" lvl="0" indent="-285750">
              <a:buFontTx/>
              <a:buChar char="-"/>
            </a:pPr>
            <a:endParaRPr lang="en-US" sz="400" dirty="0"/>
          </a:p>
          <a:p>
            <a:pPr marL="285750" lvl="0" indent="-285750">
              <a:buFontTx/>
              <a:buChar char="-"/>
            </a:pPr>
            <a:r>
              <a:rPr lang="en-US" sz="1600" dirty="0"/>
              <a:t>Ridge's effect: As α increases, Ridge reduces these extreme coefficients, making the model less sensitive to overlapping information.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2 · RIDGE AND LASSO</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Lasso regression (L1 penalty)</a:t>
            </a:r>
            <a:endParaRPr lang="en-US" sz="3000" dirty="0"/>
          </a:p>
        </p:txBody>
      </p:sp>
      <p:sp>
        <p:nvSpPr>
          <p:cNvPr id="4" name="Text 2"/>
          <p:cNvSpPr txBox="1"/>
          <p:nvPr/>
        </p:nvSpPr>
        <p:spPr>
          <a:xfrm>
            <a:off x="548640" y="1554480"/>
            <a:ext cx="5669280" cy="2926080"/>
          </a:xfrm>
          <a:prstGeom prst="rect">
            <a:avLst/>
          </a:prstGeom>
          <a:noFill/>
          <a:ln/>
        </p:spPr>
        <p:txBody>
          <a:bodyPr wrap="square" lIns="0" tIns="0" rIns="0" bIns="0" rtlCol="0" anchor="t"/>
          <a:lstStyle/>
          <a:p>
            <a:pPr marL="342900" indent="-342900">
              <a:spcAft>
                <a:spcPts val="800"/>
              </a:spcAft>
              <a:buSzPct val="100000"/>
              <a:buChar char="•"/>
            </a:pPr>
            <a:r>
              <a:rPr lang="en-US" dirty="0">
                <a:solidFill>
                  <a:schemeClr val="tx1"/>
                </a:solidFill>
              </a:rPr>
              <a:t>Penalty: the sum of the absolute values of the coefficients</a:t>
            </a:r>
            <a:endParaRPr lang="en-US" dirty="0"/>
          </a:p>
          <a:p>
            <a:pPr marL="342900" indent="-342900">
              <a:spcAft>
                <a:spcPts val="800"/>
              </a:spcAft>
              <a:buSzPct val="100000"/>
              <a:buChar char="•"/>
            </a:pPr>
            <a:r>
              <a:rPr lang="en-US" dirty="0">
                <a:solidFill>
                  <a:schemeClr val="tx1"/>
                </a:solidFill>
              </a:rPr>
              <a:t>Shrinks coefficients and sets some exactly to 0</a:t>
            </a:r>
            <a:endParaRPr lang="en-US" dirty="0"/>
          </a:p>
          <a:p>
            <a:pPr marL="342900" indent="-342900">
              <a:spcAft>
                <a:spcPts val="800"/>
              </a:spcAft>
              <a:buSzPct val="100000"/>
              <a:buChar char="•"/>
            </a:pPr>
            <a:r>
              <a:rPr lang="en-US" dirty="0">
                <a:solidFill>
                  <a:schemeClr val="tx1"/>
                </a:solidFill>
              </a:rPr>
              <a:t>That is automatic feature selection: a sparse model</a:t>
            </a:r>
            <a:endParaRPr lang="en-US" dirty="0"/>
          </a:p>
          <a:p>
            <a:pPr marL="342900" indent="-342900">
              <a:spcAft>
                <a:spcPts val="800"/>
              </a:spcAft>
              <a:buSzPct val="100000"/>
              <a:buChar char="•"/>
            </a:pPr>
            <a:r>
              <a:rPr lang="en-US" dirty="0">
                <a:solidFill>
                  <a:schemeClr val="tx1"/>
                </a:solidFill>
              </a:rPr>
              <a:t>Best when only a few features really matter</a:t>
            </a:r>
            <a:endParaRPr lang="en-US" dirty="0"/>
          </a:p>
          <a:p>
            <a:pPr marL="342900" indent="-342900">
              <a:spcAft>
                <a:spcPts val="800"/>
              </a:spcAft>
              <a:buSzPct val="100000"/>
              <a:buChar char="•"/>
            </a:pPr>
            <a:r>
              <a:rPr lang="en-US" dirty="0">
                <a:solidFill>
                  <a:schemeClr val="tx1"/>
                </a:solidFill>
              </a:rPr>
              <a:t>With correlated features it tends to keep one and drop the rest</a:t>
            </a:r>
          </a:p>
          <a:p>
            <a:pPr marL="342900" indent="-342900">
              <a:spcAft>
                <a:spcPts val="800"/>
              </a:spcAft>
              <a:buSzPct val="100000"/>
              <a:buChar char="•"/>
            </a:pPr>
            <a:r>
              <a:rPr lang="en-US" dirty="0"/>
              <a:t>A removed predictor is not necessarily unimportant. Its information may overlap with another predictor that Lasso kept.</a:t>
            </a:r>
          </a:p>
        </p:txBody>
      </p:sp>
      <p:sp>
        <p:nvSpPr>
          <p:cNvPr id="5" name="codebox_128"/>
          <p:cNvSpPr/>
          <p:nvPr/>
        </p:nvSpPr>
        <p:spPr>
          <a:xfrm>
            <a:off x="548640" y="5181600"/>
            <a:ext cx="5669280" cy="914400"/>
          </a:xfrm>
          <a:prstGeom prst="roundRect">
            <a:avLst>
              <a:gd name="adj" fmla="val 6000"/>
            </a:avLst>
          </a:prstGeom>
          <a:solidFill>
            <a:schemeClr val="tx1"/>
          </a:solidFill>
          <a:ln/>
        </p:spPr>
        <p:txBody>
          <a:bodyPr/>
          <a:lstStyle/>
          <a:p>
            <a:endParaRPr lang="en-US"/>
          </a:p>
        </p:txBody>
      </p:sp>
      <p:sp>
        <p:nvSpPr>
          <p:cNvPr id="6" name="code_129"/>
          <p:cNvSpPr txBox="1"/>
          <p:nvPr/>
        </p:nvSpPr>
        <p:spPr>
          <a:xfrm>
            <a:off x="731520" y="5298440"/>
            <a:ext cx="5303520" cy="731520"/>
          </a:xfrm>
          <a:prstGeom prst="rect">
            <a:avLst/>
          </a:prstGeom>
          <a:noFill/>
          <a:ln/>
        </p:spPr>
        <p:txBody>
          <a:bodyPr wrap="square" lIns="0" tIns="0" rIns="0" bIns="0" rtlCol="0" anchor="ctr"/>
          <a:lstStyle/>
          <a:p>
            <a:pPr marL="0" indent="0">
              <a:buNone/>
            </a:pPr>
            <a:r>
              <a:rPr lang="en-US" sz="1400" dirty="0">
                <a:solidFill>
                  <a:schemeClr val="bg1"/>
                </a:solidFill>
                <a:latin typeface="Courier New" pitchFamily="34" charset="0"/>
                <a:ea typeface="Courier New" pitchFamily="34" charset="-122"/>
                <a:cs typeface="Courier New" pitchFamily="34" charset="-120"/>
              </a:rPr>
              <a:t>from sklearn.linear_model import Lasso</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model = Lasso(alpha=1.0)</a:t>
            </a:r>
            <a:endParaRPr lang="en-US" sz="1400" dirty="0"/>
          </a:p>
        </p:txBody>
      </p:sp>
      <p:sp>
        <p:nvSpPr>
          <p:cNvPr id="7" name="txt_130"/>
          <p:cNvSpPr txBox="1"/>
          <p:nvPr/>
        </p:nvSpPr>
        <p:spPr>
          <a:xfrm>
            <a:off x="548640" y="6233160"/>
            <a:ext cx="5669280" cy="320040"/>
          </a:xfrm>
          <a:prstGeom prst="rect">
            <a:avLst/>
          </a:prstGeom>
          <a:noFill/>
          <a:ln/>
        </p:spPr>
        <p:txBody>
          <a:bodyPr wrap="square" lIns="0" tIns="0" rIns="0" bIns="0" rtlCol="0" anchor="t"/>
          <a:lstStyle/>
          <a:p>
            <a:pPr marL="0" indent="0">
              <a:buNone/>
            </a:pPr>
            <a:r>
              <a:rPr lang="en-US" sz="1400" dirty="0">
                <a:solidFill>
                  <a:schemeClr val="tx2"/>
                </a:solidFill>
              </a:rPr>
              <a:t>Same alpha idea: larger alpha = stronger penalty.</a:t>
            </a:r>
            <a:endParaRPr lang="en-US" sz="1400" dirty="0"/>
          </a:p>
        </p:txBody>
      </p:sp>
      <p:sp>
        <p:nvSpPr>
          <p:cNvPr id="8" name="barpanel_131"/>
          <p:cNvSpPr/>
          <p:nvPr/>
        </p:nvSpPr>
        <p:spPr>
          <a:xfrm>
            <a:off x="6583680" y="1508760"/>
            <a:ext cx="5056632" cy="1920240"/>
          </a:xfrm>
          <a:prstGeom prst="roundRect">
            <a:avLst>
              <a:gd name="adj" fmla="val 3810"/>
            </a:avLst>
          </a:prstGeom>
          <a:solidFill>
            <a:schemeClr val="bg2"/>
          </a:solidFill>
          <a:ln/>
        </p:spPr>
        <p:txBody>
          <a:bodyPr/>
          <a:lstStyle/>
          <a:p>
            <a:endParaRPr lang="en-US"/>
          </a:p>
        </p:txBody>
      </p:sp>
      <p:sp>
        <p:nvSpPr>
          <p:cNvPr id="9" name="txt_132"/>
          <p:cNvSpPr txBox="1"/>
          <p:nvPr/>
        </p:nvSpPr>
        <p:spPr>
          <a:xfrm>
            <a:off x="6720840" y="1581912"/>
            <a:ext cx="4782312" cy="274320"/>
          </a:xfrm>
          <a:prstGeom prst="rect">
            <a:avLst/>
          </a:prstGeom>
          <a:noFill/>
          <a:ln/>
        </p:spPr>
        <p:txBody>
          <a:bodyPr wrap="square" lIns="0" tIns="0" rIns="0" bIns="0" rtlCol="0" anchor="t"/>
          <a:lstStyle/>
          <a:p>
            <a:pPr marL="0" indent="0">
              <a:buNone/>
            </a:pPr>
            <a:r>
              <a:rPr lang="en-US" sz="1400" b="1" dirty="0">
                <a:solidFill>
                  <a:schemeClr val="tx1"/>
                </a:solidFill>
              </a:rPr>
              <a:t>Least squares (illustrative)</a:t>
            </a:r>
            <a:endParaRPr lang="en-US" sz="1400" dirty="0"/>
          </a:p>
        </p:txBody>
      </p:sp>
      <p:sp>
        <p:nvSpPr>
          <p:cNvPr id="10" name="seg_133"/>
          <p:cNvSpPr/>
          <p:nvPr/>
        </p:nvSpPr>
        <p:spPr>
          <a:xfrm>
            <a:off x="6766560" y="2606040"/>
            <a:ext cx="4690872" cy="0"/>
          </a:xfrm>
          <a:prstGeom prst="line">
            <a:avLst/>
          </a:prstGeom>
          <a:noFill/>
          <a:ln w="12700">
            <a:solidFill>
              <a:schemeClr val="tx2"/>
            </a:solidFill>
            <a:prstDash val="solid"/>
          </a:ln>
        </p:spPr>
        <p:txBody>
          <a:bodyPr/>
          <a:lstStyle/>
          <a:p>
            <a:endParaRPr lang="en-US"/>
          </a:p>
        </p:txBody>
      </p:sp>
      <p:sp>
        <p:nvSpPr>
          <p:cNvPr id="11" name="bar_134"/>
          <p:cNvSpPr/>
          <p:nvPr/>
        </p:nvSpPr>
        <p:spPr>
          <a:xfrm>
            <a:off x="6995160" y="1903781"/>
            <a:ext cx="457200" cy="702259"/>
          </a:xfrm>
          <a:prstGeom prst="rect">
            <a:avLst/>
          </a:prstGeom>
          <a:solidFill>
            <a:srgbClr val="156082"/>
          </a:solidFill>
          <a:ln/>
        </p:spPr>
        <p:txBody>
          <a:bodyPr/>
          <a:lstStyle/>
          <a:p>
            <a:endParaRPr lang="en-US"/>
          </a:p>
        </p:txBody>
      </p:sp>
      <p:sp>
        <p:nvSpPr>
          <p:cNvPr id="12" name="txt_135"/>
          <p:cNvSpPr txBox="1"/>
          <p:nvPr/>
        </p:nvSpPr>
        <p:spPr>
          <a:xfrm>
            <a:off x="6995160" y="315468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x₁</a:t>
            </a:r>
            <a:endParaRPr lang="en-US" sz="1200" dirty="0"/>
          </a:p>
        </p:txBody>
      </p:sp>
      <p:sp>
        <p:nvSpPr>
          <p:cNvPr id="13" name="bar_136"/>
          <p:cNvSpPr/>
          <p:nvPr/>
        </p:nvSpPr>
        <p:spPr>
          <a:xfrm>
            <a:off x="7896758" y="2606040"/>
            <a:ext cx="457200" cy="526694"/>
          </a:xfrm>
          <a:prstGeom prst="rect">
            <a:avLst/>
          </a:prstGeom>
          <a:solidFill>
            <a:srgbClr val="156082"/>
          </a:solidFill>
          <a:ln/>
        </p:spPr>
        <p:txBody>
          <a:bodyPr/>
          <a:lstStyle/>
          <a:p>
            <a:endParaRPr lang="en-US"/>
          </a:p>
        </p:txBody>
      </p:sp>
      <p:sp>
        <p:nvSpPr>
          <p:cNvPr id="14" name="txt_137"/>
          <p:cNvSpPr txBox="1"/>
          <p:nvPr/>
        </p:nvSpPr>
        <p:spPr>
          <a:xfrm>
            <a:off x="7896758" y="315468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x₂</a:t>
            </a:r>
            <a:endParaRPr lang="en-US" sz="1200" dirty="0"/>
          </a:p>
        </p:txBody>
      </p:sp>
      <p:sp>
        <p:nvSpPr>
          <p:cNvPr id="15" name="bar_138"/>
          <p:cNvSpPr/>
          <p:nvPr/>
        </p:nvSpPr>
        <p:spPr>
          <a:xfrm>
            <a:off x="8798357" y="2254910"/>
            <a:ext cx="457200" cy="351130"/>
          </a:xfrm>
          <a:prstGeom prst="rect">
            <a:avLst/>
          </a:prstGeom>
          <a:solidFill>
            <a:srgbClr val="156082"/>
          </a:solidFill>
          <a:ln/>
        </p:spPr>
        <p:txBody>
          <a:bodyPr/>
          <a:lstStyle/>
          <a:p>
            <a:endParaRPr lang="en-US"/>
          </a:p>
        </p:txBody>
      </p:sp>
      <p:sp>
        <p:nvSpPr>
          <p:cNvPr id="16" name="txt_139"/>
          <p:cNvSpPr txBox="1"/>
          <p:nvPr/>
        </p:nvSpPr>
        <p:spPr>
          <a:xfrm>
            <a:off x="8798357" y="315468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x₃</a:t>
            </a:r>
            <a:endParaRPr lang="en-US" sz="1200" dirty="0"/>
          </a:p>
        </p:txBody>
      </p:sp>
      <p:sp>
        <p:nvSpPr>
          <p:cNvPr id="17" name="bar_140"/>
          <p:cNvSpPr/>
          <p:nvPr/>
        </p:nvSpPr>
        <p:spPr>
          <a:xfrm>
            <a:off x="9699955" y="2474366"/>
            <a:ext cx="457200" cy="131674"/>
          </a:xfrm>
          <a:prstGeom prst="rect">
            <a:avLst/>
          </a:prstGeom>
          <a:solidFill>
            <a:srgbClr val="156082"/>
          </a:solidFill>
          <a:ln/>
        </p:spPr>
        <p:txBody>
          <a:bodyPr/>
          <a:lstStyle/>
          <a:p>
            <a:endParaRPr lang="en-US"/>
          </a:p>
        </p:txBody>
      </p:sp>
      <p:sp>
        <p:nvSpPr>
          <p:cNvPr id="18" name="txt_141"/>
          <p:cNvSpPr txBox="1"/>
          <p:nvPr/>
        </p:nvSpPr>
        <p:spPr>
          <a:xfrm>
            <a:off x="9699955" y="315468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x₄</a:t>
            </a:r>
            <a:endParaRPr lang="en-US" sz="1200" dirty="0"/>
          </a:p>
        </p:txBody>
      </p:sp>
      <p:sp>
        <p:nvSpPr>
          <p:cNvPr id="19" name="bar_142"/>
          <p:cNvSpPr/>
          <p:nvPr/>
        </p:nvSpPr>
        <p:spPr>
          <a:xfrm>
            <a:off x="10601554" y="2606040"/>
            <a:ext cx="457200" cy="87782"/>
          </a:xfrm>
          <a:prstGeom prst="rect">
            <a:avLst/>
          </a:prstGeom>
          <a:solidFill>
            <a:srgbClr val="156082"/>
          </a:solidFill>
          <a:ln/>
        </p:spPr>
        <p:txBody>
          <a:bodyPr/>
          <a:lstStyle/>
          <a:p>
            <a:endParaRPr lang="en-US"/>
          </a:p>
        </p:txBody>
      </p:sp>
      <p:sp>
        <p:nvSpPr>
          <p:cNvPr id="20" name="txt_143"/>
          <p:cNvSpPr txBox="1"/>
          <p:nvPr/>
        </p:nvSpPr>
        <p:spPr>
          <a:xfrm>
            <a:off x="10601554" y="315468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x₅</a:t>
            </a:r>
            <a:endParaRPr lang="en-US" sz="1200" dirty="0"/>
          </a:p>
        </p:txBody>
      </p:sp>
      <p:sp>
        <p:nvSpPr>
          <p:cNvPr id="21" name="barpanel_144"/>
          <p:cNvSpPr/>
          <p:nvPr/>
        </p:nvSpPr>
        <p:spPr>
          <a:xfrm>
            <a:off x="6583680" y="3611880"/>
            <a:ext cx="5056632" cy="1920240"/>
          </a:xfrm>
          <a:prstGeom prst="roundRect">
            <a:avLst>
              <a:gd name="adj" fmla="val 3810"/>
            </a:avLst>
          </a:prstGeom>
          <a:solidFill>
            <a:schemeClr val="bg2"/>
          </a:solidFill>
          <a:ln/>
        </p:spPr>
        <p:txBody>
          <a:bodyPr/>
          <a:lstStyle/>
          <a:p>
            <a:endParaRPr lang="en-US"/>
          </a:p>
        </p:txBody>
      </p:sp>
      <p:sp>
        <p:nvSpPr>
          <p:cNvPr id="22" name="txt_145"/>
          <p:cNvSpPr txBox="1"/>
          <p:nvPr/>
        </p:nvSpPr>
        <p:spPr>
          <a:xfrm>
            <a:off x="6720840" y="3685032"/>
            <a:ext cx="4782312" cy="274320"/>
          </a:xfrm>
          <a:prstGeom prst="rect">
            <a:avLst/>
          </a:prstGeom>
          <a:noFill/>
          <a:ln/>
        </p:spPr>
        <p:txBody>
          <a:bodyPr wrap="square" lIns="0" tIns="0" rIns="0" bIns="0" rtlCol="0" anchor="t"/>
          <a:lstStyle/>
          <a:p>
            <a:pPr marL="0" indent="0">
              <a:buNone/>
            </a:pPr>
            <a:r>
              <a:rPr lang="en-US" sz="1400" b="1" dirty="0">
                <a:solidFill>
                  <a:schemeClr val="tx1"/>
                </a:solidFill>
              </a:rPr>
              <a:t>Lasso: small ones drop to exactly 0</a:t>
            </a:r>
            <a:endParaRPr lang="en-US" sz="1400" dirty="0"/>
          </a:p>
        </p:txBody>
      </p:sp>
      <p:sp>
        <p:nvSpPr>
          <p:cNvPr id="23" name="seg_146"/>
          <p:cNvSpPr/>
          <p:nvPr/>
        </p:nvSpPr>
        <p:spPr>
          <a:xfrm>
            <a:off x="6766560" y="4709160"/>
            <a:ext cx="4690872" cy="0"/>
          </a:xfrm>
          <a:prstGeom prst="line">
            <a:avLst/>
          </a:prstGeom>
          <a:noFill/>
          <a:ln w="12700">
            <a:solidFill>
              <a:schemeClr val="tx2"/>
            </a:solidFill>
            <a:prstDash val="solid"/>
          </a:ln>
        </p:spPr>
        <p:txBody>
          <a:bodyPr/>
          <a:lstStyle/>
          <a:p>
            <a:endParaRPr lang="en-US"/>
          </a:p>
        </p:txBody>
      </p:sp>
      <p:sp>
        <p:nvSpPr>
          <p:cNvPr id="24" name="bar_147"/>
          <p:cNvSpPr/>
          <p:nvPr/>
        </p:nvSpPr>
        <p:spPr>
          <a:xfrm>
            <a:off x="6995160" y="4182466"/>
            <a:ext cx="457200" cy="526694"/>
          </a:xfrm>
          <a:prstGeom prst="rect">
            <a:avLst/>
          </a:prstGeom>
          <a:solidFill>
            <a:srgbClr val="E97132"/>
          </a:solidFill>
          <a:ln/>
        </p:spPr>
        <p:txBody>
          <a:bodyPr/>
          <a:lstStyle/>
          <a:p>
            <a:endParaRPr lang="en-US"/>
          </a:p>
        </p:txBody>
      </p:sp>
      <p:sp>
        <p:nvSpPr>
          <p:cNvPr id="25" name="txt_148"/>
          <p:cNvSpPr txBox="1"/>
          <p:nvPr/>
        </p:nvSpPr>
        <p:spPr>
          <a:xfrm>
            <a:off x="6995160" y="525780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x₁</a:t>
            </a:r>
            <a:endParaRPr lang="en-US" sz="1200" dirty="0"/>
          </a:p>
        </p:txBody>
      </p:sp>
      <p:sp>
        <p:nvSpPr>
          <p:cNvPr id="26" name="bar_149"/>
          <p:cNvSpPr/>
          <p:nvPr/>
        </p:nvSpPr>
        <p:spPr>
          <a:xfrm>
            <a:off x="7896758" y="4709160"/>
            <a:ext cx="457200" cy="351130"/>
          </a:xfrm>
          <a:prstGeom prst="rect">
            <a:avLst/>
          </a:prstGeom>
          <a:solidFill>
            <a:srgbClr val="E97132"/>
          </a:solidFill>
          <a:ln/>
        </p:spPr>
        <p:txBody>
          <a:bodyPr/>
          <a:lstStyle/>
          <a:p>
            <a:endParaRPr lang="en-US"/>
          </a:p>
        </p:txBody>
      </p:sp>
      <p:sp>
        <p:nvSpPr>
          <p:cNvPr id="27" name="txt_150"/>
          <p:cNvSpPr txBox="1"/>
          <p:nvPr/>
        </p:nvSpPr>
        <p:spPr>
          <a:xfrm>
            <a:off x="7896758" y="525780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x₂</a:t>
            </a:r>
            <a:endParaRPr lang="en-US" sz="1200" dirty="0"/>
          </a:p>
        </p:txBody>
      </p:sp>
      <p:sp>
        <p:nvSpPr>
          <p:cNvPr id="28" name="bar_151"/>
          <p:cNvSpPr/>
          <p:nvPr/>
        </p:nvSpPr>
        <p:spPr>
          <a:xfrm>
            <a:off x="8798357" y="4533595"/>
            <a:ext cx="457200" cy="175565"/>
          </a:xfrm>
          <a:prstGeom prst="rect">
            <a:avLst/>
          </a:prstGeom>
          <a:solidFill>
            <a:srgbClr val="E97132"/>
          </a:solidFill>
          <a:ln/>
        </p:spPr>
        <p:txBody>
          <a:bodyPr/>
          <a:lstStyle/>
          <a:p>
            <a:endParaRPr lang="en-US"/>
          </a:p>
        </p:txBody>
      </p:sp>
      <p:sp>
        <p:nvSpPr>
          <p:cNvPr id="29" name="txt_152"/>
          <p:cNvSpPr txBox="1"/>
          <p:nvPr/>
        </p:nvSpPr>
        <p:spPr>
          <a:xfrm>
            <a:off x="8798357" y="525780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x₃</a:t>
            </a:r>
            <a:endParaRPr lang="en-US" sz="1200" dirty="0"/>
          </a:p>
        </p:txBody>
      </p:sp>
      <p:sp>
        <p:nvSpPr>
          <p:cNvPr id="30" name="txt_153"/>
          <p:cNvSpPr txBox="1"/>
          <p:nvPr/>
        </p:nvSpPr>
        <p:spPr>
          <a:xfrm>
            <a:off x="9699955" y="4434840"/>
            <a:ext cx="457200" cy="256032"/>
          </a:xfrm>
          <a:prstGeom prst="rect">
            <a:avLst/>
          </a:prstGeom>
          <a:noFill/>
          <a:ln/>
        </p:spPr>
        <p:txBody>
          <a:bodyPr wrap="square" lIns="0" tIns="0" rIns="0" bIns="0" rtlCol="0" anchor="t"/>
          <a:lstStyle/>
          <a:p>
            <a:pPr marL="0" indent="0" algn="ctr">
              <a:buNone/>
            </a:pPr>
            <a:r>
              <a:rPr lang="en-US" sz="1200" b="1" dirty="0">
                <a:solidFill>
                  <a:schemeClr val="accent4"/>
                </a:solidFill>
              </a:rPr>
              <a:t>0</a:t>
            </a:r>
            <a:endParaRPr lang="en-US" sz="1200" dirty="0"/>
          </a:p>
        </p:txBody>
      </p:sp>
      <p:sp>
        <p:nvSpPr>
          <p:cNvPr id="31" name="txt_154"/>
          <p:cNvSpPr txBox="1"/>
          <p:nvPr/>
        </p:nvSpPr>
        <p:spPr>
          <a:xfrm>
            <a:off x="9699955" y="525780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x₄</a:t>
            </a:r>
            <a:endParaRPr lang="en-US" sz="1200" dirty="0"/>
          </a:p>
        </p:txBody>
      </p:sp>
      <p:sp>
        <p:nvSpPr>
          <p:cNvPr id="32" name="txt_155"/>
          <p:cNvSpPr txBox="1"/>
          <p:nvPr/>
        </p:nvSpPr>
        <p:spPr>
          <a:xfrm>
            <a:off x="10601554" y="4434840"/>
            <a:ext cx="457200" cy="256032"/>
          </a:xfrm>
          <a:prstGeom prst="rect">
            <a:avLst/>
          </a:prstGeom>
          <a:noFill/>
          <a:ln/>
        </p:spPr>
        <p:txBody>
          <a:bodyPr wrap="square" lIns="0" tIns="0" rIns="0" bIns="0" rtlCol="0" anchor="t"/>
          <a:lstStyle/>
          <a:p>
            <a:pPr marL="0" indent="0" algn="ctr">
              <a:buNone/>
            </a:pPr>
            <a:r>
              <a:rPr lang="en-US" sz="1200" b="1" dirty="0">
                <a:solidFill>
                  <a:schemeClr val="accent4"/>
                </a:solidFill>
              </a:rPr>
              <a:t>0</a:t>
            </a:r>
            <a:endParaRPr lang="en-US" sz="1200" dirty="0"/>
          </a:p>
        </p:txBody>
      </p:sp>
      <p:sp>
        <p:nvSpPr>
          <p:cNvPr id="33" name="txt_156"/>
          <p:cNvSpPr txBox="1"/>
          <p:nvPr/>
        </p:nvSpPr>
        <p:spPr>
          <a:xfrm>
            <a:off x="10601554" y="5257800"/>
            <a:ext cx="457200" cy="256032"/>
          </a:xfrm>
          <a:prstGeom prst="rect">
            <a:avLst/>
          </a:prstGeom>
          <a:noFill/>
          <a:ln/>
        </p:spPr>
        <p:txBody>
          <a:bodyPr wrap="square" lIns="0" tIns="0" rIns="0" bIns="0" rtlCol="0" anchor="t"/>
          <a:lstStyle/>
          <a:p>
            <a:pPr marL="0" indent="0" algn="ctr">
              <a:buNone/>
            </a:pPr>
            <a:r>
              <a:rPr lang="en-US" sz="1200" dirty="0">
                <a:solidFill>
                  <a:schemeClr val="tx2"/>
                </a:solidFill>
              </a:rPr>
              <a:t>x₅</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2 · RIDGE AND LASSO</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Lasso in action: features drop out one by one</a:t>
            </a:r>
            <a:endParaRPr lang="en-US" sz="3000" dirty="0"/>
          </a:p>
        </p:txBody>
      </p:sp>
      <p:graphicFrame>
        <p:nvGraphicFramePr>
          <p:cNvPr id="4" name="Chart 0"/>
          <p:cNvGraphicFramePr/>
          <p:nvPr/>
        </p:nvGraphicFramePr>
        <p:xfrm>
          <a:off x="548640" y="1463040"/>
          <a:ext cx="74980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_157"/>
          <p:cNvSpPr/>
          <p:nvPr/>
        </p:nvSpPr>
        <p:spPr>
          <a:xfrm>
            <a:off x="8321040" y="1508760"/>
            <a:ext cx="3319272" cy="4709160"/>
          </a:xfrm>
          <a:prstGeom prst="roundRect">
            <a:avLst>
              <a:gd name="adj" fmla="val 2204"/>
            </a:avLst>
          </a:prstGeom>
          <a:solidFill>
            <a:schemeClr val="bg2"/>
          </a:solidFill>
          <a:ln/>
        </p:spPr>
        <p:txBody>
          <a:bodyPr/>
          <a:lstStyle/>
          <a:p>
            <a:endParaRPr lang="en-US"/>
          </a:p>
        </p:txBody>
      </p:sp>
      <p:sp>
        <p:nvSpPr>
          <p:cNvPr id="6" name="cardtext_158"/>
          <p:cNvSpPr txBox="1"/>
          <p:nvPr/>
        </p:nvSpPr>
        <p:spPr>
          <a:xfrm>
            <a:off x="8229600" y="1636776"/>
            <a:ext cx="3685032" cy="4453128"/>
          </a:xfrm>
          <a:prstGeom prst="rect">
            <a:avLst/>
          </a:prstGeom>
          <a:noFill/>
          <a:ln/>
        </p:spPr>
        <p:txBody>
          <a:bodyPr wrap="square" lIns="0" tIns="0" rIns="0" bIns="0" rtlCol="0" anchor="t"/>
          <a:lstStyle/>
          <a:p>
            <a:pPr marL="0" indent="0">
              <a:spcAft>
                <a:spcPts val="400"/>
              </a:spcAft>
              <a:buNone/>
            </a:pPr>
            <a:r>
              <a:rPr lang="en-US" sz="2000" b="1" dirty="0">
                <a:solidFill>
                  <a:schemeClr val="tx1"/>
                </a:solidFill>
              </a:rPr>
              <a:t>Reading the paths</a:t>
            </a:r>
            <a:endParaRPr lang="en-US" sz="2000" dirty="0"/>
          </a:p>
          <a:p>
            <a:pPr marL="342900" indent="-342900">
              <a:spcAft>
                <a:spcPts val="400"/>
              </a:spcAft>
              <a:buSzPct val="100000"/>
              <a:buChar char="•"/>
            </a:pPr>
            <a:r>
              <a:rPr lang="en-US" dirty="0">
                <a:solidFill>
                  <a:schemeClr val="tx1"/>
                </a:solidFill>
              </a:rPr>
              <a:t>Lines now hit 0 and stay there.</a:t>
            </a:r>
            <a:endParaRPr lang="en-US" sz="2000" dirty="0"/>
          </a:p>
          <a:p>
            <a:pPr marL="342900" indent="-342900">
              <a:spcAft>
                <a:spcPts val="400"/>
              </a:spcAft>
              <a:buSzPct val="100000"/>
              <a:buChar char="•"/>
            </a:pPr>
            <a:r>
              <a:rPr lang="en-US" dirty="0">
                <a:solidFill>
                  <a:schemeClr val="tx1"/>
                </a:solidFill>
              </a:rPr>
              <a:t>At α = 1, 3 of 10 features are already exactly 0 (age, s2, s4).</a:t>
            </a:r>
            <a:endParaRPr lang="en-US" sz="2000" dirty="0"/>
          </a:p>
          <a:p>
            <a:pPr marL="342900" indent="-342900">
              <a:spcAft>
                <a:spcPts val="400"/>
              </a:spcAft>
              <a:buSzPct val="100000"/>
              <a:buChar char="•"/>
            </a:pPr>
            <a:r>
              <a:rPr lang="en-US" dirty="0">
                <a:solidFill>
                  <a:schemeClr val="tx1"/>
                </a:solidFill>
              </a:rPr>
              <a:t>At α = 5, 5 are gone. At α = 20 only 3 remain (bmi, bp, s5).</a:t>
            </a:r>
            <a:endParaRPr lang="en-US" sz="2000" dirty="0"/>
          </a:p>
          <a:p>
            <a:pPr marL="342900" indent="-342900">
              <a:spcAft>
                <a:spcPts val="400"/>
              </a:spcAft>
              <a:buSzPct val="100000"/>
              <a:buChar char="•"/>
            </a:pPr>
            <a:r>
              <a:rPr lang="en-US" dirty="0">
                <a:solidFill>
                  <a:schemeClr val="tx1"/>
                </a:solidFill>
              </a:rPr>
              <a:t>The strongest signals (bmi, s5) survive longest.</a:t>
            </a:r>
          </a:p>
          <a:p>
            <a:pPr marL="342900" indent="-342900">
              <a:spcAft>
                <a:spcPts val="400"/>
              </a:spcAft>
              <a:buSzPct val="100000"/>
              <a:buChar char="•"/>
            </a:pPr>
            <a:r>
              <a:rPr lang="en-US" dirty="0"/>
              <a:t>Caution: with correlated features the ranking can be fragile (we return to this).</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2 · RIDGE AND LASSO</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Why does lasso give exact zeros?</a:t>
            </a:r>
            <a:endParaRPr lang="en-US" sz="3000" dirty="0"/>
          </a:p>
        </p:txBody>
      </p:sp>
      <p:sp>
        <p:nvSpPr>
          <p:cNvPr id="4" name="panelbg_159"/>
          <p:cNvSpPr/>
          <p:nvPr/>
        </p:nvSpPr>
        <p:spPr>
          <a:xfrm>
            <a:off x="1097280" y="1691640"/>
            <a:ext cx="3566160" cy="3246120"/>
          </a:xfrm>
          <a:prstGeom prst="rect">
            <a:avLst/>
          </a:prstGeom>
          <a:solidFill>
            <a:schemeClr val="bg2"/>
          </a:solidFill>
          <a:ln/>
        </p:spPr>
        <p:txBody>
          <a:bodyPr/>
          <a:lstStyle/>
          <a:p>
            <a:endParaRPr lang="en-US"/>
          </a:p>
        </p:txBody>
      </p:sp>
      <p:sp>
        <p:nvSpPr>
          <p:cNvPr id="5" name="seg_160"/>
          <p:cNvSpPr/>
          <p:nvPr/>
        </p:nvSpPr>
        <p:spPr>
          <a:xfrm>
            <a:off x="1188720" y="3611880"/>
            <a:ext cx="3337560" cy="0"/>
          </a:xfrm>
          <a:prstGeom prst="line">
            <a:avLst/>
          </a:prstGeom>
          <a:noFill/>
          <a:ln w="12700">
            <a:solidFill>
              <a:schemeClr val="tx2"/>
            </a:solidFill>
            <a:prstDash val="solid"/>
          </a:ln>
        </p:spPr>
        <p:txBody>
          <a:bodyPr/>
          <a:lstStyle/>
          <a:p>
            <a:endParaRPr lang="en-US"/>
          </a:p>
        </p:txBody>
      </p:sp>
      <p:sp>
        <p:nvSpPr>
          <p:cNvPr id="6" name="seg_161"/>
          <p:cNvSpPr/>
          <p:nvPr/>
        </p:nvSpPr>
        <p:spPr>
          <a:xfrm>
            <a:off x="2423160" y="1783080"/>
            <a:ext cx="0" cy="3063240"/>
          </a:xfrm>
          <a:prstGeom prst="line">
            <a:avLst/>
          </a:prstGeom>
          <a:noFill/>
          <a:ln w="12700">
            <a:solidFill>
              <a:schemeClr val="tx2"/>
            </a:solidFill>
            <a:prstDash val="solid"/>
          </a:ln>
        </p:spPr>
        <p:txBody>
          <a:bodyPr/>
          <a:lstStyle/>
          <a:p>
            <a:endParaRPr lang="en-US"/>
          </a:p>
        </p:txBody>
      </p:sp>
      <p:sp>
        <p:nvSpPr>
          <p:cNvPr id="7" name="txt_162"/>
          <p:cNvSpPr txBox="1"/>
          <p:nvPr/>
        </p:nvSpPr>
        <p:spPr>
          <a:xfrm>
            <a:off x="4251960" y="3630168"/>
            <a:ext cx="365760" cy="274320"/>
          </a:xfrm>
          <a:prstGeom prst="rect">
            <a:avLst/>
          </a:prstGeom>
          <a:noFill/>
          <a:ln/>
        </p:spPr>
        <p:txBody>
          <a:bodyPr wrap="square" lIns="0" tIns="0" rIns="0" bIns="0" rtlCol="0" anchor="t"/>
          <a:lstStyle/>
          <a:p>
            <a:pPr marL="0" indent="0">
              <a:buNone/>
            </a:pPr>
            <a:r>
              <a:rPr lang="en-US" sz="1200" dirty="0">
                <a:solidFill>
                  <a:schemeClr val="tx2"/>
                </a:solidFill>
              </a:rPr>
              <a:t>β₁</a:t>
            </a:r>
            <a:endParaRPr lang="en-US" sz="1200" dirty="0"/>
          </a:p>
        </p:txBody>
      </p:sp>
      <p:sp>
        <p:nvSpPr>
          <p:cNvPr id="8" name="txt_163"/>
          <p:cNvSpPr txBox="1"/>
          <p:nvPr/>
        </p:nvSpPr>
        <p:spPr>
          <a:xfrm>
            <a:off x="2496312" y="1737360"/>
            <a:ext cx="365760" cy="274320"/>
          </a:xfrm>
          <a:prstGeom prst="rect">
            <a:avLst/>
          </a:prstGeom>
          <a:noFill/>
          <a:ln/>
        </p:spPr>
        <p:txBody>
          <a:bodyPr wrap="square" lIns="0" tIns="0" rIns="0" bIns="0" rtlCol="0" anchor="t"/>
          <a:lstStyle/>
          <a:p>
            <a:pPr marL="0" indent="0">
              <a:buNone/>
            </a:pPr>
            <a:r>
              <a:rPr lang="en-US" sz="1200" dirty="0">
                <a:solidFill>
                  <a:schemeClr val="tx2"/>
                </a:solidFill>
              </a:rPr>
              <a:t>β₂</a:t>
            </a:r>
            <a:endParaRPr lang="en-US" sz="1200" dirty="0"/>
          </a:p>
        </p:txBody>
      </p:sp>
      <p:sp>
        <p:nvSpPr>
          <p:cNvPr id="9" name="contour_164"/>
          <p:cNvSpPr/>
          <p:nvPr/>
        </p:nvSpPr>
        <p:spPr>
          <a:xfrm>
            <a:off x="2341659" y="1986932"/>
            <a:ext cx="1891217" cy="945609"/>
          </a:xfrm>
          <a:prstGeom prst="ellipse">
            <a:avLst/>
          </a:prstGeom>
          <a:ln w="22225">
            <a:solidFill>
              <a:srgbClr val="E97132"/>
            </a:solidFill>
            <a:prstDash val="solid"/>
          </a:ln>
        </p:spPr>
        <p:txBody>
          <a:bodyPr/>
          <a:lstStyle/>
          <a:p>
            <a:endParaRPr lang="en-US"/>
          </a:p>
        </p:txBody>
      </p:sp>
      <p:sp>
        <p:nvSpPr>
          <p:cNvPr id="10" name="contour_165"/>
          <p:cNvSpPr/>
          <p:nvPr/>
        </p:nvSpPr>
        <p:spPr>
          <a:xfrm>
            <a:off x="2652935" y="2142569"/>
            <a:ext cx="1268667" cy="634333"/>
          </a:xfrm>
          <a:prstGeom prst="ellipse">
            <a:avLst/>
          </a:prstGeom>
          <a:ln w="22225">
            <a:solidFill>
              <a:srgbClr val="E97132"/>
            </a:solidFill>
            <a:prstDash val="solid"/>
          </a:ln>
        </p:spPr>
        <p:txBody>
          <a:bodyPr/>
          <a:lstStyle/>
          <a:p>
            <a:endParaRPr lang="en-US"/>
          </a:p>
        </p:txBody>
      </p:sp>
      <p:sp>
        <p:nvSpPr>
          <p:cNvPr id="11" name="contour_166"/>
          <p:cNvSpPr/>
          <p:nvPr/>
        </p:nvSpPr>
        <p:spPr>
          <a:xfrm>
            <a:off x="2921035" y="2276620"/>
            <a:ext cx="732465" cy="366233"/>
          </a:xfrm>
          <a:prstGeom prst="ellipse">
            <a:avLst/>
          </a:prstGeom>
          <a:ln w="22225">
            <a:solidFill>
              <a:srgbClr val="E97132"/>
            </a:solidFill>
            <a:prstDash val="solid"/>
          </a:ln>
        </p:spPr>
        <p:txBody>
          <a:bodyPr/>
          <a:lstStyle/>
          <a:p>
            <a:endParaRPr lang="en-US"/>
          </a:p>
        </p:txBody>
      </p:sp>
      <p:sp>
        <p:nvSpPr>
          <p:cNvPr id="12" name="ols_167"/>
          <p:cNvSpPr/>
          <p:nvPr/>
        </p:nvSpPr>
        <p:spPr>
          <a:xfrm>
            <a:off x="3241548" y="2414016"/>
            <a:ext cx="91440" cy="91440"/>
          </a:xfrm>
          <a:prstGeom prst="ellipse">
            <a:avLst/>
          </a:prstGeom>
          <a:solidFill>
            <a:schemeClr val="tx1"/>
          </a:solidFill>
          <a:ln/>
        </p:spPr>
        <p:txBody>
          <a:bodyPr/>
          <a:lstStyle/>
          <a:p>
            <a:endParaRPr lang="en-US"/>
          </a:p>
        </p:txBody>
      </p:sp>
      <p:sp>
        <p:nvSpPr>
          <p:cNvPr id="13" name="diamond_168"/>
          <p:cNvSpPr/>
          <p:nvPr/>
        </p:nvSpPr>
        <p:spPr>
          <a:xfrm>
            <a:off x="1463040" y="2651760"/>
            <a:ext cx="1920240" cy="1920240"/>
          </a:xfrm>
          <a:prstGeom prst="diamond">
            <a:avLst/>
          </a:prstGeom>
          <a:solidFill>
            <a:schemeClr val="accent5">
              <a:alpha val="65000"/>
            </a:schemeClr>
          </a:solidFill>
          <a:ln w="25400">
            <a:solidFill>
              <a:schemeClr val="accent1"/>
            </a:solidFill>
            <a:prstDash val="solid"/>
          </a:ln>
        </p:spPr>
        <p:txBody>
          <a:bodyPr/>
          <a:lstStyle/>
          <a:p>
            <a:endParaRPr lang="en-US"/>
          </a:p>
        </p:txBody>
      </p:sp>
      <p:sp>
        <p:nvSpPr>
          <p:cNvPr id="14" name="contact_169"/>
          <p:cNvSpPr/>
          <p:nvPr/>
        </p:nvSpPr>
        <p:spPr>
          <a:xfrm>
            <a:off x="2369210" y="2597810"/>
            <a:ext cx="146304" cy="146304"/>
          </a:xfrm>
          <a:prstGeom prst="ellipse">
            <a:avLst/>
          </a:prstGeom>
          <a:solidFill>
            <a:schemeClr val="accent4"/>
          </a:solidFill>
          <a:ln/>
        </p:spPr>
        <p:txBody>
          <a:bodyPr/>
          <a:lstStyle/>
          <a:p>
            <a:endParaRPr lang="en-US"/>
          </a:p>
        </p:txBody>
      </p:sp>
      <p:sp>
        <p:nvSpPr>
          <p:cNvPr id="15" name="txt_170"/>
          <p:cNvSpPr txBox="1"/>
          <p:nvPr/>
        </p:nvSpPr>
        <p:spPr>
          <a:xfrm>
            <a:off x="1097280" y="1280160"/>
            <a:ext cx="3566160" cy="365760"/>
          </a:xfrm>
          <a:prstGeom prst="rect">
            <a:avLst/>
          </a:prstGeom>
          <a:noFill/>
          <a:ln/>
        </p:spPr>
        <p:txBody>
          <a:bodyPr wrap="square" lIns="0" tIns="0" rIns="0" bIns="0" rtlCol="0" anchor="t"/>
          <a:lstStyle/>
          <a:p>
            <a:pPr marL="0" indent="0" algn="ctr">
              <a:buNone/>
            </a:pPr>
            <a:r>
              <a:rPr lang="en-US" sz="1600" b="1" dirty="0">
                <a:solidFill>
                  <a:schemeClr val="tx1"/>
                </a:solidFill>
              </a:rPr>
              <a:t>Lasso: diamond</a:t>
            </a:r>
            <a:endParaRPr lang="en-US" sz="1600" dirty="0"/>
          </a:p>
        </p:txBody>
      </p:sp>
      <p:sp>
        <p:nvSpPr>
          <p:cNvPr id="16" name="panelbg_171"/>
          <p:cNvSpPr/>
          <p:nvPr/>
        </p:nvSpPr>
        <p:spPr>
          <a:xfrm>
            <a:off x="4846320" y="1691640"/>
            <a:ext cx="3566160" cy="3246120"/>
          </a:xfrm>
          <a:prstGeom prst="rect">
            <a:avLst/>
          </a:prstGeom>
          <a:solidFill>
            <a:schemeClr val="bg2"/>
          </a:solidFill>
          <a:ln/>
        </p:spPr>
        <p:txBody>
          <a:bodyPr/>
          <a:lstStyle/>
          <a:p>
            <a:endParaRPr lang="en-US"/>
          </a:p>
        </p:txBody>
      </p:sp>
      <p:sp>
        <p:nvSpPr>
          <p:cNvPr id="17" name="seg_172"/>
          <p:cNvSpPr/>
          <p:nvPr/>
        </p:nvSpPr>
        <p:spPr>
          <a:xfrm>
            <a:off x="4937760" y="3611880"/>
            <a:ext cx="3337560" cy="0"/>
          </a:xfrm>
          <a:prstGeom prst="line">
            <a:avLst/>
          </a:prstGeom>
          <a:noFill/>
          <a:ln w="12700">
            <a:solidFill>
              <a:schemeClr val="tx2"/>
            </a:solidFill>
            <a:prstDash val="solid"/>
          </a:ln>
        </p:spPr>
        <p:txBody>
          <a:bodyPr/>
          <a:lstStyle/>
          <a:p>
            <a:endParaRPr lang="en-US"/>
          </a:p>
        </p:txBody>
      </p:sp>
      <p:sp>
        <p:nvSpPr>
          <p:cNvPr id="18" name="seg_173"/>
          <p:cNvSpPr/>
          <p:nvPr/>
        </p:nvSpPr>
        <p:spPr>
          <a:xfrm>
            <a:off x="6172200" y="1783080"/>
            <a:ext cx="0" cy="3063240"/>
          </a:xfrm>
          <a:prstGeom prst="line">
            <a:avLst/>
          </a:prstGeom>
          <a:noFill/>
          <a:ln w="12700">
            <a:solidFill>
              <a:schemeClr val="tx2"/>
            </a:solidFill>
            <a:prstDash val="solid"/>
          </a:ln>
        </p:spPr>
        <p:txBody>
          <a:bodyPr/>
          <a:lstStyle/>
          <a:p>
            <a:endParaRPr lang="en-US"/>
          </a:p>
        </p:txBody>
      </p:sp>
      <p:sp>
        <p:nvSpPr>
          <p:cNvPr id="19" name="txt_174"/>
          <p:cNvSpPr txBox="1"/>
          <p:nvPr/>
        </p:nvSpPr>
        <p:spPr>
          <a:xfrm>
            <a:off x="8001000" y="3630168"/>
            <a:ext cx="365760" cy="274320"/>
          </a:xfrm>
          <a:prstGeom prst="rect">
            <a:avLst/>
          </a:prstGeom>
          <a:noFill/>
          <a:ln/>
        </p:spPr>
        <p:txBody>
          <a:bodyPr wrap="square" lIns="0" tIns="0" rIns="0" bIns="0" rtlCol="0" anchor="t"/>
          <a:lstStyle/>
          <a:p>
            <a:pPr marL="0" indent="0">
              <a:buNone/>
            </a:pPr>
            <a:r>
              <a:rPr lang="en-US" sz="1200" dirty="0">
                <a:solidFill>
                  <a:schemeClr val="tx2"/>
                </a:solidFill>
              </a:rPr>
              <a:t>β₁</a:t>
            </a:r>
            <a:endParaRPr lang="en-US" sz="1200" dirty="0"/>
          </a:p>
        </p:txBody>
      </p:sp>
      <p:sp>
        <p:nvSpPr>
          <p:cNvPr id="20" name="txt_175"/>
          <p:cNvSpPr txBox="1"/>
          <p:nvPr/>
        </p:nvSpPr>
        <p:spPr>
          <a:xfrm>
            <a:off x="6245352" y="1737360"/>
            <a:ext cx="365760" cy="274320"/>
          </a:xfrm>
          <a:prstGeom prst="rect">
            <a:avLst/>
          </a:prstGeom>
          <a:noFill/>
          <a:ln/>
        </p:spPr>
        <p:txBody>
          <a:bodyPr wrap="square" lIns="0" tIns="0" rIns="0" bIns="0" rtlCol="0" anchor="t"/>
          <a:lstStyle/>
          <a:p>
            <a:pPr marL="0" indent="0">
              <a:buNone/>
            </a:pPr>
            <a:r>
              <a:rPr lang="en-US" sz="1200" dirty="0">
                <a:solidFill>
                  <a:schemeClr val="tx2"/>
                </a:solidFill>
              </a:rPr>
              <a:t>β₂</a:t>
            </a:r>
            <a:endParaRPr lang="en-US" sz="1200" dirty="0"/>
          </a:p>
        </p:txBody>
      </p:sp>
      <p:sp>
        <p:nvSpPr>
          <p:cNvPr id="21" name="contour_176"/>
          <p:cNvSpPr/>
          <p:nvPr/>
        </p:nvSpPr>
        <p:spPr>
          <a:xfrm>
            <a:off x="6090699" y="1986932"/>
            <a:ext cx="1891217" cy="945609"/>
          </a:xfrm>
          <a:prstGeom prst="ellipse">
            <a:avLst/>
          </a:prstGeom>
          <a:ln w="22225">
            <a:solidFill>
              <a:srgbClr val="E97132"/>
            </a:solidFill>
            <a:prstDash val="solid"/>
          </a:ln>
        </p:spPr>
        <p:txBody>
          <a:bodyPr/>
          <a:lstStyle/>
          <a:p>
            <a:endParaRPr lang="en-US"/>
          </a:p>
        </p:txBody>
      </p:sp>
      <p:sp>
        <p:nvSpPr>
          <p:cNvPr id="22" name="contour_177"/>
          <p:cNvSpPr/>
          <p:nvPr/>
        </p:nvSpPr>
        <p:spPr>
          <a:xfrm>
            <a:off x="6401975" y="2142569"/>
            <a:ext cx="1268667" cy="634333"/>
          </a:xfrm>
          <a:prstGeom prst="ellipse">
            <a:avLst/>
          </a:prstGeom>
          <a:ln w="22225">
            <a:solidFill>
              <a:srgbClr val="E97132"/>
            </a:solidFill>
            <a:prstDash val="solid"/>
          </a:ln>
        </p:spPr>
        <p:txBody>
          <a:bodyPr/>
          <a:lstStyle/>
          <a:p>
            <a:endParaRPr lang="en-US"/>
          </a:p>
        </p:txBody>
      </p:sp>
      <p:sp>
        <p:nvSpPr>
          <p:cNvPr id="23" name="contour_178"/>
          <p:cNvSpPr/>
          <p:nvPr/>
        </p:nvSpPr>
        <p:spPr>
          <a:xfrm>
            <a:off x="6670075" y="2276620"/>
            <a:ext cx="732465" cy="366233"/>
          </a:xfrm>
          <a:prstGeom prst="ellipse">
            <a:avLst/>
          </a:prstGeom>
          <a:ln w="22225">
            <a:solidFill>
              <a:srgbClr val="E97132"/>
            </a:solidFill>
            <a:prstDash val="solid"/>
          </a:ln>
        </p:spPr>
        <p:txBody>
          <a:bodyPr/>
          <a:lstStyle/>
          <a:p>
            <a:endParaRPr lang="en-US"/>
          </a:p>
        </p:txBody>
      </p:sp>
      <p:sp>
        <p:nvSpPr>
          <p:cNvPr id="24" name="ols_179"/>
          <p:cNvSpPr/>
          <p:nvPr/>
        </p:nvSpPr>
        <p:spPr>
          <a:xfrm>
            <a:off x="6990588" y="2414016"/>
            <a:ext cx="91440" cy="91440"/>
          </a:xfrm>
          <a:prstGeom prst="ellipse">
            <a:avLst/>
          </a:prstGeom>
          <a:solidFill>
            <a:schemeClr val="tx1"/>
          </a:solidFill>
          <a:ln/>
        </p:spPr>
        <p:txBody>
          <a:bodyPr/>
          <a:lstStyle/>
          <a:p>
            <a:endParaRPr lang="en-US"/>
          </a:p>
        </p:txBody>
      </p:sp>
      <p:sp>
        <p:nvSpPr>
          <p:cNvPr id="25" name="circle_180"/>
          <p:cNvSpPr/>
          <p:nvPr/>
        </p:nvSpPr>
        <p:spPr>
          <a:xfrm>
            <a:off x="5212080" y="2651760"/>
            <a:ext cx="1920240" cy="1920240"/>
          </a:xfrm>
          <a:prstGeom prst="ellipse">
            <a:avLst/>
          </a:prstGeom>
          <a:solidFill>
            <a:schemeClr val="accent5">
              <a:alpha val="65000"/>
            </a:schemeClr>
          </a:solidFill>
          <a:ln w="25400">
            <a:solidFill>
              <a:schemeClr val="accent1"/>
            </a:solidFill>
            <a:prstDash val="solid"/>
          </a:ln>
        </p:spPr>
        <p:txBody>
          <a:bodyPr/>
          <a:lstStyle/>
          <a:p>
            <a:endParaRPr lang="en-US"/>
          </a:p>
        </p:txBody>
      </p:sp>
      <p:sp>
        <p:nvSpPr>
          <p:cNvPr id="26" name="contact_181"/>
          <p:cNvSpPr/>
          <p:nvPr/>
        </p:nvSpPr>
        <p:spPr>
          <a:xfrm>
            <a:off x="6483096" y="2655418"/>
            <a:ext cx="146304" cy="146304"/>
          </a:xfrm>
          <a:prstGeom prst="ellipse">
            <a:avLst/>
          </a:prstGeom>
          <a:solidFill>
            <a:schemeClr val="accent4"/>
          </a:solidFill>
          <a:ln/>
        </p:spPr>
        <p:txBody>
          <a:bodyPr/>
          <a:lstStyle/>
          <a:p>
            <a:endParaRPr lang="en-US"/>
          </a:p>
        </p:txBody>
      </p:sp>
      <p:sp>
        <p:nvSpPr>
          <p:cNvPr id="27" name="txt_182"/>
          <p:cNvSpPr txBox="1"/>
          <p:nvPr/>
        </p:nvSpPr>
        <p:spPr>
          <a:xfrm>
            <a:off x="4846320" y="1280160"/>
            <a:ext cx="3566160" cy="365760"/>
          </a:xfrm>
          <a:prstGeom prst="rect">
            <a:avLst/>
          </a:prstGeom>
          <a:noFill/>
          <a:ln/>
        </p:spPr>
        <p:txBody>
          <a:bodyPr wrap="square" lIns="0" tIns="0" rIns="0" bIns="0" rtlCol="0" anchor="t"/>
          <a:lstStyle/>
          <a:p>
            <a:pPr marL="0" indent="0" algn="ctr">
              <a:buNone/>
            </a:pPr>
            <a:r>
              <a:rPr lang="en-US" sz="1600" b="1" dirty="0">
                <a:solidFill>
                  <a:schemeClr val="tx1"/>
                </a:solidFill>
              </a:rPr>
              <a:t>Ridge: circle</a:t>
            </a:r>
            <a:endParaRPr lang="en-US" sz="1600" dirty="0"/>
          </a:p>
        </p:txBody>
      </p:sp>
      <p:sp>
        <p:nvSpPr>
          <p:cNvPr id="28" name="txt_183"/>
          <p:cNvSpPr txBox="1"/>
          <p:nvPr/>
        </p:nvSpPr>
        <p:spPr>
          <a:xfrm>
            <a:off x="1097280" y="5138928"/>
            <a:ext cx="3566160" cy="457200"/>
          </a:xfrm>
          <a:prstGeom prst="rect">
            <a:avLst/>
          </a:prstGeom>
          <a:noFill/>
          <a:ln/>
        </p:spPr>
        <p:txBody>
          <a:bodyPr wrap="square" lIns="0" tIns="0" rIns="0" bIns="0" rtlCol="0" anchor="t"/>
          <a:lstStyle/>
          <a:p>
            <a:pPr marL="0" indent="0" algn="ctr">
              <a:buNone/>
            </a:pPr>
            <a:r>
              <a:rPr lang="en-US" sz="1400" b="1" dirty="0">
                <a:solidFill>
                  <a:schemeClr val="accent4"/>
                </a:solidFill>
              </a:rPr>
              <a:t>Touches at a corner on the axis: β₁ = 0</a:t>
            </a:r>
            <a:endParaRPr lang="en-US" sz="1400" dirty="0"/>
          </a:p>
        </p:txBody>
      </p:sp>
      <p:sp>
        <p:nvSpPr>
          <p:cNvPr id="29" name="txt_184"/>
          <p:cNvSpPr txBox="1"/>
          <p:nvPr/>
        </p:nvSpPr>
        <p:spPr>
          <a:xfrm>
            <a:off x="4846320" y="5138928"/>
            <a:ext cx="3566160" cy="457200"/>
          </a:xfrm>
          <a:prstGeom prst="rect">
            <a:avLst/>
          </a:prstGeom>
          <a:noFill/>
          <a:ln/>
        </p:spPr>
        <p:txBody>
          <a:bodyPr wrap="square" lIns="0" tIns="0" rIns="0" bIns="0" rtlCol="0" anchor="t"/>
          <a:lstStyle/>
          <a:p>
            <a:pPr marL="0" indent="0" algn="ctr">
              <a:buNone/>
            </a:pPr>
            <a:r>
              <a:rPr lang="en-US" sz="1400" b="1" dirty="0">
                <a:solidFill>
                  <a:schemeClr val="accent4"/>
                </a:solidFill>
              </a:rPr>
              <a:t>Touches off the axis: both non-zero</a:t>
            </a:r>
            <a:endParaRPr lang="en-US" sz="1400" dirty="0"/>
          </a:p>
        </p:txBody>
      </p:sp>
      <p:sp>
        <p:nvSpPr>
          <p:cNvPr id="30" name="card_185"/>
          <p:cNvSpPr/>
          <p:nvPr/>
        </p:nvSpPr>
        <p:spPr>
          <a:xfrm>
            <a:off x="8549640" y="1508760"/>
            <a:ext cx="3090672" cy="4114800"/>
          </a:xfrm>
          <a:prstGeom prst="roundRect">
            <a:avLst>
              <a:gd name="adj" fmla="val 2367"/>
            </a:avLst>
          </a:prstGeom>
          <a:solidFill>
            <a:schemeClr val="bg2"/>
          </a:solidFill>
          <a:ln/>
        </p:spPr>
        <p:txBody>
          <a:bodyPr/>
          <a:lstStyle/>
          <a:p>
            <a:endParaRPr lang="en-US"/>
          </a:p>
        </p:txBody>
      </p:sp>
      <p:sp>
        <p:nvSpPr>
          <p:cNvPr id="31" name="cardtext_186"/>
          <p:cNvSpPr txBox="1"/>
          <p:nvPr/>
        </p:nvSpPr>
        <p:spPr>
          <a:xfrm>
            <a:off x="8271220" y="910844"/>
            <a:ext cx="3734847" cy="5502656"/>
          </a:xfrm>
          <a:prstGeom prst="rect">
            <a:avLst/>
          </a:prstGeom>
          <a:noFill/>
          <a:ln/>
        </p:spPr>
        <p:txBody>
          <a:bodyPr wrap="square" lIns="0" tIns="0" rIns="0" bIns="0" rtlCol="0" anchor="t"/>
          <a:lstStyle/>
          <a:p>
            <a:pPr marL="0" indent="0">
              <a:spcAft>
                <a:spcPts val="400"/>
              </a:spcAft>
              <a:buNone/>
            </a:pPr>
            <a:r>
              <a:rPr lang="en-US" sz="1600" b="1" dirty="0">
                <a:solidFill>
                  <a:schemeClr val="tx1"/>
                </a:solidFill>
              </a:rPr>
              <a:t>How to read it</a:t>
            </a:r>
            <a:endParaRPr lang="en-US" sz="1600" dirty="0"/>
          </a:p>
          <a:p>
            <a:pPr marL="285750" lvl="0" indent="-285750">
              <a:buFontTx/>
              <a:buChar char="-"/>
            </a:pPr>
            <a:r>
              <a:rPr lang="en-US" sz="1600" dirty="0"/>
              <a:t>Purple shaded region: The allowed values of the coefficients under the regularization constraint (penalty budget).</a:t>
            </a:r>
          </a:p>
          <a:p>
            <a:pPr marL="285750" lvl="0" indent="-285750">
              <a:buFontTx/>
              <a:buChar char="-"/>
            </a:pPr>
            <a:r>
              <a:rPr lang="en-US" sz="1600" dirty="0"/>
              <a:t>Black dot: The best coefficients from ordinary linear regression (OLS) without a penalty.</a:t>
            </a:r>
          </a:p>
          <a:p>
            <a:pPr marL="285750" lvl="0" indent="-285750">
              <a:buFontTx/>
              <a:buChar char="-"/>
            </a:pPr>
            <a:r>
              <a:rPr lang="en-US" sz="1600" dirty="0"/>
              <a:t>Orange ellipses: Lines of equal training error (RSS). Ellipses closer to the black dot represent lower error.</a:t>
            </a:r>
          </a:p>
          <a:p>
            <a:pPr marL="285750" lvl="0" indent="-285750">
              <a:buFontTx/>
              <a:buChar char="-"/>
            </a:pPr>
            <a:r>
              <a:rPr lang="en-US" sz="1600" dirty="0"/>
              <a:t>Blue dot: The best solution with regularization, where the lowest-error ellipse first touches the allowed region.</a:t>
            </a:r>
          </a:p>
          <a:p>
            <a:pPr marL="285750" lvl="0" indent="-285750">
              <a:buFontTx/>
              <a:buChar char="-"/>
            </a:pPr>
            <a:r>
              <a:rPr lang="en-US" sz="1600" dirty="0"/>
              <a:t>Lasso (diamond): The blue dot often falls at a corner on an axis, making one coefficient exactly zero and eliminating that predictor.</a:t>
            </a:r>
          </a:p>
          <a:p>
            <a:pPr marL="285750" lvl="0" indent="-285750">
              <a:buFontTx/>
              <a:buChar char="-"/>
            </a:pPr>
            <a:r>
              <a:rPr lang="en-US" sz="1600" dirty="0"/>
              <a:t>Ridge (circle): The smooth boundary generally leads to smaller but nonzero coefficients, keeping both predictors.</a:t>
            </a:r>
          </a:p>
        </p:txBody>
      </p:sp>
      <p:sp>
        <p:nvSpPr>
          <p:cNvPr id="32" name="callout_187"/>
          <p:cNvSpPr txBox="1"/>
          <p:nvPr/>
        </p:nvSpPr>
        <p:spPr>
          <a:xfrm>
            <a:off x="218440" y="6159500"/>
            <a:ext cx="7184100" cy="548640"/>
          </a:xfrm>
          <a:prstGeom prst="roundRect">
            <a:avLst>
              <a:gd name="adj" fmla="val 13333"/>
            </a:avLst>
          </a:prstGeom>
          <a:solidFill>
            <a:schemeClr val="accent3"/>
          </a:solidFill>
          <a:ln/>
        </p:spPr>
        <p:txBody>
          <a:bodyPr wrap="square" lIns="127000" tIns="127000" rIns="127000" bIns="127000" rtlCol="0" anchor="ctr"/>
          <a:lstStyle/>
          <a:p>
            <a:pPr marL="0" indent="0" algn="l">
              <a:buNone/>
            </a:pPr>
            <a:r>
              <a:rPr lang="en-US" sz="1600" b="1" dirty="0">
                <a:solidFill>
                  <a:schemeClr val="bg1"/>
                </a:solidFill>
              </a:rPr>
              <a:t>Corners give lasso exact zeros. The round ridge region only shrinks.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2 · RIDGE AND LASSO</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Ridge vs. lasso: which one, when?</a:t>
            </a:r>
            <a:endParaRPr lang="en-US" sz="3000" dirty="0"/>
          </a:p>
        </p:txBody>
      </p:sp>
      <p:graphicFrame>
        <p:nvGraphicFramePr>
          <p:cNvPr id="17" name="comparison_table"/>
          <p:cNvGraphicFramePr>
            <a:graphicFrameLocks noGrp="1"/>
          </p:cNvGraphicFramePr>
          <p:nvPr>
            <p:extLst>
              <p:ext uri="{D42A27DB-BD31-4B8C-83A1-F6EECF244321}">
                <p14:modId xmlns:p14="http://schemas.microsoft.com/office/powerpoint/2010/main" val="1536409516"/>
              </p:ext>
            </p:extLst>
          </p:nvPr>
        </p:nvGraphicFramePr>
        <p:xfrm>
          <a:off x="548640" y="1508760"/>
          <a:ext cx="11091672" cy="3200400"/>
        </p:xfrm>
        <a:graphic>
          <a:graphicData uri="http://schemas.openxmlformats.org/drawingml/2006/table">
            <a:tbl>
              <a:tblPr/>
              <a:tblGrid>
                <a:gridCol w="246888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457200">
                <a:tc>
                  <a:txBody>
                    <a:bodyPr/>
                    <a:lstStyle/>
                    <a:p>
                      <a:pPr marL="0" indent="0">
                        <a:buNone/>
                      </a:pP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0E2841"/>
                    </a:solidFill>
                  </a:tcPr>
                </a:tc>
                <a:tc>
                  <a:txBody>
                    <a:bodyPr/>
                    <a:lstStyle/>
                    <a:p>
                      <a:pPr marL="0" indent="0">
                        <a:buNone/>
                      </a:pPr>
                      <a:r>
                        <a:rPr lang="en-US" sz="1400" b="1" dirty="0">
                          <a:solidFill>
                            <a:srgbClr val="FFFFFF"/>
                          </a:solidFill>
                        </a:rPr>
                        <a:t>Ridge (L2)</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0E2841"/>
                    </a:solidFill>
                  </a:tcPr>
                </a:tc>
                <a:tc>
                  <a:txBody>
                    <a:bodyPr/>
                    <a:lstStyle/>
                    <a:p>
                      <a:pPr marL="0" indent="0">
                        <a:buNone/>
                      </a:pPr>
                      <a:r>
                        <a:rPr lang="en-US" sz="1400" b="1" dirty="0">
                          <a:solidFill>
                            <a:srgbClr val="FFFFFF"/>
                          </a:solidFill>
                        </a:rPr>
                        <a:t>Lasso (L1)</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0E2841"/>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0E2841"/>
                          </a:solidFill>
                        </a:rPr>
                        <a:t>Penalty on</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DEDED"/>
                    </a:solidFill>
                  </a:tcPr>
                </a:tc>
                <a:tc>
                  <a:txBody>
                    <a:bodyPr/>
                    <a:lstStyle/>
                    <a:p>
                      <a:pPr marL="0" indent="0">
                        <a:buNone/>
                      </a:pPr>
                      <a:r>
                        <a:rPr lang="en-US" sz="1400" dirty="0">
                          <a:solidFill>
                            <a:srgbClr val="0E2841"/>
                          </a:solidFill>
                        </a:rPr>
                        <a:t>Sum of squared coefficients</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400" dirty="0">
                          <a:solidFill>
                            <a:srgbClr val="0E2841"/>
                          </a:solidFill>
                        </a:rPr>
                        <a:t>Sum of absolute coefficients</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0E2841"/>
                          </a:solidFill>
                        </a:rPr>
                        <a:t>Coefficients</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DEDED"/>
                    </a:solidFill>
                  </a:tcPr>
                </a:tc>
                <a:tc>
                  <a:txBody>
                    <a:bodyPr/>
                    <a:lstStyle/>
                    <a:p>
                      <a:pPr marL="0" indent="0">
                        <a:buNone/>
                      </a:pPr>
                      <a:r>
                        <a:rPr lang="en-US" sz="1400" dirty="0">
                          <a:solidFill>
                            <a:srgbClr val="0E2841"/>
                          </a:solidFill>
                        </a:rPr>
                        <a:t>Small, never exactly 0</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400" dirty="0">
                          <a:solidFill>
                            <a:srgbClr val="0E2841"/>
                          </a:solidFill>
                        </a:rPr>
                        <a:t>Some exactly 0</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0E2841"/>
                          </a:solidFill>
                        </a:rPr>
                        <a:t>Feature selection</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DEDED"/>
                    </a:solidFill>
                  </a:tcPr>
                </a:tc>
                <a:tc>
                  <a:txBody>
                    <a:bodyPr/>
                    <a:lstStyle/>
                    <a:p>
                      <a:pPr marL="0" indent="0">
                        <a:buNone/>
                      </a:pPr>
                      <a:r>
                        <a:rPr lang="en-US" sz="1400" dirty="0">
                          <a:solidFill>
                            <a:srgbClr val="0E2841"/>
                          </a:solidFill>
                        </a:rPr>
                        <a:t>No: keeps every feature</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400" dirty="0">
                          <a:solidFill>
                            <a:srgbClr val="0E2841"/>
                          </a:solidFill>
                        </a:rPr>
                        <a:t>Yes: automatic</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0E2841"/>
                          </a:solidFill>
                        </a:rPr>
                        <a:t>Correlated features</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DEDED"/>
                    </a:solidFill>
                  </a:tcPr>
                </a:tc>
                <a:tc>
                  <a:txBody>
                    <a:bodyPr/>
                    <a:lstStyle/>
                    <a:p>
                      <a:pPr marL="0" indent="0">
                        <a:buNone/>
                      </a:pPr>
                      <a:r>
                        <a:rPr lang="en-US" sz="1400" dirty="0">
                          <a:solidFill>
                            <a:srgbClr val="0E2841"/>
                          </a:solidFill>
                        </a:rPr>
                        <a:t>Shares weight among them</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400" dirty="0">
                          <a:solidFill>
                            <a:srgbClr val="0E2841"/>
                          </a:solidFill>
                        </a:rPr>
                        <a:t>Often keeps one, drops the others</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0E2841"/>
                          </a:solidFill>
                        </a:rPr>
                        <a:t>Works best when</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DEDED"/>
                    </a:solidFill>
                  </a:tcPr>
                </a:tc>
                <a:tc>
                  <a:txBody>
                    <a:bodyPr/>
                    <a:lstStyle/>
                    <a:p>
                      <a:pPr marL="0" indent="0">
                        <a:buNone/>
                      </a:pPr>
                      <a:r>
                        <a:rPr lang="en-US" sz="1400" dirty="0">
                          <a:solidFill>
                            <a:srgbClr val="0E2841"/>
                          </a:solidFill>
                        </a:rPr>
                        <a:t>Many features each matter a little</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400" dirty="0">
                          <a:solidFill>
                            <a:srgbClr val="0E2841"/>
                          </a:solidFill>
                        </a:rPr>
                        <a:t>Few features matter, the rest do not</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400" b="1" dirty="0">
                          <a:solidFill>
                            <a:srgbClr val="0E2841"/>
                          </a:solidFill>
                        </a:rPr>
                        <a:t>scikit-learn</a:t>
                      </a:r>
                      <a:endParaRPr lang="en-US" sz="1400" dirty="0"/>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DEDED"/>
                    </a:solidFill>
                  </a:tcPr>
                </a:tc>
                <a:tc>
                  <a:txBody>
                    <a:bodyPr/>
                    <a:lstStyle/>
                    <a:p>
                      <a:pPr marL="0" indent="0">
                        <a:buNone/>
                      </a:pPr>
                      <a:r>
                        <a:rPr lang="en-US" sz="1400" dirty="0">
                          <a:solidFill>
                            <a:schemeClr val="accent1">
                              <a:lumMod val="50000"/>
                            </a:schemeClr>
                          </a:solidFill>
                        </a:rPr>
                        <a:t>Ridge, </a:t>
                      </a:r>
                      <a:r>
                        <a:rPr lang="en-US" sz="1400" dirty="0" err="1">
                          <a:solidFill>
                            <a:schemeClr val="accent1">
                              <a:lumMod val="50000"/>
                            </a:schemeClr>
                          </a:solidFill>
                        </a:rPr>
                        <a:t>RidgeCV</a:t>
                      </a:r>
                      <a:r>
                        <a:rPr lang="en-US" sz="1400" dirty="0">
                          <a:solidFill>
                            <a:schemeClr val="accent1">
                              <a:lumMod val="50000"/>
                            </a:schemeClr>
                          </a:solidFill>
                        </a:rPr>
                        <a:t> or </a:t>
                      </a:r>
                      <a:r>
                        <a:rPr lang="en-US" sz="1400" dirty="0" err="1">
                          <a:solidFill>
                            <a:schemeClr val="accent1">
                              <a:lumMod val="50000"/>
                            </a:schemeClr>
                          </a:solidFill>
                        </a:rPr>
                        <a:t>GridSearchCV</a:t>
                      </a:r>
                      <a:endParaRPr lang="en-US" sz="1400" dirty="0">
                        <a:solidFill>
                          <a:schemeClr val="accent1">
                            <a:lumMod val="50000"/>
                          </a:schemeClr>
                        </a:solidFill>
                      </a:endParaRPr>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1400" dirty="0">
                          <a:solidFill>
                            <a:schemeClr val="accent1">
                              <a:lumMod val="50000"/>
                            </a:schemeClr>
                          </a:solidFill>
                        </a:rPr>
                        <a:t>Lasso, </a:t>
                      </a:r>
                      <a:r>
                        <a:rPr lang="en-US" sz="1400" dirty="0" err="1">
                          <a:solidFill>
                            <a:schemeClr val="accent1">
                              <a:lumMod val="50000"/>
                            </a:schemeClr>
                          </a:solidFill>
                        </a:rPr>
                        <a:t>LassoCV</a:t>
                      </a:r>
                      <a:r>
                        <a:rPr lang="en-US" sz="1400" dirty="0">
                          <a:solidFill>
                            <a:schemeClr val="accent1">
                              <a:lumMod val="50000"/>
                            </a:schemeClr>
                          </a:solidFill>
                        </a:rPr>
                        <a:t> or </a:t>
                      </a:r>
                      <a:r>
                        <a:rPr lang="en-US" sz="1400" dirty="0" err="1">
                          <a:solidFill>
                            <a:schemeClr val="accent1">
                              <a:lumMod val="50000"/>
                            </a:schemeClr>
                          </a:solidFill>
                        </a:rPr>
                        <a:t>GridSearchCV</a:t>
                      </a:r>
                      <a:endParaRPr lang="en-US" sz="1400" dirty="0">
                        <a:solidFill>
                          <a:schemeClr val="accent1">
                            <a:lumMod val="50000"/>
                          </a:schemeClr>
                        </a:solidFill>
                      </a:endParaRPr>
                    </a:p>
                  </a:txBody>
                  <a:tcPr marL="109728" marR="109728" marT="27432" marB="2743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callout_188"/>
          <p:cNvSpPr txBox="1"/>
          <p:nvPr/>
        </p:nvSpPr>
        <p:spPr>
          <a:xfrm>
            <a:off x="548640" y="4892040"/>
            <a:ext cx="11091672" cy="548640"/>
          </a:xfrm>
          <a:prstGeom prst="roundRect">
            <a:avLst>
              <a:gd name="adj" fmla="val 13333"/>
            </a:avLst>
          </a:prstGeom>
          <a:solidFill>
            <a:schemeClr val="accent3"/>
          </a:solidFill>
          <a:ln/>
        </p:spPr>
        <p:txBody>
          <a:bodyPr wrap="square" lIns="127000" tIns="127000" rIns="127000" bIns="127000" rtlCol="0" anchor="ctr"/>
          <a:lstStyle/>
          <a:p>
            <a:pPr marL="0" indent="0" algn="l">
              <a:buNone/>
            </a:pPr>
            <a:r>
              <a:rPr lang="en-US" sz="1600" b="1" dirty="0">
                <a:solidFill>
                  <a:schemeClr val="bg1"/>
                </a:solidFill>
              </a:rPr>
              <a:t>No universal winner: try both and let cross-validation decide.</a:t>
            </a:r>
            <a:endParaRPr lang="en-US" sz="1600" dirty="0"/>
          </a:p>
        </p:txBody>
      </p:sp>
      <p:sp>
        <p:nvSpPr>
          <p:cNvPr id="6" name="card_189"/>
          <p:cNvSpPr/>
          <p:nvPr/>
        </p:nvSpPr>
        <p:spPr>
          <a:xfrm>
            <a:off x="548640" y="5577840"/>
            <a:ext cx="11091672" cy="685800"/>
          </a:xfrm>
          <a:prstGeom prst="roundRect">
            <a:avLst>
              <a:gd name="adj" fmla="val 10667"/>
            </a:avLst>
          </a:prstGeom>
          <a:solidFill>
            <a:schemeClr val="accent2"/>
          </a:solidFill>
          <a:ln/>
        </p:spPr>
        <p:txBody>
          <a:bodyPr/>
          <a:lstStyle/>
          <a:p>
            <a:endParaRPr lang="en-US"/>
          </a:p>
        </p:txBody>
      </p:sp>
      <p:sp>
        <p:nvSpPr>
          <p:cNvPr id="7" name="cardtext_190"/>
          <p:cNvSpPr txBox="1"/>
          <p:nvPr/>
        </p:nvSpPr>
        <p:spPr>
          <a:xfrm>
            <a:off x="731520" y="5705856"/>
            <a:ext cx="10725912" cy="429768"/>
          </a:xfrm>
          <a:prstGeom prst="rect">
            <a:avLst/>
          </a:prstGeom>
          <a:noFill/>
          <a:ln/>
        </p:spPr>
        <p:txBody>
          <a:bodyPr wrap="square" lIns="0" tIns="0" rIns="0" bIns="0" rtlCol="0" anchor="t"/>
          <a:lstStyle/>
          <a:p>
            <a:pPr marL="0" indent="0">
              <a:spcAft>
                <a:spcPts val="400"/>
              </a:spcAft>
              <a:buNone/>
            </a:pPr>
            <a:r>
              <a:rPr lang="en-US" sz="1600" dirty="0">
                <a:solidFill>
                  <a:schemeClr val="tx1"/>
                </a:solidFill>
              </a:rPr>
              <a:t>Beyond the chapter: Elastic Net (ElasticNet in scikit-learn) blends both penalties, handy with groups of correlated features.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524EDC19-C6D8-1F0C-2776-49D9BDA57497}"/>
              </a:ext>
            </a:extLst>
          </p:cNvPr>
          <p:cNvSpPr txBox="1">
            <a:spLocks/>
          </p:cNvSpPr>
          <p:nvPr/>
        </p:nvSpPr>
        <p:spPr>
          <a:xfrm>
            <a:off x="548640" y="2286000"/>
            <a:ext cx="9144000" cy="320040"/>
          </a:xfrm>
          <a:prstGeom prst="rect">
            <a:avLst/>
          </a:prstGeom>
          <a:noFill/>
          <a:ln/>
        </p:spPr>
        <p:txBody>
          <a:bodyPr wrap="square" lIns="0" tIns="0" rIns="0" bIns="0"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kern="0" spc="200">
                <a:solidFill>
                  <a:schemeClr val="accent2"/>
                </a:solidFill>
              </a:rPr>
              <a:t>PART 3</a:t>
            </a:r>
            <a:endParaRPr lang="en-US" sz="1600" dirty="0"/>
          </a:p>
        </p:txBody>
      </p:sp>
      <p:sp>
        <p:nvSpPr>
          <p:cNvPr id="3" name="Text 1">
            <a:extLst>
              <a:ext uri="{FF2B5EF4-FFF2-40B4-BE49-F238E27FC236}">
                <a16:creationId xmlns:a16="http://schemas.microsoft.com/office/drawing/2014/main" id="{EFB4F31F-D465-CE7F-C6CA-042D7F163C02}"/>
              </a:ext>
            </a:extLst>
          </p:cNvPr>
          <p:cNvSpPr txBox="1">
            <a:spLocks/>
          </p:cNvSpPr>
          <p:nvPr/>
        </p:nvSpPr>
        <p:spPr>
          <a:xfrm>
            <a:off x="548640" y="2697480"/>
            <a:ext cx="10515600" cy="914400"/>
          </a:xfrm>
          <a:prstGeom prst="rect">
            <a:avLst/>
          </a:prstGeom>
          <a:noFill/>
          <a:ln/>
        </p:spPr>
        <p:txBody>
          <a:bodyPr wrap="square" lIns="0" tIns="0" rIns="0" bIns="0" rtlCol="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solidFill>
                  <a:schemeClr val="bg1"/>
                </a:solidFill>
              </a:rPr>
              <a:t>Regularization in practice</a:t>
            </a:r>
            <a:endParaRPr lang="en-US" sz="4000" dirty="0"/>
          </a:p>
        </p:txBody>
      </p:sp>
      <p:sp>
        <p:nvSpPr>
          <p:cNvPr id="4" name="txt_191">
            <a:extLst>
              <a:ext uri="{FF2B5EF4-FFF2-40B4-BE49-F238E27FC236}">
                <a16:creationId xmlns:a16="http://schemas.microsoft.com/office/drawing/2014/main" id="{4A906261-BB70-ED59-4D95-3865ACDA0206}"/>
              </a:ext>
            </a:extLst>
          </p:cNvPr>
          <p:cNvSpPr txBox="1"/>
          <p:nvPr/>
        </p:nvSpPr>
        <p:spPr>
          <a:xfrm>
            <a:off x="548640" y="3749040"/>
            <a:ext cx="10058400" cy="457200"/>
          </a:xfrm>
          <a:prstGeom prst="rect">
            <a:avLst/>
          </a:prstGeom>
          <a:noFill/>
          <a:ln/>
        </p:spPr>
        <p:txBody>
          <a:bodyPr wrap="square" lIns="0" tIns="0" rIns="0" bIns="0" rtlCol="0" anchor="t"/>
          <a:lstStyle/>
          <a:p>
            <a:pPr marL="0" indent="0">
              <a:buNone/>
            </a:pPr>
            <a:r>
              <a:rPr lang="en-US" sz="1800" dirty="0">
                <a:solidFill>
                  <a:schemeClr val="bg1"/>
                </a:solidFill>
              </a:rPr>
              <a:t>Scaling, choosing α, and reading the results</a:t>
            </a:r>
            <a:endParaRPr lang="en-US" sz="1800" dirty="0"/>
          </a:p>
        </p:txBody>
      </p:sp>
    </p:spTree>
    <p:extLst>
      <p:ext uri="{BB962C8B-B14F-4D97-AF65-F5344CB8AC3E}">
        <p14:creationId xmlns:p14="http://schemas.microsoft.com/office/powerpoint/2010/main" val="1856841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3 · IN PRACTICE</a:t>
            </a:r>
            <a:endParaRPr lang="en-US" sz="1200" dirty="0"/>
          </a:p>
        </p:txBody>
      </p:sp>
      <p:sp>
        <p:nvSpPr>
          <p:cNvPr id="3" name="Text 0"/>
          <p:cNvSpPr>
            <a:spLocks noGrp="1"/>
          </p:cNvSpPr>
          <p:nvPr>
            <p:ph type="title" idx="101" hasCustomPrompt="1"/>
          </p:nvPr>
        </p:nvSpPr>
        <p:spPr>
          <a:xfrm>
            <a:off x="256540" y="6416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Scale first: the penalty is blind to units</a:t>
            </a:r>
            <a:endParaRPr lang="en-US" sz="3000" dirty="0"/>
          </a:p>
        </p:txBody>
      </p:sp>
      <p:sp>
        <p:nvSpPr>
          <p:cNvPr id="4" name="card_192"/>
          <p:cNvSpPr/>
          <p:nvPr/>
        </p:nvSpPr>
        <p:spPr>
          <a:xfrm>
            <a:off x="548640" y="1508760"/>
            <a:ext cx="5303520" cy="1691640"/>
          </a:xfrm>
          <a:prstGeom prst="roundRect">
            <a:avLst>
              <a:gd name="adj" fmla="val 4324"/>
            </a:avLst>
          </a:prstGeom>
          <a:solidFill>
            <a:schemeClr val="bg2"/>
          </a:solidFill>
          <a:ln/>
        </p:spPr>
        <p:txBody>
          <a:bodyPr/>
          <a:lstStyle/>
          <a:p>
            <a:endParaRPr lang="en-US"/>
          </a:p>
        </p:txBody>
      </p:sp>
      <p:sp>
        <p:nvSpPr>
          <p:cNvPr id="5" name="cardtext_193"/>
          <p:cNvSpPr txBox="1"/>
          <p:nvPr/>
        </p:nvSpPr>
        <p:spPr>
          <a:xfrm>
            <a:off x="424180" y="1421892"/>
            <a:ext cx="5303520" cy="1435608"/>
          </a:xfrm>
          <a:prstGeom prst="rect">
            <a:avLst/>
          </a:prstGeom>
          <a:noFill/>
          <a:ln/>
        </p:spPr>
        <p:txBody>
          <a:bodyPr wrap="square" lIns="0" tIns="0" rIns="0" bIns="0" rtlCol="0" anchor="t"/>
          <a:lstStyle/>
          <a:p>
            <a:pPr marL="0" indent="0">
              <a:spcAft>
                <a:spcPts val="400"/>
              </a:spcAft>
              <a:buNone/>
            </a:pPr>
            <a:r>
              <a:rPr lang="en-US" sz="2000" b="1" dirty="0">
                <a:solidFill>
                  <a:schemeClr val="tx1"/>
                </a:solidFill>
              </a:rPr>
              <a:t>Income in dollars</a:t>
            </a:r>
            <a:endParaRPr lang="en-US" sz="2000" dirty="0"/>
          </a:p>
          <a:p>
            <a:pPr marL="285750" lvl="0" indent="-285750">
              <a:buFontTx/>
              <a:buChar char="-"/>
            </a:pPr>
            <a:r>
              <a:rPr lang="en-US" dirty="0"/>
              <a:t>Suppose the regression coefficient is 0.002.</a:t>
            </a:r>
          </a:p>
          <a:p>
            <a:pPr marL="285750" lvl="0" indent="-285750">
              <a:buFontTx/>
              <a:buChar char="-"/>
            </a:pPr>
            <a:r>
              <a:rPr lang="en-US" dirty="0"/>
              <a:t>This means a $1 increase in income changes the predicted outcome by 0.002 units.</a:t>
            </a:r>
          </a:p>
          <a:p>
            <a:pPr marL="285750" lvl="0" indent="-285750">
              <a:buFontTx/>
              <a:buChar char="-"/>
            </a:pPr>
            <a:r>
              <a:rPr lang="en-US" dirty="0"/>
              <a:t>Because the coefficient is very small, Ridge and Lasso apply a relatively small penalty.</a:t>
            </a:r>
          </a:p>
        </p:txBody>
      </p:sp>
      <p:sp>
        <p:nvSpPr>
          <p:cNvPr id="7" name="card_195"/>
          <p:cNvSpPr/>
          <p:nvPr/>
        </p:nvSpPr>
        <p:spPr>
          <a:xfrm>
            <a:off x="6336792" y="1508760"/>
            <a:ext cx="5303520" cy="1691640"/>
          </a:xfrm>
          <a:prstGeom prst="roundRect">
            <a:avLst>
              <a:gd name="adj" fmla="val 4324"/>
            </a:avLst>
          </a:prstGeom>
          <a:solidFill>
            <a:schemeClr val="bg2"/>
          </a:solidFill>
          <a:ln/>
        </p:spPr>
        <p:txBody>
          <a:bodyPr/>
          <a:lstStyle/>
          <a:p>
            <a:endParaRPr lang="en-US"/>
          </a:p>
        </p:txBody>
      </p:sp>
      <p:sp>
        <p:nvSpPr>
          <p:cNvPr id="8" name="cardtext_196"/>
          <p:cNvSpPr txBox="1"/>
          <p:nvPr/>
        </p:nvSpPr>
        <p:spPr>
          <a:xfrm>
            <a:off x="5727700" y="1325880"/>
            <a:ext cx="5912612" cy="1435608"/>
          </a:xfrm>
          <a:prstGeom prst="rect">
            <a:avLst/>
          </a:prstGeom>
          <a:noFill/>
          <a:ln/>
        </p:spPr>
        <p:txBody>
          <a:bodyPr wrap="square" lIns="0" tIns="0" rIns="0" bIns="0" rtlCol="0" anchor="t"/>
          <a:lstStyle/>
          <a:p>
            <a:pPr marL="0" indent="0">
              <a:spcAft>
                <a:spcPts val="400"/>
              </a:spcAft>
              <a:buNone/>
            </a:pPr>
            <a:r>
              <a:rPr lang="en-US" sz="2000" b="1" dirty="0">
                <a:solidFill>
                  <a:schemeClr val="tx1"/>
                </a:solidFill>
              </a:rPr>
              <a:t>Income in thousands of dollars</a:t>
            </a:r>
            <a:endParaRPr lang="en-US" sz="2000" dirty="0"/>
          </a:p>
          <a:p>
            <a:pPr marL="285750" lvl="0" indent="-285750">
              <a:buFontTx/>
              <a:buChar char="-"/>
            </a:pPr>
            <a:r>
              <a:rPr lang="en-US" dirty="0"/>
              <a:t>The same income is now expressed in thousands rather than dollars.</a:t>
            </a:r>
          </a:p>
          <a:p>
            <a:pPr marL="285750" lvl="0" indent="-285750">
              <a:buFontTx/>
              <a:buChar char="-"/>
            </a:pPr>
            <a:r>
              <a:rPr lang="en-US" dirty="0"/>
              <a:t>The coefficient becomes 2, meaning a $1,000 increase changes the predicted outcome by 2 units.</a:t>
            </a:r>
          </a:p>
          <a:p>
            <a:pPr marL="285750" lvl="0" indent="-285750">
              <a:buFontTx/>
              <a:buChar char="-"/>
            </a:pPr>
            <a:r>
              <a:rPr lang="en-US" dirty="0"/>
              <a:t>Because the coefficient is much larger, Ridge and Lasso apply a much larger penalty.</a:t>
            </a:r>
          </a:p>
        </p:txBody>
      </p:sp>
      <p:sp>
        <p:nvSpPr>
          <p:cNvPr id="10" name="card_198"/>
          <p:cNvSpPr/>
          <p:nvPr/>
        </p:nvSpPr>
        <p:spPr>
          <a:xfrm>
            <a:off x="548640" y="3611880"/>
            <a:ext cx="6675120" cy="2606040"/>
          </a:xfrm>
          <a:prstGeom prst="roundRect">
            <a:avLst>
              <a:gd name="adj" fmla="val 2807"/>
            </a:avLst>
          </a:prstGeom>
          <a:solidFill>
            <a:schemeClr val="bg2"/>
          </a:solidFill>
          <a:ln/>
        </p:spPr>
        <p:txBody>
          <a:bodyPr/>
          <a:lstStyle/>
          <a:p>
            <a:endParaRPr lang="en-US"/>
          </a:p>
        </p:txBody>
      </p:sp>
      <p:sp>
        <p:nvSpPr>
          <p:cNvPr id="11" name="cardtext_199"/>
          <p:cNvSpPr txBox="1"/>
          <p:nvPr/>
        </p:nvSpPr>
        <p:spPr>
          <a:xfrm>
            <a:off x="233680" y="3586480"/>
            <a:ext cx="6675120" cy="235000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What to do</a:t>
            </a:r>
            <a:endParaRPr lang="en-US" sz="1800" dirty="0"/>
          </a:p>
          <a:p>
            <a:pPr marL="285750" lvl="0" indent="-285750">
              <a:buFontTx/>
              <a:buChar char="-"/>
            </a:pPr>
            <a:r>
              <a:rPr lang="en-US" sz="1600" dirty="0"/>
              <a:t>Why scale? Ridge and Lasso penalize coefficient magnitudes, which depend on the units used to measure predictors.</a:t>
            </a:r>
          </a:p>
          <a:p>
            <a:pPr marL="285750" lvl="0" indent="-285750">
              <a:buFontTx/>
              <a:buChar char="-"/>
            </a:pPr>
            <a:r>
              <a:rPr lang="en-US" sz="1600" dirty="0"/>
              <a:t>Standardize numerical predictors: Convert them to a mean of 0 and a standard deviation of 1. </a:t>
            </a:r>
          </a:p>
          <a:p>
            <a:pPr marL="285750" lvl="0" indent="-285750">
              <a:buFontTx/>
              <a:buChar char="-"/>
            </a:pPr>
            <a:r>
              <a:rPr lang="en-US" sz="1600" dirty="0"/>
              <a:t>Use a Pipeline: Place </a:t>
            </a:r>
            <a:r>
              <a:rPr lang="en-US" sz="1600" dirty="0" err="1"/>
              <a:t>StandardScaler</a:t>
            </a:r>
            <a:r>
              <a:rPr lang="en-US" sz="1600" dirty="0"/>
              <a:t>()</a:t>
            </a:r>
            <a:r>
              <a:rPr lang="en-US" sz="1400" dirty="0"/>
              <a:t> </a:t>
            </a:r>
            <a:r>
              <a:rPr lang="en-US" sz="1600" dirty="0"/>
              <a:t>inside the pipeline so scaling is calculated separately using the training observations in each cross-validation fold.</a:t>
            </a:r>
          </a:p>
          <a:p>
            <a:pPr marL="285750" lvl="0" indent="-285750">
              <a:buFontTx/>
              <a:buChar char="-"/>
            </a:pPr>
            <a:r>
              <a:rPr lang="en-US" sz="1600" dirty="0"/>
              <a:t>Tree-based models: Generally do not require scaling because they make splits based on predictor values rather than penalizing coefficients.</a:t>
            </a:r>
          </a:p>
        </p:txBody>
      </p:sp>
      <p:sp>
        <p:nvSpPr>
          <p:cNvPr id="12" name="codebox_200"/>
          <p:cNvSpPr/>
          <p:nvPr/>
        </p:nvSpPr>
        <p:spPr>
          <a:xfrm>
            <a:off x="7498080" y="3611880"/>
            <a:ext cx="4142232" cy="1371600"/>
          </a:xfrm>
          <a:prstGeom prst="roundRect">
            <a:avLst>
              <a:gd name="adj" fmla="val 4000"/>
            </a:avLst>
          </a:prstGeom>
          <a:solidFill>
            <a:schemeClr val="tx1"/>
          </a:solidFill>
          <a:ln/>
        </p:spPr>
        <p:txBody>
          <a:bodyPr/>
          <a:lstStyle/>
          <a:p>
            <a:endParaRPr lang="en-US"/>
          </a:p>
        </p:txBody>
      </p:sp>
      <p:sp>
        <p:nvSpPr>
          <p:cNvPr id="13" name="code_201"/>
          <p:cNvSpPr txBox="1"/>
          <p:nvPr/>
        </p:nvSpPr>
        <p:spPr>
          <a:xfrm>
            <a:off x="7680960" y="3703320"/>
            <a:ext cx="3776472" cy="1188720"/>
          </a:xfrm>
          <a:prstGeom prst="rect">
            <a:avLst/>
          </a:prstGeom>
          <a:noFill/>
          <a:ln/>
        </p:spPr>
        <p:txBody>
          <a:bodyPr wrap="square" lIns="0" tIns="0" rIns="0" bIns="0" rtlCol="0" anchor="ctr"/>
          <a:lstStyle/>
          <a:p>
            <a:pPr marL="0" indent="0">
              <a:buNone/>
            </a:pPr>
            <a:r>
              <a:rPr lang="en-US" sz="1400" dirty="0">
                <a:solidFill>
                  <a:schemeClr val="bg1"/>
                </a:solidFill>
                <a:latin typeface="Courier New" pitchFamily="34" charset="0"/>
                <a:ea typeface="Courier New" pitchFamily="34" charset="-122"/>
                <a:cs typeface="Courier New" pitchFamily="34" charset="-120"/>
              </a:rPr>
              <a:t>make_pipeline(</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StandardScaler(),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Ridge(alpha=1.0))</a:t>
            </a:r>
            <a:endParaRPr lang="en-US" sz="1400" dirty="0"/>
          </a:p>
        </p:txBody>
      </p:sp>
      <p:sp>
        <p:nvSpPr>
          <p:cNvPr id="14" name="card_202"/>
          <p:cNvSpPr/>
          <p:nvPr/>
        </p:nvSpPr>
        <p:spPr>
          <a:xfrm>
            <a:off x="7498080" y="5166360"/>
            <a:ext cx="4142232" cy="1051560"/>
          </a:xfrm>
          <a:prstGeom prst="roundRect">
            <a:avLst>
              <a:gd name="adj" fmla="val 6957"/>
            </a:avLst>
          </a:prstGeom>
          <a:solidFill>
            <a:schemeClr val="accent2"/>
          </a:solidFill>
          <a:ln/>
        </p:spPr>
        <p:txBody>
          <a:bodyPr/>
          <a:lstStyle/>
          <a:p>
            <a:endParaRPr lang="en-US"/>
          </a:p>
        </p:txBody>
      </p:sp>
      <p:sp>
        <p:nvSpPr>
          <p:cNvPr id="15" name="cardtext_203"/>
          <p:cNvSpPr txBox="1"/>
          <p:nvPr/>
        </p:nvSpPr>
        <p:spPr>
          <a:xfrm>
            <a:off x="7680960" y="5294376"/>
            <a:ext cx="3776472" cy="795528"/>
          </a:xfrm>
          <a:prstGeom prst="rect">
            <a:avLst/>
          </a:prstGeom>
          <a:noFill/>
          <a:ln/>
        </p:spPr>
        <p:txBody>
          <a:bodyPr wrap="square" lIns="0" tIns="0" rIns="0" bIns="0" rtlCol="0" anchor="t"/>
          <a:lstStyle/>
          <a:p>
            <a:pPr marL="0" indent="0">
              <a:spcAft>
                <a:spcPts val="400"/>
              </a:spcAft>
              <a:buNone/>
            </a:pPr>
            <a:r>
              <a:rPr lang="en-US" sz="1600" dirty="0">
                <a:solidFill>
                  <a:schemeClr val="tx1"/>
                </a:solidFill>
              </a:rPr>
              <a:t>Week 7 rule: anything that learns from data is fit on training data only.</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3 · IN PRACTICE</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Choosing α with cross-validation</a:t>
            </a:r>
            <a:endParaRPr lang="en-US" sz="3000" dirty="0"/>
          </a:p>
        </p:txBody>
      </p:sp>
      <p:graphicFrame>
        <p:nvGraphicFramePr>
          <p:cNvPr id="4" name="Chart 0"/>
          <p:cNvGraphicFramePr/>
          <p:nvPr/>
        </p:nvGraphicFramePr>
        <p:xfrm>
          <a:off x="548640" y="1463040"/>
          <a:ext cx="5440680" cy="3383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199632" y="1463040"/>
          <a:ext cx="5440680" cy="3383280"/>
        </p:xfrm>
        <a:graphic>
          <a:graphicData uri="http://schemas.openxmlformats.org/drawingml/2006/chart">
            <c:chart xmlns:c="http://schemas.openxmlformats.org/drawingml/2006/chart" xmlns:r="http://schemas.openxmlformats.org/officeDocument/2006/relationships" r:id="rId4"/>
          </a:graphicData>
        </a:graphic>
      </p:graphicFrame>
      <p:sp>
        <p:nvSpPr>
          <p:cNvPr id="6" name="codebox_204"/>
          <p:cNvSpPr/>
          <p:nvPr/>
        </p:nvSpPr>
        <p:spPr>
          <a:xfrm>
            <a:off x="548640" y="5029200"/>
            <a:ext cx="5440680" cy="1188720"/>
          </a:xfrm>
          <a:prstGeom prst="roundRect">
            <a:avLst>
              <a:gd name="adj" fmla="val 4615"/>
            </a:avLst>
          </a:prstGeom>
          <a:solidFill>
            <a:schemeClr val="tx1"/>
          </a:solidFill>
          <a:ln/>
        </p:spPr>
        <p:txBody>
          <a:bodyPr/>
          <a:lstStyle/>
          <a:p>
            <a:endParaRPr lang="en-US"/>
          </a:p>
        </p:txBody>
      </p:sp>
      <p:sp>
        <p:nvSpPr>
          <p:cNvPr id="7" name="code_205"/>
          <p:cNvSpPr txBox="1"/>
          <p:nvPr/>
        </p:nvSpPr>
        <p:spPr>
          <a:xfrm>
            <a:off x="731520" y="5120640"/>
            <a:ext cx="5074920" cy="1005840"/>
          </a:xfrm>
          <a:prstGeom prst="rect">
            <a:avLst/>
          </a:prstGeom>
          <a:noFill/>
          <a:ln/>
        </p:spPr>
        <p:txBody>
          <a:bodyPr wrap="square" lIns="0" tIns="0" rIns="0" bIns="0" rtlCol="0" anchor="ctr"/>
          <a:lstStyle/>
          <a:p>
            <a:pPr marL="0" indent="0">
              <a:buNone/>
            </a:pPr>
            <a:r>
              <a:rPr lang="en-US" sz="1400" dirty="0">
                <a:solidFill>
                  <a:schemeClr val="bg1"/>
                </a:solidFill>
                <a:latin typeface="Courier New" pitchFamily="34" charset="0"/>
                <a:ea typeface="Courier New" pitchFamily="34" charset="-122"/>
                <a:cs typeface="Courier New" pitchFamily="34" charset="-120"/>
              </a:rPr>
              <a:t>RidgeCV(alphas=np.logspace(-2, 3, 50), cv=5)</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LassoCV(cv=5)</a:t>
            </a:r>
            <a:endParaRPr lang="en-US" sz="1400" dirty="0"/>
          </a:p>
        </p:txBody>
      </p:sp>
      <p:sp>
        <p:nvSpPr>
          <p:cNvPr id="8" name="card_206"/>
          <p:cNvSpPr/>
          <p:nvPr/>
        </p:nvSpPr>
        <p:spPr>
          <a:xfrm>
            <a:off x="6199632" y="5029200"/>
            <a:ext cx="5440680" cy="1188720"/>
          </a:xfrm>
          <a:prstGeom prst="roundRect">
            <a:avLst>
              <a:gd name="adj" fmla="val 6154"/>
            </a:avLst>
          </a:prstGeom>
          <a:solidFill>
            <a:schemeClr val="bg2"/>
          </a:solidFill>
          <a:ln/>
        </p:spPr>
        <p:txBody>
          <a:bodyPr/>
          <a:lstStyle/>
          <a:p>
            <a:endParaRPr lang="en-US"/>
          </a:p>
        </p:txBody>
      </p:sp>
      <p:sp>
        <p:nvSpPr>
          <p:cNvPr id="9" name="cardtext_207"/>
          <p:cNvSpPr txBox="1"/>
          <p:nvPr/>
        </p:nvSpPr>
        <p:spPr>
          <a:xfrm>
            <a:off x="6382512" y="5157216"/>
            <a:ext cx="5580888" cy="932688"/>
          </a:xfrm>
          <a:prstGeom prst="rect">
            <a:avLst/>
          </a:prstGeom>
          <a:noFill/>
          <a:ln/>
        </p:spPr>
        <p:txBody>
          <a:bodyPr wrap="square" lIns="0" tIns="0" rIns="0" bIns="0" rtlCol="0" anchor="t"/>
          <a:lstStyle/>
          <a:p>
            <a:pPr>
              <a:spcAft>
                <a:spcPts val="400"/>
              </a:spcAft>
            </a:pPr>
            <a:r>
              <a:rPr lang="en-US" sz="1600" dirty="0">
                <a:solidFill>
                  <a:schemeClr val="tx1"/>
                </a:solidFill>
              </a:rPr>
              <a:t>Plain least squares scores about 2978; the best ridge and lasso about 2974 and 2972. A tiny gain: with 442 rows and 10 features, least squares is already stable. </a:t>
            </a:r>
          </a:p>
          <a:p>
            <a:pPr>
              <a:spcAft>
                <a:spcPts val="400"/>
              </a:spcAft>
            </a:pPr>
            <a:endParaRPr lang="en-US" sz="1000" dirty="0"/>
          </a:p>
          <a:p>
            <a:pPr>
              <a:spcAft>
                <a:spcPts val="400"/>
              </a:spcAft>
            </a:pPr>
            <a:r>
              <a:rPr lang="en-US" sz="1600" dirty="0"/>
              <a:t>Regularization does not always produce large improvements, especially when ordinary linear regression is already stable.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3 · IN PRACTICE</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When it pays off: many features, few rows</a:t>
            </a:r>
            <a:endParaRPr lang="en-US" sz="3000" dirty="0"/>
          </a:p>
        </p:txBody>
      </p:sp>
      <p:graphicFrame>
        <p:nvGraphicFramePr>
          <p:cNvPr id="4" name="Chart 0"/>
          <p:cNvGraphicFramePr/>
          <p:nvPr/>
        </p:nvGraphicFramePr>
        <p:xfrm>
          <a:off x="548640" y="1463040"/>
          <a:ext cx="70408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_208"/>
          <p:cNvSpPr/>
          <p:nvPr/>
        </p:nvSpPr>
        <p:spPr>
          <a:xfrm>
            <a:off x="7772400" y="1508760"/>
            <a:ext cx="3867912" cy="4069080"/>
          </a:xfrm>
          <a:prstGeom prst="roundRect">
            <a:avLst>
              <a:gd name="adj" fmla="val 1891"/>
            </a:avLst>
          </a:prstGeom>
          <a:solidFill>
            <a:schemeClr val="bg2"/>
          </a:solidFill>
          <a:ln/>
        </p:spPr>
        <p:txBody>
          <a:bodyPr/>
          <a:lstStyle/>
          <a:p>
            <a:endParaRPr lang="en-US"/>
          </a:p>
        </p:txBody>
      </p:sp>
      <p:sp>
        <p:nvSpPr>
          <p:cNvPr id="6" name="cardtext_209"/>
          <p:cNvSpPr txBox="1"/>
          <p:nvPr/>
        </p:nvSpPr>
        <p:spPr>
          <a:xfrm>
            <a:off x="7955280" y="1636776"/>
            <a:ext cx="3502152" cy="381304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Setup</a:t>
            </a:r>
            <a:endParaRPr lang="en-US" sz="1800" dirty="0"/>
          </a:p>
          <a:p>
            <a:pPr marL="342900" indent="-342900">
              <a:spcAft>
                <a:spcPts val="400"/>
              </a:spcAft>
              <a:buSzPct val="100000"/>
              <a:buChar char="•"/>
            </a:pPr>
            <a:r>
              <a:rPr lang="en-US" sz="1600" dirty="0">
                <a:solidFill>
                  <a:schemeClr val="tx1"/>
                </a:solidFill>
              </a:rPr>
              <a:t>Simulated: 50 training rows, 45 features</a:t>
            </a:r>
            <a:r>
              <a:rPr lang="en-US" sz="1600" dirty="0"/>
              <a:t>. Two scenarios.</a:t>
            </a:r>
            <a:endParaRPr lang="en-US" sz="1800" dirty="0"/>
          </a:p>
          <a:p>
            <a:pPr marL="342900" indent="-342900">
              <a:spcAft>
                <a:spcPts val="400"/>
              </a:spcAft>
              <a:buSzPct val="100000"/>
              <a:buChar char="•"/>
            </a:pPr>
            <a:r>
              <a:rPr lang="en-US" sz="1600" dirty="0">
                <a:solidFill>
                  <a:schemeClr val="tx1"/>
                </a:solidFill>
              </a:rPr>
              <a:t>Least squares overfits badly in both cases.</a:t>
            </a:r>
            <a:endParaRPr lang="en-US" sz="1800" dirty="0"/>
          </a:p>
          <a:p>
            <a:pPr marL="342900" indent="-342900">
              <a:spcAft>
                <a:spcPts val="400"/>
              </a:spcAft>
              <a:buSzPct val="100000"/>
              <a:buChar char="•"/>
            </a:pPr>
            <a:r>
              <a:rPr lang="en-US" sz="1600" dirty="0">
                <a:solidFill>
                  <a:schemeClr val="tx1"/>
                </a:solidFill>
              </a:rPr>
              <a:t>Lasso wins when few features matter (it also drops features).</a:t>
            </a:r>
            <a:endParaRPr lang="en-US" sz="1800" dirty="0"/>
          </a:p>
          <a:p>
            <a:pPr marL="342900" indent="-342900">
              <a:spcAft>
                <a:spcPts val="400"/>
              </a:spcAft>
              <a:buSzPct val="100000"/>
              <a:buChar char="•"/>
            </a:pPr>
            <a:r>
              <a:rPr lang="en-US" sz="1600" dirty="0">
                <a:solidFill>
                  <a:schemeClr val="tx1"/>
                </a:solidFill>
              </a:rPr>
              <a:t>Ridge wins when many matter a little.</a:t>
            </a:r>
            <a:endParaRPr lang="en-US" sz="1800" dirty="0"/>
          </a:p>
          <a:p>
            <a:pPr marL="342900" indent="-342900">
              <a:spcAft>
                <a:spcPts val="400"/>
              </a:spcAft>
              <a:buSzPct val="100000"/>
              <a:buChar char="•"/>
            </a:pPr>
            <a:r>
              <a:rPr lang="en-US" sz="1600" dirty="0">
                <a:solidFill>
                  <a:schemeClr val="tx1"/>
                </a:solidFill>
              </a:rPr>
              <a:t>Caution: CV-chosen lasso kept about 20 features on average, not just 5 in the first scenario.</a:t>
            </a:r>
            <a:endParaRPr lang="en-US" sz="1800" dirty="0"/>
          </a:p>
        </p:txBody>
      </p:sp>
      <p:sp>
        <p:nvSpPr>
          <p:cNvPr id="7" name="callout_210"/>
          <p:cNvSpPr txBox="1"/>
          <p:nvPr/>
        </p:nvSpPr>
        <p:spPr>
          <a:xfrm>
            <a:off x="612648" y="6016752"/>
            <a:ext cx="11091672" cy="548640"/>
          </a:xfrm>
          <a:prstGeom prst="roundRect">
            <a:avLst>
              <a:gd name="adj" fmla="val 13333"/>
            </a:avLst>
          </a:prstGeom>
          <a:solidFill>
            <a:schemeClr val="accent3"/>
          </a:solidFill>
          <a:ln/>
        </p:spPr>
        <p:txBody>
          <a:bodyPr wrap="square" lIns="127000" tIns="127000" rIns="127000" bIns="127000" rtlCol="0" anchor="ctr"/>
          <a:lstStyle/>
          <a:p>
            <a:pPr marL="0" indent="0" algn="l">
              <a:buNone/>
            </a:pPr>
            <a:r>
              <a:rPr lang="en-US" sz="1600" b="1" dirty="0">
                <a:solidFill>
                  <a:schemeClr val="bg1"/>
                </a:solidFill>
              </a:rPr>
              <a:t>Regularization matters most when features are close to or outnumber the rows.</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4A5568"/>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3 · IN PRACTICE</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α is the bias–variance dial</a:t>
            </a:r>
            <a:endParaRPr lang="en-US" sz="3000" dirty="0"/>
          </a:p>
        </p:txBody>
      </p:sp>
      <p:graphicFrame>
        <p:nvGraphicFramePr>
          <p:cNvPr id="4" name="Chart 0"/>
          <p:cNvGraphicFramePr/>
          <p:nvPr/>
        </p:nvGraphicFramePr>
        <p:xfrm>
          <a:off x="548640" y="1463040"/>
          <a:ext cx="722376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_211"/>
          <p:cNvSpPr/>
          <p:nvPr/>
        </p:nvSpPr>
        <p:spPr>
          <a:xfrm>
            <a:off x="8046720" y="1508760"/>
            <a:ext cx="3593592" cy="1280160"/>
          </a:xfrm>
          <a:prstGeom prst="roundRect">
            <a:avLst>
              <a:gd name="adj" fmla="val 5714"/>
            </a:avLst>
          </a:prstGeom>
          <a:solidFill>
            <a:schemeClr val="bg2"/>
          </a:solidFill>
          <a:ln/>
        </p:spPr>
        <p:txBody>
          <a:bodyPr/>
          <a:lstStyle/>
          <a:p>
            <a:endParaRPr lang="en-US"/>
          </a:p>
        </p:txBody>
      </p:sp>
      <p:sp>
        <p:nvSpPr>
          <p:cNvPr id="6" name="cardtext_212"/>
          <p:cNvSpPr txBox="1"/>
          <p:nvPr/>
        </p:nvSpPr>
        <p:spPr>
          <a:xfrm>
            <a:off x="8229600" y="1636776"/>
            <a:ext cx="3227832" cy="102412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α too small</a:t>
            </a:r>
            <a:endParaRPr lang="en-US" sz="1800" dirty="0"/>
          </a:p>
          <a:p>
            <a:pPr marL="0" indent="0">
              <a:spcAft>
                <a:spcPts val="400"/>
              </a:spcAft>
              <a:buNone/>
            </a:pPr>
            <a:r>
              <a:rPr lang="en-US" sz="1600" dirty="0">
                <a:solidFill>
                  <a:schemeClr val="tx1"/>
                </a:solidFill>
              </a:rPr>
              <a:t>Variance 29, bias² about 0. Test error 33.5. Overfit.</a:t>
            </a:r>
            <a:endParaRPr lang="en-US" sz="1800" dirty="0"/>
          </a:p>
        </p:txBody>
      </p:sp>
      <p:sp>
        <p:nvSpPr>
          <p:cNvPr id="7" name="card_213"/>
          <p:cNvSpPr/>
          <p:nvPr/>
        </p:nvSpPr>
        <p:spPr>
          <a:xfrm>
            <a:off x="8046720" y="2926080"/>
            <a:ext cx="3593592" cy="1280160"/>
          </a:xfrm>
          <a:prstGeom prst="roundRect">
            <a:avLst>
              <a:gd name="adj" fmla="val 5714"/>
            </a:avLst>
          </a:prstGeom>
          <a:solidFill>
            <a:schemeClr val="bg2"/>
          </a:solidFill>
          <a:ln/>
        </p:spPr>
        <p:txBody>
          <a:bodyPr/>
          <a:lstStyle/>
          <a:p>
            <a:endParaRPr lang="en-US"/>
          </a:p>
        </p:txBody>
      </p:sp>
      <p:sp>
        <p:nvSpPr>
          <p:cNvPr id="8" name="cardtext_214"/>
          <p:cNvSpPr txBox="1"/>
          <p:nvPr/>
        </p:nvSpPr>
        <p:spPr>
          <a:xfrm>
            <a:off x="8229600" y="2939796"/>
            <a:ext cx="3227832" cy="102412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α too large</a:t>
            </a:r>
            <a:endParaRPr lang="en-US" sz="1800" dirty="0"/>
          </a:p>
          <a:p>
            <a:pPr marL="0" indent="0">
              <a:spcAft>
                <a:spcPts val="400"/>
              </a:spcAft>
              <a:buNone/>
            </a:pPr>
            <a:r>
              <a:rPr lang="en-US" sz="1600" dirty="0">
                <a:solidFill>
                  <a:schemeClr val="tx1"/>
                </a:solidFill>
              </a:rPr>
              <a:t>Bias² 16, variance near 0. Test error 20.7. Underfit.</a:t>
            </a:r>
            <a:endParaRPr lang="en-US" sz="1800" dirty="0"/>
          </a:p>
        </p:txBody>
      </p:sp>
      <p:sp>
        <p:nvSpPr>
          <p:cNvPr id="9" name="card_215"/>
          <p:cNvSpPr/>
          <p:nvPr/>
        </p:nvSpPr>
        <p:spPr>
          <a:xfrm>
            <a:off x="8046720" y="4343400"/>
            <a:ext cx="3593592" cy="1188720"/>
          </a:xfrm>
          <a:prstGeom prst="roundRect">
            <a:avLst>
              <a:gd name="adj" fmla="val 6154"/>
            </a:avLst>
          </a:prstGeom>
          <a:solidFill>
            <a:schemeClr val="accent3"/>
          </a:solidFill>
          <a:ln/>
        </p:spPr>
        <p:txBody>
          <a:bodyPr/>
          <a:lstStyle/>
          <a:p>
            <a:endParaRPr lang="en-US"/>
          </a:p>
        </p:txBody>
      </p:sp>
      <p:sp>
        <p:nvSpPr>
          <p:cNvPr id="10" name="cardtext_216"/>
          <p:cNvSpPr txBox="1"/>
          <p:nvPr/>
        </p:nvSpPr>
        <p:spPr>
          <a:xfrm>
            <a:off x="8229600" y="4471416"/>
            <a:ext cx="3227832" cy="932688"/>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Sweet spot: α ≈ 10</a:t>
            </a:r>
            <a:endParaRPr lang="en-US" sz="1800" dirty="0"/>
          </a:p>
          <a:p>
            <a:pPr marL="0" indent="0">
              <a:spcAft>
                <a:spcPts val="400"/>
              </a:spcAft>
              <a:buNone/>
            </a:pPr>
            <a:r>
              <a:rPr lang="en-US" sz="1600" dirty="0">
                <a:solidFill>
                  <a:schemeClr val="bg1"/>
                </a:solidFill>
              </a:rPr>
              <a:t>Test error 12.1, a third of no penalty.</a:t>
            </a:r>
            <a:endParaRPr lang="en-US" sz="1800" dirty="0"/>
          </a:p>
        </p:txBody>
      </p:sp>
      <p:sp>
        <p:nvSpPr>
          <p:cNvPr id="11" name="callout_217"/>
          <p:cNvSpPr txBox="1"/>
          <p:nvPr/>
        </p:nvSpPr>
        <p:spPr>
          <a:xfrm>
            <a:off x="548640" y="5669280"/>
            <a:ext cx="11091672" cy="548640"/>
          </a:xfrm>
          <a:prstGeom prst="roundRect">
            <a:avLst>
              <a:gd name="adj" fmla="val 13333"/>
            </a:avLst>
          </a:prstGeom>
          <a:solidFill>
            <a:schemeClr val="accent3"/>
          </a:solidFill>
          <a:ln/>
        </p:spPr>
        <p:txBody>
          <a:bodyPr wrap="square" lIns="127000" tIns="127000" rIns="127000" bIns="127000" rtlCol="0" anchor="ctr"/>
          <a:lstStyle/>
          <a:p>
            <a:pPr marL="0" indent="0" algn="l">
              <a:buNone/>
            </a:pPr>
            <a:r>
              <a:rPr lang="en-US" sz="1600" b="1" dirty="0">
                <a:solidFill>
                  <a:schemeClr val="bg1"/>
                </a:solidFill>
              </a:rPr>
              <a:t>Raising α trades variance for bias. Cross-validation finds the balance.</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4A5568"/>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3 · IN PRACTICE</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Interpretation: what do the coefficients say?</a:t>
            </a:r>
            <a:endParaRPr lang="en-US" sz="3000" dirty="0"/>
          </a:p>
        </p:txBody>
      </p:sp>
      <p:graphicFrame>
        <p:nvGraphicFramePr>
          <p:cNvPr id="4" name="Chart 0"/>
          <p:cNvGraphicFramePr/>
          <p:nvPr/>
        </p:nvGraphicFramePr>
        <p:xfrm>
          <a:off x="548640" y="1463040"/>
          <a:ext cx="74066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_218"/>
          <p:cNvSpPr/>
          <p:nvPr/>
        </p:nvSpPr>
        <p:spPr>
          <a:xfrm>
            <a:off x="8183880" y="1508760"/>
            <a:ext cx="3456432" cy="2514600"/>
          </a:xfrm>
          <a:prstGeom prst="roundRect">
            <a:avLst>
              <a:gd name="adj" fmla="val 2909"/>
            </a:avLst>
          </a:prstGeom>
          <a:solidFill>
            <a:schemeClr val="bg2"/>
          </a:solidFill>
          <a:ln/>
        </p:spPr>
        <p:txBody>
          <a:bodyPr/>
          <a:lstStyle/>
          <a:p>
            <a:endParaRPr lang="en-US"/>
          </a:p>
        </p:txBody>
      </p:sp>
      <p:sp>
        <p:nvSpPr>
          <p:cNvPr id="6" name="cardtext_219"/>
          <p:cNvSpPr txBox="1"/>
          <p:nvPr/>
        </p:nvSpPr>
        <p:spPr>
          <a:xfrm>
            <a:off x="8366760" y="1636776"/>
            <a:ext cx="3090672" cy="225856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Lasso keeps 8 of 10</a:t>
            </a:r>
            <a:endParaRPr lang="en-US" sz="1800" dirty="0"/>
          </a:p>
          <a:p>
            <a:pPr marL="342900" indent="-342900">
              <a:spcAft>
                <a:spcPts val="400"/>
              </a:spcAft>
              <a:buSzPct val="100000"/>
              <a:buChar char="•"/>
            </a:pPr>
            <a:r>
              <a:rPr lang="en-US" sz="1600" dirty="0">
                <a:solidFill>
                  <a:schemeClr val="tx1"/>
                </a:solidFill>
              </a:rPr>
              <a:t>age and s2 are exactly 0.</a:t>
            </a:r>
            <a:endParaRPr lang="en-US" sz="1800" dirty="0"/>
          </a:p>
          <a:p>
            <a:pPr marL="342900" indent="-342900">
              <a:spcAft>
                <a:spcPts val="400"/>
              </a:spcAft>
              <a:buSzPct val="100000"/>
              <a:buChar char="•"/>
            </a:pPr>
            <a:r>
              <a:rPr lang="en-US" sz="1600" dirty="0">
                <a:solidFill>
                  <a:schemeClr val="tx1"/>
                </a:solidFill>
              </a:rPr>
              <a:t>s1 and s2: least squares gives −38 and +23, ridge −28 and +15, lasso −6 and 0.</a:t>
            </a:r>
            <a:endParaRPr lang="en-US" sz="1800" dirty="0"/>
          </a:p>
        </p:txBody>
      </p:sp>
      <p:sp>
        <p:nvSpPr>
          <p:cNvPr id="7" name="card_220"/>
          <p:cNvSpPr/>
          <p:nvPr/>
        </p:nvSpPr>
        <p:spPr>
          <a:xfrm>
            <a:off x="8183880" y="4160520"/>
            <a:ext cx="3456432" cy="1417320"/>
          </a:xfrm>
          <a:prstGeom prst="roundRect">
            <a:avLst>
              <a:gd name="adj" fmla="val 5161"/>
            </a:avLst>
          </a:prstGeom>
          <a:solidFill>
            <a:schemeClr val="accent2"/>
          </a:solidFill>
          <a:ln/>
        </p:spPr>
        <p:txBody>
          <a:bodyPr/>
          <a:lstStyle/>
          <a:p>
            <a:endParaRPr lang="en-US"/>
          </a:p>
        </p:txBody>
      </p:sp>
      <p:sp>
        <p:nvSpPr>
          <p:cNvPr id="8" name="cardtext_221"/>
          <p:cNvSpPr txBox="1"/>
          <p:nvPr/>
        </p:nvSpPr>
        <p:spPr>
          <a:xfrm>
            <a:off x="8366760" y="4288536"/>
            <a:ext cx="3090672" cy="116128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Caution</a:t>
            </a:r>
            <a:endParaRPr lang="en-US" sz="1800" dirty="0"/>
          </a:p>
          <a:p>
            <a:pPr marL="0" indent="0">
              <a:spcAft>
                <a:spcPts val="400"/>
              </a:spcAft>
              <a:buNone/>
            </a:pPr>
            <a:r>
              <a:rPr lang="en-US" sz="1600" dirty="0">
                <a:solidFill>
                  <a:schemeClr val="tx1"/>
                </a:solidFill>
              </a:rPr>
              <a:t>Zero is not “unimportant” and non-zero is not “causal”.</a:t>
            </a:r>
            <a:endParaRPr lang="en-US" sz="1800" dirty="0"/>
          </a:p>
        </p:txBody>
      </p:sp>
      <p:sp>
        <p:nvSpPr>
          <p:cNvPr id="9" name="callout_222"/>
          <p:cNvSpPr txBox="1"/>
          <p:nvPr/>
        </p:nvSpPr>
        <p:spPr>
          <a:xfrm>
            <a:off x="548640" y="5715000"/>
            <a:ext cx="11091672" cy="548640"/>
          </a:xfrm>
          <a:prstGeom prst="roundRect">
            <a:avLst>
              <a:gd name="adj" fmla="val 13333"/>
            </a:avLst>
          </a:prstGeom>
          <a:solidFill>
            <a:schemeClr val="accent3"/>
          </a:solidFill>
          <a:ln/>
        </p:spPr>
        <p:txBody>
          <a:bodyPr wrap="square" lIns="127000" tIns="127000" rIns="127000" bIns="127000" rtlCol="0" anchor="ctr"/>
          <a:lstStyle/>
          <a:p>
            <a:pPr marL="0" indent="0" algn="l">
              <a:buNone/>
            </a:pPr>
            <a:r>
              <a:rPr lang="en-US" sz="1600" b="1" dirty="0">
                <a:solidFill>
                  <a:schemeClr val="bg1"/>
                </a:solidFill>
              </a:rPr>
              <a:t>Ridge calms the unstable pair. Lasso simplifies the model.</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4A5568"/>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3 · IN PRACTICE · BEYOND THE CHAPTER</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Regularization for classification: logistic regression</a:t>
            </a:r>
            <a:endParaRPr lang="en-US" sz="3000" dirty="0"/>
          </a:p>
        </p:txBody>
      </p:sp>
      <p:graphicFrame>
        <p:nvGraphicFramePr>
          <p:cNvPr id="4" name="Chart 0"/>
          <p:cNvGraphicFramePr/>
          <p:nvPr/>
        </p:nvGraphicFramePr>
        <p:xfrm>
          <a:off x="548640" y="1463040"/>
          <a:ext cx="6766560"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4" name="nonzero_table"/>
          <p:cNvGraphicFramePr>
            <a:graphicFrameLocks noGrp="1"/>
          </p:cNvGraphicFramePr>
          <p:nvPr/>
        </p:nvGraphicFramePr>
        <p:xfrm>
          <a:off x="7589520" y="1508760"/>
          <a:ext cx="4050792" cy="2560320"/>
        </p:xfrm>
        <a:graphic>
          <a:graphicData uri="http://schemas.openxmlformats.org/drawingml/2006/table">
            <a:tbl>
              <a:tblPr/>
              <a:tblGrid>
                <a:gridCol w="10972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90472">
                  <a:extLst>
                    <a:ext uri="{9D8B030D-6E8A-4147-A177-3AD203B41FA5}">
                      <a16:colId xmlns:a16="http://schemas.microsoft.com/office/drawing/2014/main" val="20002"/>
                    </a:ext>
                  </a:extLst>
                </a:gridCol>
              </a:tblGrid>
              <a:tr h="365760">
                <a:tc>
                  <a:txBody>
                    <a:bodyPr/>
                    <a:lstStyle/>
                    <a:p>
                      <a:pPr marL="0" indent="0" algn="ctr">
                        <a:buNone/>
                      </a:pPr>
                      <a:r>
                        <a:rPr lang="en-US" sz="1400" b="1" dirty="0">
                          <a:solidFill>
                            <a:srgbClr val="FFFFFF"/>
                          </a:solidFill>
                        </a:rPr>
                        <a:t>C</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0E2841"/>
                    </a:solidFill>
                  </a:tcPr>
                </a:tc>
                <a:tc>
                  <a:txBody>
                    <a:bodyPr/>
                    <a:lstStyle/>
                    <a:p>
                      <a:pPr marL="0" indent="0" algn="ctr">
                        <a:buNone/>
                      </a:pPr>
                      <a:r>
                        <a:rPr lang="en-US" sz="1400" b="1" dirty="0">
                          <a:solidFill>
                            <a:srgbClr val="FFFFFF"/>
                          </a:solidFill>
                        </a:rPr>
                        <a:t>L2 features</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0E2841"/>
                    </a:solidFill>
                  </a:tcPr>
                </a:tc>
                <a:tc>
                  <a:txBody>
                    <a:bodyPr/>
                    <a:lstStyle/>
                    <a:p>
                      <a:pPr marL="0" indent="0" algn="ctr">
                        <a:buNone/>
                      </a:pPr>
                      <a:r>
                        <a:rPr lang="en-US" sz="1400" b="1" dirty="0">
                          <a:solidFill>
                            <a:srgbClr val="FFFFFF"/>
                          </a:solidFill>
                        </a:rPr>
                        <a:t>L1 features</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0E2841"/>
                    </a:solidFill>
                  </a:tcPr>
                </a:tc>
                <a:extLst>
                  <a:ext uri="{0D108BD9-81ED-4DB2-BD59-A6C34878D82A}">
                    <a16:rowId xmlns:a16="http://schemas.microsoft.com/office/drawing/2014/main" val="10000"/>
                  </a:ext>
                </a:extLst>
              </a:tr>
              <a:tr h="365760">
                <a:tc>
                  <a:txBody>
                    <a:bodyPr/>
                    <a:lstStyle/>
                    <a:p>
                      <a:pPr marL="0" indent="0" algn="ctr">
                        <a:buNone/>
                      </a:pPr>
                      <a:r>
                        <a:rPr lang="en-US" sz="1400" dirty="0">
                          <a:solidFill>
                            <a:srgbClr val="0E2841"/>
                          </a:solidFill>
                        </a:rPr>
                        <a:t>0.001</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marL="0" indent="0" algn="ctr">
                        <a:buNone/>
                      </a:pPr>
                      <a:r>
                        <a:rPr lang="en-US" sz="1400" dirty="0">
                          <a:solidFill>
                            <a:srgbClr val="0E2841"/>
                          </a:solidFill>
                        </a:rPr>
                        <a:t>30</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marL="0" indent="0" algn="ctr">
                        <a:buNone/>
                      </a:pPr>
                      <a:r>
                        <a:rPr lang="en-US" sz="1400" dirty="0">
                          <a:solidFill>
                            <a:srgbClr val="0E2841"/>
                          </a:solidFill>
                        </a:rPr>
                        <a:t>0</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400" dirty="0">
                          <a:solidFill>
                            <a:srgbClr val="0E2841"/>
                          </a:solidFill>
                        </a:rPr>
                        <a:t>0.01</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marL="0" indent="0" algn="ctr">
                        <a:buNone/>
                      </a:pPr>
                      <a:r>
                        <a:rPr lang="en-US" sz="1400" dirty="0">
                          <a:solidFill>
                            <a:srgbClr val="0E2841"/>
                          </a:solidFill>
                        </a:rPr>
                        <a:t>30</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marL="0" indent="0" algn="ctr">
                        <a:buNone/>
                      </a:pPr>
                      <a:r>
                        <a:rPr lang="en-US" sz="1400" dirty="0">
                          <a:solidFill>
                            <a:srgbClr val="0E2841"/>
                          </a:solidFill>
                        </a:rPr>
                        <a:t>2</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400" dirty="0">
                          <a:solidFill>
                            <a:srgbClr val="0E2841"/>
                          </a:solidFill>
                        </a:rPr>
                        <a:t>0.1</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marL="0" indent="0" algn="ctr">
                        <a:buNone/>
                      </a:pPr>
                      <a:r>
                        <a:rPr lang="en-US" sz="1400" dirty="0">
                          <a:solidFill>
                            <a:srgbClr val="0E2841"/>
                          </a:solidFill>
                        </a:rPr>
                        <a:t>30</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marL="0" indent="0" algn="ctr">
                        <a:buNone/>
                      </a:pPr>
                      <a:r>
                        <a:rPr lang="en-US" sz="1400" dirty="0">
                          <a:solidFill>
                            <a:srgbClr val="0E2841"/>
                          </a:solidFill>
                        </a:rPr>
                        <a:t>7</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400" dirty="0">
                          <a:solidFill>
                            <a:srgbClr val="0E2841"/>
                          </a:solidFill>
                        </a:rPr>
                        <a:t>1</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marL="0" indent="0" algn="ctr">
                        <a:buNone/>
                      </a:pPr>
                      <a:r>
                        <a:rPr lang="en-US" sz="1400" dirty="0">
                          <a:solidFill>
                            <a:srgbClr val="0E2841"/>
                          </a:solidFill>
                        </a:rPr>
                        <a:t>30</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marL="0" indent="0" algn="ctr">
                        <a:buNone/>
                      </a:pPr>
                      <a:r>
                        <a:rPr lang="en-US" sz="1400" dirty="0">
                          <a:solidFill>
                            <a:srgbClr val="0E2841"/>
                          </a:solidFill>
                        </a:rPr>
                        <a:t>14</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400" dirty="0">
                          <a:solidFill>
                            <a:srgbClr val="0E2841"/>
                          </a:solidFill>
                        </a:rPr>
                        <a:t>10</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marL="0" indent="0" algn="ctr">
                        <a:buNone/>
                      </a:pPr>
                      <a:r>
                        <a:rPr lang="en-US" sz="1400" dirty="0">
                          <a:solidFill>
                            <a:srgbClr val="0E2841"/>
                          </a:solidFill>
                        </a:rPr>
                        <a:t>30</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marL="0" indent="0" algn="ctr">
                        <a:buNone/>
                      </a:pPr>
                      <a:r>
                        <a:rPr lang="en-US" sz="1400" dirty="0">
                          <a:solidFill>
                            <a:srgbClr val="0E2841"/>
                          </a:solidFill>
                        </a:rPr>
                        <a:t>21</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400" dirty="0">
                          <a:solidFill>
                            <a:srgbClr val="0E2841"/>
                          </a:solidFill>
                        </a:rPr>
                        <a:t>100</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marL="0" indent="0" algn="ctr">
                        <a:buNone/>
                      </a:pPr>
                      <a:r>
                        <a:rPr lang="en-US" sz="1400" dirty="0">
                          <a:solidFill>
                            <a:srgbClr val="0E2841"/>
                          </a:solidFill>
                        </a:rPr>
                        <a:t>30</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marL="0" indent="0" algn="ctr">
                        <a:buNone/>
                      </a:pPr>
                      <a:r>
                        <a:rPr lang="en-US" sz="1400" dirty="0">
                          <a:solidFill>
                            <a:srgbClr val="0E2841"/>
                          </a:solidFill>
                        </a:rPr>
                        <a:t>25</a:t>
                      </a:r>
                      <a:endParaRPr lang="en-US" sz="1400" dirty="0"/>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xt_223"/>
          <p:cNvSpPr txBox="1"/>
          <p:nvPr/>
        </p:nvSpPr>
        <p:spPr>
          <a:xfrm>
            <a:off x="7589520" y="4206240"/>
            <a:ext cx="4050792" cy="822960"/>
          </a:xfrm>
          <a:prstGeom prst="rect">
            <a:avLst/>
          </a:prstGeom>
          <a:noFill/>
          <a:ln/>
        </p:spPr>
        <p:txBody>
          <a:bodyPr wrap="square" lIns="0" tIns="0" rIns="0" bIns="0" rtlCol="0" anchor="t"/>
          <a:lstStyle/>
          <a:p>
            <a:pPr marL="0" indent="0">
              <a:buNone/>
            </a:pPr>
            <a:r>
              <a:rPr lang="en-US" sz="1400" dirty="0">
                <a:solidFill>
                  <a:schemeClr val="tx1"/>
                </a:solidFill>
              </a:rPr>
              <a:t>Non-zero coefficients out of 30. L2 never zeroes any; L1 does.</a:t>
            </a:r>
            <a:endParaRPr lang="en-US" sz="1400" dirty="0"/>
          </a:p>
        </p:txBody>
      </p:sp>
      <p:sp>
        <p:nvSpPr>
          <p:cNvPr id="9" name="card_226"/>
          <p:cNvSpPr/>
          <p:nvPr/>
        </p:nvSpPr>
        <p:spPr>
          <a:xfrm>
            <a:off x="7589520" y="5257800"/>
            <a:ext cx="4050792" cy="1051560"/>
          </a:xfrm>
          <a:prstGeom prst="roundRect">
            <a:avLst>
              <a:gd name="adj" fmla="val 6957"/>
            </a:avLst>
          </a:prstGeom>
          <a:solidFill>
            <a:schemeClr val="bg2"/>
          </a:solidFill>
          <a:ln/>
        </p:spPr>
        <p:txBody>
          <a:bodyPr/>
          <a:lstStyle/>
          <a:p>
            <a:endParaRPr lang="en-US"/>
          </a:p>
        </p:txBody>
      </p:sp>
      <p:sp>
        <p:nvSpPr>
          <p:cNvPr id="10" name="cardtext_227"/>
          <p:cNvSpPr txBox="1"/>
          <p:nvPr/>
        </p:nvSpPr>
        <p:spPr>
          <a:xfrm>
            <a:off x="7498080" y="4827016"/>
            <a:ext cx="4693920" cy="795528"/>
          </a:xfrm>
          <a:prstGeom prst="rect">
            <a:avLst/>
          </a:prstGeom>
          <a:noFill/>
          <a:ln/>
        </p:spPr>
        <p:txBody>
          <a:bodyPr wrap="square" lIns="0" tIns="0" rIns="0" bIns="0" rtlCol="0" anchor="t"/>
          <a:lstStyle/>
          <a:p>
            <a:pPr marL="0" indent="0">
              <a:spcAft>
                <a:spcPts val="400"/>
              </a:spcAft>
              <a:buNone/>
            </a:pPr>
            <a:r>
              <a:rPr lang="en-US" sz="1600" dirty="0">
                <a:solidFill>
                  <a:schemeClr val="tx1"/>
                </a:solidFill>
              </a:rPr>
              <a:t>C = 1: L1 keeps 14 of 30 features and matches L2’s 95.8% in the graph.</a:t>
            </a:r>
            <a:endParaRPr lang="en-US" sz="1600" dirty="0"/>
          </a:p>
        </p:txBody>
      </p:sp>
      <p:sp>
        <p:nvSpPr>
          <p:cNvPr id="11" name="TextBox 10">
            <a:extLst>
              <a:ext uri="{FF2B5EF4-FFF2-40B4-BE49-F238E27FC236}">
                <a16:creationId xmlns:a16="http://schemas.microsoft.com/office/drawing/2014/main" id="{DDF92BF2-E74F-B34A-1F9B-CFB7B3E32A2F}"/>
              </a:ext>
            </a:extLst>
          </p:cNvPr>
          <p:cNvSpPr txBox="1"/>
          <p:nvPr/>
        </p:nvSpPr>
        <p:spPr>
          <a:xfrm>
            <a:off x="548640" y="5707380"/>
            <a:ext cx="11236960" cy="923330"/>
          </a:xfrm>
          <a:prstGeom prst="rect">
            <a:avLst/>
          </a:prstGeom>
          <a:noFill/>
        </p:spPr>
        <p:txBody>
          <a:bodyPr wrap="square">
            <a:spAutoFit/>
          </a:bodyPr>
          <a:lstStyle/>
          <a:p>
            <a:r>
              <a:rPr lang="en-US" dirty="0"/>
              <a:t>Regularization also works for classification. L1 can simplify logistic regression by removing predictors, sometimes without sacrificing accuracy. In logistic regression, regularization strength is controlled by C, which works in the opposite direction of α: smaller C means stronger regularization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3 · IN PRACTICE</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Other roads in the chapter (a short tour)</a:t>
            </a:r>
            <a:endParaRPr lang="en-US" sz="3000" dirty="0"/>
          </a:p>
        </p:txBody>
      </p:sp>
      <p:sp>
        <p:nvSpPr>
          <p:cNvPr id="4" name="card_228"/>
          <p:cNvSpPr/>
          <p:nvPr/>
        </p:nvSpPr>
        <p:spPr>
          <a:xfrm>
            <a:off x="548640" y="1508760"/>
            <a:ext cx="3557016" cy="3017520"/>
          </a:xfrm>
          <a:prstGeom prst="roundRect">
            <a:avLst>
              <a:gd name="adj" fmla="val 2424"/>
            </a:avLst>
          </a:prstGeom>
          <a:solidFill>
            <a:schemeClr val="bg2"/>
          </a:solidFill>
          <a:ln/>
        </p:spPr>
        <p:txBody>
          <a:bodyPr/>
          <a:lstStyle/>
          <a:p>
            <a:endParaRPr lang="en-US"/>
          </a:p>
        </p:txBody>
      </p:sp>
      <p:sp>
        <p:nvSpPr>
          <p:cNvPr id="5" name="badge_229"/>
          <p:cNvSpPr txBox="1"/>
          <p:nvPr/>
        </p:nvSpPr>
        <p:spPr>
          <a:xfrm>
            <a:off x="731520" y="1673352"/>
            <a:ext cx="457200" cy="45720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xt_230"/>
          <p:cNvSpPr txBox="1"/>
          <p:nvPr/>
        </p:nvSpPr>
        <p:spPr>
          <a:xfrm>
            <a:off x="1325880" y="1673352"/>
            <a:ext cx="2596896" cy="457200"/>
          </a:xfrm>
          <a:prstGeom prst="rect">
            <a:avLst/>
          </a:prstGeom>
          <a:noFill/>
          <a:ln/>
        </p:spPr>
        <p:txBody>
          <a:bodyPr wrap="square" lIns="0" tIns="0" rIns="0" bIns="0" rtlCol="0" anchor="ctr"/>
          <a:lstStyle/>
          <a:p>
            <a:pPr marL="0" indent="0">
              <a:buNone/>
            </a:pPr>
            <a:r>
              <a:rPr lang="en-US" sz="1800" b="1" dirty="0">
                <a:solidFill>
                  <a:schemeClr val="tx1"/>
                </a:solidFill>
              </a:rPr>
              <a:t>Subset selection</a:t>
            </a:r>
            <a:endParaRPr lang="en-US" sz="1800" dirty="0"/>
          </a:p>
        </p:txBody>
      </p:sp>
      <p:sp>
        <p:nvSpPr>
          <p:cNvPr id="7" name="txt_231"/>
          <p:cNvSpPr txBox="1"/>
          <p:nvPr/>
        </p:nvSpPr>
        <p:spPr>
          <a:xfrm>
            <a:off x="777240" y="2331720"/>
            <a:ext cx="3099816" cy="2057400"/>
          </a:xfrm>
          <a:prstGeom prst="rect">
            <a:avLst/>
          </a:prstGeom>
          <a:noFill/>
          <a:ln/>
        </p:spPr>
        <p:txBody>
          <a:bodyPr wrap="square" lIns="0" tIns="0" rIns="0" bIns="0" rtlCol="0" anchor="t"/>
          <a:lstStyle/>
          <a:p>
            <a:pPr marL="0" indent="0">
              <a:buNone/>
            </a:pPr>
            <a:r>
              <a:rPr lang="en-US" sz="1600" dirty="0">
                <a:solidFill>
                  <a:schemeClr val="tx1"/>
                </a:solidFill>
              </a:rPr>
              <a:t>Search for the best subset of features. Best subset tries every combination: 20 features means 1,048,576 models. </a:t>
            </a:r>
          </a:p>
          <a:p>
            <a:pPr marL="0" indent="0">
              <a:buNone/>
            </a:pPr>
            <a:endParaRPr lang="en-US" sz="1600" dirty="0"/>
          </a:p>
          <a:p>
            <a:pPr marL="0" indent="0">
              <a:buNone/>
            </a:pPr>
            <a:r>
              <a:rPr lang="en-US" sz="1600" dirty="0">
                <a:solidFill>
                  <a:schemeClr val="tx1"/>
                </a:solidFill>
              </a:rPr>
              <a:t>Forward and backward stepwise are greedy shortcuts. Week 7’s RFE is a cousin.</a:t>
            </a:r>
            <a:endParaRPr lang="en-US" sz="1600" dirty="0"/>
          </a:p>
        </p:txBody>
      </p:sp>
      <p:sp>
        <p:nvSpPr>
          <p:cNvPr id="8" name="card_232"/>
          <p:cNvSpPr/>
          <p:nvPr/>
        </p:nvSpPr>
        <p:spPr>
          <a:xfrm>
            <a:off x="4315968" y="1508760"/>
            <a:ext cx="3557016" cy="3017520"/>
          </a:xfrm>
          <a:prstGeom prst="roundRect">
            <a:avLst>
              <a:gd name="adj" fmla="val 2424"/>
            </a:avLst>
          </a:prstGeom>
          <a:solidFill>
            <a:schemeClr val="bg2"/>
          </a:solidFill>
          <a:ln/>
        </p:spPr>
        <p:txBody>
          <a:bodyPr/>
          <a:lstStyle/>
          <a:p>
            <a:endParaRPr lang="en-US"/>
          </a:p>
        </p:txBody>
      </p:sp>
      <p:sp>
        <p:nvSpPr>
          <p:cNvPr id="9" name="badge_233"/>
          <p:cNvSpPr txBox="1"/>
          <p:nvPr/>
        </p:nvSpPr>
        <p:spPr>
          <a:xfrm>
            <a:off x="4498848" y="1673352"/>
            <a:ext cx="457200" cy="45720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xt_234"/>
          <p:cNvSpPr txBox="1"/>
          <p:nvPr/>
        </p:nvSpPr>
        <p:spPr>
          <a:xfrm>
            <a:off x="5093208" y="1673352"/>
            <a:ext cx="2596896" cy="457200"/>
          </a:xfrm>
          <a:prstGeom prst="rect">
            <a:avLst/>
          </a:prstGeom>
          <a:noFill/>
          <a:ln/>
        </p:spPr>
        <p:txBody>
          <a:bodyPr wrap="square" lIns="0" tIns="0" rIns="0" bIns="0" rtlCol="0" anchor="ctr"/>
          <a:lstStyle/>
          <a:p>
            <a:pPr marL="0" indent="0">
              <a:buNone/>
            </a:pPr>
            <a:r>
              <a:rPr lang="en-US" sz="1800" b="1" dirty="0">
                <a:solidFill>
                  <a:schemeClr val="tx1"/>
                </a:solidFill>
              </a:rPr>
              <a:t>Dimension reduction</a:t>
            </a:r>
            <a:endParaRPr lang="en-US" sz="1800" dirty="0"/>
          </a:p>
        </p:txBody>
      </p:sp>
      <p:sp>
        <p:nvSpPr>
          <p:cNvPr id="11" name="txt_235"/>
          <p:cNvSpPr txBox="1"/>
          <p:nvPr/>
        </p:nvSpPr>
        <p:spPr>
          <a:xfrm>
            <a:off x="4544568" y="2331720"/>
            <a:ext cx="3099816" cy="2057400"/>
          </a:xfrm>
          <a:prstGeom prst="rect">
            <a:avLst/>
          </a:prstGeom>
          <a:noFill/>
          <a:ln/>
        </p:spPr>
        <p:txBody>
          <a:bodyPr wrap="square" lIns="0" tIns="0" rIns="0" bIns="0" rtlCol="0" anchor="t"/>
          <a:lstStyle/>
          <a:p>
            <a:pPr marL="0" indent="0">
              <a:buNone/>
            </a:pPr>
            <a:r>
              <a:rPr lang="en-US" sz="1600" dirty="0">
                <a:solidFill>
                  <a:schemeClr val="tx1"/>
                </a:solidFill>
              </a:rPr>
              <a:t>Replace the features with a few combinations of them (PCR), then fit least squares. </a:t>
            </a:r>
          </a:p>
          <a:p>
            <a:pPr marL="0" indent="0">
              <a:buNone/>
            </a:pPr>
            <a:endParaRPr lang="en-US" sz="1600" dirty="0"/>
          </a:p>
          <a:p>
            <a:pPr marL="0" indent="0">
              <a:buNone/>
            </a:pPr>
            <a:r>
              <a:rPr lang="en-US" sz="1600" dirty="0">
                <a:solidFill>
                  <a:schemeClr val="tx1"/>
                </a:solidFill>
              </a:rPr>
              <a:t>PCR builds the combinations from X alone.</a:t>
            </a:r>
            <a:endParaRPr lang="en-US" sz="1600" dirty="0"/>
          </a:p>
        </p:txBody>
      </p:sp>
      <p:sp>
        <p:nvSpPr>
          <p:cNvPr id="12" name="card_236"/>
          <p:cNvSpPr/>
          <p:nvPr/>
        </p:nvSpPr>
        <p:spPr>
          <a:xfrm>
            <a:off x="8083296" y="1508760"/>
            <a:ext cx="3557016" cy="3017520"/>
          </a:xfrm>
          <a:prstGeom prst="roundRect">
            <a:avLst>
              <a:gd name="adj" fmla="val 2424"/>
            </a:avLst>
          </a:prstGeom>
          <a:solidFill>
            <a:schemeClr val="bg2"/>
          </a:solidFill>
          <a:ln/>
        </p:spPr>
        <p:txBody>
          <a:bodyPr/>
          <a:lstStyle/>
          <a:p>
            <a:endParaRPr lang="en-US"/>
          </a:p>
        </p:txBody>
      </p:sp>
      <p:sp>
        <p:nvSpPr>
          <p:cNvPr id="13" name="badge_237"/>
          <p:cNvSpPr txBox="1"/>
          <p:nvPr/>
        </p:nvSpPr>
        <p:spPr>
          <a:xfrm>
            <a:off x="8266176" y="1673352"/>
            <a:ext cx="457200" cy="457200"/>
          </a:xfrm>
          <a:prstGeom prst="ellipse">
            <a:avLst/>
          </a:prstGeom>
          <a:solidFill>
            <a:schemeClr val="accent4"/>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4" name="txt_238"/>
          <p:cNvSpPr txBox="1"/>
          <p:nvPr/>
        </p:nvSpPr>
        <p:spPr>
          <a:xfrm>
            <a:off x="8860536" y="1673352"/>
            <a:ext cx="2596896" cy="457200"/>
          </a:xfrm>
          <a:prstGeom prst="rect">
            <a:avLst/>
          </a:prstGeom>
          <a:noFill/>
          <a:ln/>
        </p:spPr>
        <p:txBody>
          <a:bodyPr wrap="square" lIns="0" tIns="0" rIns="0" bIns="0" rtlCol="0" anchor="ctr"/>
          <a:lstStyle/>
          <a:p>
            <a:pPr marL="0" indent="0">
              <a:buNone/>
            </a:pPr>
            <a:r>
              <a:rPr lang="en-US" sz="1800" b="1" dirty="0">
                <a:solidFill>
                  <a:schemeClr val="tx1"/>
                </a:solidFill>
              </a:rPr>
              <a:t>Information criteria</a:t>
            </a:r>
            <a:endParaRPr lang="en-US" sz="1800" dirty="0"/>
          </a:p>
        </p:txBody>
      </p:sp>
      <p:sp>
        <p:nvSpPr>
          <p:cNvPr id="15" name="txt_239"/>
          <p:cNvSpPr txBox="1"/>
          <p:nvPr/>
        </p:nvSpPr>
        <p:spPr>
          <a:xfrm>
            <a:off x="8311896" y="2331720"/>
            <a:ext cx="3099816" cy="2057400"/>
          </a:xfrm>
          <a:prstGeom prst="rect">
            <a:avLst/>
          </a:prstGeom>
          <a:noFill/>
          <a:ln/>
        </p:spPr>
        <p:txBody>
          <a:bodyPr wrap="square" lIns="0" tIns="0" rIns="0" bIns="0" rtlCol="0" anchor="t"/>
          <a:lstStyle/>
          <a:p>
            <a:pPr marL="0" indent="0">
              <a:buNone/>
            </a:pPr>
            <a:r>
              <a:rPr lang="en-US" sz="1600" dirty="0">
                <a:solidFill>
                  <a:schemeClr val="tx1"/>
                </a:solidFill>
              </a:rPr>
              <a:t>Cp, AIC, BIC and adjusted R² adjust training error for the number of features to estimate test error.</a:t>
            </a:r>
          </a:p>
          <a:p>
            <a:pPr marL="0" indent="0">
              <a:buNone/>
            </a:pPr>
            <a:endParaRPr lang="en-US" sz="1600" dirty="0"/>
          </a:p>
          <a:p>
            <a:pPr marL="0" indent="0">
              <a:buNone/>
            </a:pPr>
            <a:r>
              <a:rPr lang="en-US" sz="1600" dirty="0">
                <a:solidFill>
                  <a:schemeClr val="tx1"/>
                </a:solidFill>
              </a:rPr>
              <a:t>Cross-validation is usually simpler and more general.</a:t>
            </a:r>
            <a:endParaRPr lang="en-US" sz="1600" dirty="0"/>
          </a:p>
        </p:txBody>
      </p:sp>
      <p:sp>
        <p:nvSpPr>
          <p:cNvPr id="16" name="callout_240"/>
          <p:cNvSpPr txBox="1"/>
          <p:nvPr/>
        </p:nvSpPr>
        <p:spPr>
          <a:xfrm>
            <a:off x="548640" y="5404104"/>
            <a:ext cx="11091672" cy="640080"/>
          </a:xfrm>
          <a:prstGeom prst="roundRect">
            <a:avLst>
              <a:gd name="adj" fmla="val 11429"/>
            </a:avLst>
          </a:prstGeom>
          <a:solidFill>
            <a:schemeClr val="accent3"/>
          </a:solidFill>
          <a:ln/>
        </p:spPr>
        <p:txBody>
          <a:bodyPr wrap="square" lIns="127000" tIns="127000" rIns="127000" bIns="127000" rtlCol="0" anchor="ctr"/>
          <a:lstStyle/>
          <a:p>
            <a:pPr marL="0" indent="0" algn="l">
              <a:buNone/>
            </a:pPr>
            <a:r>
              <a:rPr lang="en-US" sz="1600" b="1" dirty="0">
                <a:solidFill>
                  <a:schemeClr val="bg1"/>
                </a:solidFill>
              </a:rPr>
              <a:t>In practice, regularized models tuned by cross-validation are the usual starting point.</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3 · IN PRACTICE</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A practical recipe</a:t>
            </a:r>
            <a:endParaRPr lang="en-US" sz="3000" dirty="0"/>
          </a:p>
        </p:txBody>
      </p:sp>
      <p:sp>
        <p:nvSpPr>
          <p:cNvPr id="4" name="chip_241"/>
          <p:cNvSpPr txBox="1"/>
          <p:nvPr/>
        </p:nvSpPr>
        <p:spPr>
          <a:xfrm>
            <a:off x="548640" y="1508760"/>
            <a:ext cx="1737360" cy="594360"/>
          </a:xfrm>
          <a:prstGeom prst="roundRect">
            <a:avLst>
              <a:gd name="adj" fmla="val 15385"/>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1 Split</a:t>
            </a:r>
            <a:endParaRPr lang="en-US" sz="1400" dirty="0"/>
          </a:p>
        </p:txBody>
      </p:sp>
      <p:sp>
        <p:nvSpPr>
          <p:cNvPr id="5" name="chip_242"/>
          <p:cNvSpPr txBox="1"/>
          <p:nvPr/>
        </p:nvSpPr>
        <p:spPr>
          <a:xfrm>
            <a:off x="2416393" y="1508760"/>
            <a:ext cx="1737360" cy="594360"/>
          </a:xfrm>
          <a:prstGeom prst="roundRect">
            <a:avLst>
              <a:gd name="adj" fmla="val 15385"/>
            </a:avLst>
          </a:prstGeom>
          <a:solidFill>
            <a:schemeClr val="accent2"/>
          </a:solidFill>
          <a:ln/>
        </p:spPr>
        <p:txBody>
          <a:bodyPr wrap="square" lIns="50800" tIns="50800" rIns="50800" bIns="50800" rtlCol="0" anchor="ctr"/>
          <a:lstStyle/>
          <a:p>
            <a:pPr marL="0" indent="0" algn="ctr">
              <a:buNone/>
            </a:pPr>
            <a:r>
              <a:rPr lang="en-US" sz="1400" b="1" dirty="0">
                <a:solidFill>
                  <a:schemeClr val="tx1"/>
                </a:solidFill>
              </a:rPr>
              <a:t>2 Scale</a:t>
            </a:r>
            <a:endParaRPr lang="en-US" sz="1400" dirty="0"/>
          </a:p>
        </p:txBody>
      </p:sp>
      <p:sp>
        <p:nvSpPr>
          <p:cNvPr id="6" name="chip_243"/>
          <p:cNvSpPr txBox="1"/>
          <p:nvPr/>
        </p:nvSpPr>
        <p:spPr>
          <a:xfrm>
            <a:off x="4284147" y="1508760"/>
            <a:ext cx="1737360" cy="594360"/>
          </a:xfrm>
          <a:prstGeom prst="roundRect">
            <a:avLst>
              <a:gd name="adj" fmla="val 15385"/>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3 Fit with CV</a:t>
            </a:r>
            <a:endParaRPr lang="en-US" sz="1400" dirty="0"/>
          </a:p>
        </p:txBody>
      </p:sp>
      <p:sp>
        <p:nvSpPr>
          <p:cNvPr id="7" name="chip_244"/>
          <p:cNvSpPr txBox="1"/>
          <p:nvPr/>
        </p:nvSpPr>
        <p:spPr>
          <a:xfrm>
            <a:off x="6151900" y="1508760"/>
            <a:ext cx="1737360" cy="594360"/>
          </a:xfrm>
          <a:prstGeom prst="roundRect">
            <a:avLst>
              <a:gd name="adj" fmla="val 15385"/>
            </a:avLst>
          </a:prstGeom>
          <a:solidFill>
            <a:schemeClr val="accent2"/>
          </a:solidFill>
          <a:ln/>
        </p:spPr>
        <p:txBody>
          <a:bodyPr wrap="square" lIns="50800" tIns="50800" rIns="50800" bIns="50800" rtlCol="0" anchor="ctr"/>
          <a:lstStyle/>
          <a:p>
            <a:pPr marL="0" indent="0" algn="ctr">
              <a:buNone/>
            </a:pPr>
            <a:r>
              <a:rPr lang="en-US" sz="1400" b="1" dirty="0">
                <a:solidFill>
                  <a:schemeClr val="tx1"/>
                </a:solidFill>
              </a:rPr>
              <a:t>4 Compare</a:t>
            </a:r>
            <a:endParaRPr lang="en-US" sz="1400" dirty="0"/>
          </a:p>
        </p:txBody>
      </p:sp>
      <p:sp>
        <p:nvSpPr>
          <p:cNvPr id="8" name="chip_245"/>
          <p:cNvSpPr txBox="1"/>
          <p:nvPr/>
        </p:nvSpPr>
        <p:spPr>
          <a:xfrm>
            <a:off x="8019654" y="1508760"/>
            <a:ext cx="1737360" cy="594360"/>
          </a:xfrm>
          <a:prstGeom prst="roundRect">
            <a:avLst>
              <a:gd name="adj" fmla="val 15385"/>
            </a:avLst>
          </a:prstGeom>
          <a:solidFill>
            <a:schemeClr val="accent1"/>
          </a:solidFill>
          <a:ln/>
        </p:spPr>
        <p:txBody>
          <a:bodyPr wrap="square" lIns="50800" tIns="50800" rIns="50800" bIns="50800" rtlCol="0" anchor="ctr"/>
          <a:lstStyle/>
          <a:p>
            <a:pPr marL="0" indent="0" algn="ctr">
              <a:buNone/>
            </a:pPr>
            <a:r>
              <a:rPr lang="en-US" sz="1400" b="1" dirty="0">
                <a:solidFill>
                  <a:schemeClr val="bg1"/>
                </a:solidFill>
              </a:rPr>
              <a:t>5 Inspect</a:t>
            </a:r>
            <a:endParaRPr lang="en-US" sz="1400" dirty="0"/>
          </a:p>
        </p:txBody>
      </p:sp>
      <p:sp>
        <p:nvSpPr>
          <p:cNvPr id="9" name="chip_246"/>
          <p:cNvSpPr txBox="1"/>
          <p:nvPr/>
        </p:nvSpPr>
        <p:spPr>
          <a:xfrm>
            <a:off x="9887407" y="1508760"/>
            <a:ext cx="1737360" cy="594360"/>
          </a:xfrm>
          <a:prstGeom prst="roundRect">
            <a:avLst>
              <a:gd name="adj" fmla="val 15385"/>
            </a:avLst>
          </a:prstGeom>
          <a:solidFill>
            <a:schemeClr val="accent2"/>
          </a:solidFill>
          <a:ln/>
        </p:spPr>
        <p:txBody>
          <a:bodyPr wrap="square" lIns="50800" tIns="50800" rIns="50800" bIns="50800" rtlCol="0" anchor="ctr"/>
          <a:lstStyle/>
          <a:p>
            <a:pPr marL="0" indent="0" algn="ctr">
              <a:buNone/>
            </a:pPr>
            <a:r>
              <a:rPr lang="en-US" sz="1400" b="1" dirty="0">
                <a:solidFill>
                  <a:schemeClr val="tx1"/>
                </a:solidFill>
              </a:rPr>
              <a:t>6 Test once</a:t>
            </a:r>
            <a:endParaRPr lang="en-US" sz="1400" dirty="0"/>
          </a:p>
        </p:txBody>
      </p:sp>
      <p:sp>
        <p:nvSpPr>
          <p:cNvPr id="10" name="codebox_247"/>
          <p:cNvSpPr/>
          <p:nvPr/>
        </p:nvSpPr>
        <p:spPr>
          <a:xfrm>
            <a:off x="548640" y="2377440"/>
            <a:ext cx="6400800" cy="3017520"/>
          </a:xfrm>
          <a:prstGeom prst="roundRect">
            <a:avLst>
              <a:gd name="adj" fmla="val 1818"/>
            </a:avLst>
          </a:prstGeom>
          <a:solidFill>
            <a:schemeClr val="tx1"/>
          </a:solidFill>
          <a:ln/>
        </p:spPr>
        <p:txBody>
          <a:bodyPr/>
          <a:lstStyle/>
          <a:p>
            <a:endParaRPr lang="en-US"/>
          </a:p>
        </p:txBody>
      </p:sp>
      <p:sp>
        <p:nvSpPr>
          <p:cNvPr id="11" name="code_248"/>
          <p:cNvSpPr txBox="1"/>
          <p:nvPr/>
        </p:nvSpPr>
        <p:spPr>
          <a:xfrm>
            <a:off x="731520" y="2468880"/>
            <a:ext cx="6035040" cy="2834640"/>
          </a:xfrm>
          <a:prstGeom prst="rect">
            <a:avLst/>
          </a:prstGeom>
          <a:noFill/>
          <a:ln/>
        </p:spPr>
        <p:txBody>
          <a:bodyPr wrap="square" lIns="0" tIns="0" rIns="0" bIns="0" rtlCol="0" anchor="ctr"/>
          <a:lstStyle/>
          <a:p>
            <a:pPr marL="0" indent="0">
              <a:buNone/>
            </a:pPr>
            <a:r>
              <a:rPr lang="en-US" sz="1400" dirty="0">
                <a:solidFill>
                  <a:schemeClr val="bg1"/>
                </a:solidFill>
                <a:latin typeface="Courier New" pitchFamily="34" charset="0"/>
                <a:ea typeface="Courier New" pitchFamily="34" charset="-122"/>
                <a:cs typeface="Courier New" pitchFamily="34" charset="-120"/>
              </a:rPr>
              <a:t>from sklearn.pipeline import make_pipeline</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from sklearn.preprocessing import StandardScaler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from sklearn.linear_model import LassoCV</a:t>
            </a:r>
            <a:endParaRPr lang="en-US" sz="1400" dirty="0"/>
          </a:p>
          <a:p>
            <a:pPr marL="0" indent="0">
              <a:buNone/>
            </a:pP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model = make_pipeline(StandardScaler(),</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LassoCV(cv=5))</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model.fit(X_train, y_train)</a:t>
            </a:r>
            <a:endParaRPr lang="en-US" sz="1400" dirty="0"/>
          </a:p>
          <a:p>
            <a:pPr marL="0" indent="0">
              <a:buNone/>
            </a:pP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model.score(X_test, y_test)  # test R²</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model[1].alpha_             # chosen alpha</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model[1].coef_              # zeros = dropped</a:t>
            </a:r>
            <a:endParaRPr lang="en-US" sz="1400" dirty="0"/>
          </a:p>
        </p:txBody>
      </p:sp>
      <p:sp>
        <p:nvSpPr>
          <p:cNvPr id="12" name="card_249"/>
          <p:cNvSpPr/>
          <p:nvPr/>
        </p:nvSpPr>
        <p:spPr>
          <a:xfrm>
            <a:off x="7223760" y="2377440"/>
            <a:ext cx="4416552" cy="3017520"/>
          </a:xfrm>
          <a:prstGeom prst="roundRect">
            <a:avLst>
              <a:gd name="adj" fmla="val 2424"/>
            </a:avLst>
          </a:prstGeom>
          <a:solidFill>
            <a:schemeClr val="bg2"/>
          </a:solidFill>
          <a:ln/>
        </p:spPr>
        <p:txBody>
          <a:bodyPr/>
          <a:lstStyle/>
          <a:p>
            <a:endParaRPr lang="en-US"/>
          </a:p>
        </p:txBody>
      </p:sp>
      <p:sp>
        <p:nvSpPr>
          <p:cNvPr id="13" name="cardtext_250"/>
          <p:cNvSpPr txBox="1"/>
          <p:nvPr/>
        </p:nvSpPr>
        <p:spPr>
          <a:xfrm>
            <a:off x="7406640" y="2505456"/>
            <a:ext cx="4050792" cy="2761488"/>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What to report</a:t>
            </a:r>
            <a:endParaRPr lang="en-US" sz="1800" dirty="0"/>
          </a:p>
          <a:p>
            <a:pPr marL="342900" indent="-342900">
              <a:spcAft>
                <a:spcPts val="400"/>
              </a:spcAft>
              <a:buSzPct val="100000"/>
              <a:buChar char="•"/>
            </a:pPr>
            <a:r>
              <a:rPr lang="en-US" sz="1600" dirty="0">
                <a:solidFill>
                  <a:schemeClr val="tx1"/>
                </a:solidFill>
              </a:rPr>
              <a:t>The chosen α and how you chose it (5-fold CV)</a:t>
            </a:r>
            <a:endParaRPr lang="en-US" sz="1800" dirty="0"/>
          </a:p>
          <a:p>
            <a:pPr marL="342900" indent="-342900">
              <a:spcAft>
                <a:spcPts val="400"/>
              </a:spcAft>
              <a:buSzPct val="100000"/>
              <a:buChar char="•"/>
            </a:pPr>
            <a:r>
              <a:rPr lang="en-US" sz="1600" dirty="0">
                <a:solidFill>
                  <a:schemeClr val="tx1"/>
                </a:solidFill>
              </a:rPr>
              <a:t>Test error next to a plain least squares baseline</a:t>
            </a:r>
            <a:endParaRPr lang="en-US" sz="1800" dirty="0"/>
          </a:p>
          <a:p>
            <a:pPr marL="342900" indent="-342900">
              <a:spcAft>
                <a:spcPts val="400"/>
              </a:spcAft>
              <a:buSzPct val="100000"/>
              <a:buChar char="•"/>
            </a:pPr>
            <a:r>
              <a:rPr lang="en-US" sz="1600" dirty="0">
                <a:solidFill>
                  <a:schemeClr val="tx1"/>
                </a:solidFill>
              </a:rPr>
              <a:t>Number of non-zero coefficients (lasso)</a:t>
            </a:r>
            <a:endParaRPr lang="en-US" sz="1800" dirty="0"/>
          </a:p>
          <a:p>
            <a:pPr marL="342900" indent="-342900">
              <a:spcAft>
                <a:spcPts val="400"/>
              </a:spcAft>
              <a:buSzPct val="100000"/>
              <a:buChar char="•"/>
            </a:pPr>
            <a:r>
              <a:rPr lang="en-US" sz="1600" dirty="0">
                <a:solidFill>
                  <a:schemeClr val="tx1"/>
                </a:solidFill>
              </a:rPr>
              <a:t>The largest standardized coefficients</a:t>
            </a:r>
            <a:endParaRPr lang="en-US" sz="1800" dirty="0"/>
          </a:p>
        </p:txBody>
      </p:sp>
      <p:sp>
        <p:nvSpPr>
          <p:cNvPr id="14" name="callout_251"/>
          <p:cNvSpPr txBox="1"/>
          <p:nvPr/>
        </p:nvSpPr>
        <p:spPr>
          <a:xfrm>
            <a:off x="548640" y="5577840"/>
            <a:ext cx="11091672" cy="594360"/>
          </a:xfrm>
          <a:prstGeom prst="roundRect">
            <a:avLst>
              <a:gd name="adj" fmla="val 12308"/>
            </a:avLst>
          </a:prstGeom>
          <a:solidFill>
            <a:schemeClr val="accent3"/>
          </a:solidFill>
          <a:ln/>
        </p:spPr>
        <p:txBody>
          <a:bodyPr wrap="square" lIns="127000" tIns="127000" rIns="127000" bIns="127000" rtlCol="0" anchor="ctr"/>
          <a:lstStyle/>
          <a:p>
            <a:pPr marL="0" indent="0" algn="l">
              <a:buNone/>
            </a:pPr>
            <a:r>
              <a:rPr lang="en-US" sz="1600" b="1" dirty="0">
                <a:solidFill>
                  <a:schemeClr val="bg1"/>
                </a:solidFill>
              </a:rPr>
              <a:t>Same discipline as Week 7: everything learned from data stays inside the pipeline.</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PART 3 · IN PRACTICE</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Pitfalls to avoid</a:t>
            </a:r>
            <a:endParaRPr lang="en-US" sz="3000" dirty="0"/>
          </a:p>
        </p:txBody>
      </p:sp>
      <p:sp>
        <p:nvSpPr>
          <p:cNvPr id="4" name="card_252"/>
          <p:cNvSpPr/>
          <p:nvPr/>
        </p:nvSpPr>
        <p:spPr>
          <a:xfrm>
            <a:off x="548640" y="1508760"/>
            <a:ext cx="3557016" cy="2194560"/>
          </a:xfrm>
          <a:prstGeom prst="roundRect">
            <a:avLst>
              <a:gd name="adj" fmla="val 3333"/>
            </a:avLst>
          </a:prstGeom>
          <a:solidFill>
            <a:schemeClr val="bg2"/>
          </a:solidFill>
          <a:ln/>
        </p:spPr>
        <p:txBody>
          <a:bodyPr/>
          <a:lstStyle/>
          <a:p>
            <a:endParaRPr lang="en-US"/>
          </a:p>
        </p:txBody>
      </p:sp>
      <p:sp>
        <p:nvSpPr>
          <p:cNvPr id="5" name="badge_253"/>
          <p:cNvSpPr txBox="1"/>
          <p:nvPr/>
        </p:nvSpPr>
        <p:spPr>
          <a:xfrm>
            <a:off x="731520" y="1673352"/>
            <a:ext cx="457200" cy="45720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6" name="txt_254"/>
          <p:cNvSpPr txBox="1"/>
          <p:nvPr/>
        </p:nvSpPr>
        <p:spPr>
          <a:xfrm>
            <a:off x="1325880" y="1673352"/>
            <a:ext cx="2596896" cy="457200"/>
          </a:xfrm>
          <a:prstGeom prst="rect">
            <a:avLst/>
          </a:prstGeom>
          <a:noFill/>
          <a:ln/>
        </p:spPr>
        <p:txBody>
          <a:bodyPr wrap="square" lIns="0" tIns="0" rIns="0" bIns="0" rtlCol="0" anchor="ctr"/>
          <a:lstStyle/>
          <a:p>
            <a:pPr marL="0" indent="0">
              <a:buNone/>
            </a:pPr>
            <a:r>
              <a:rPr lang="en-US" sz="1600" b="1" dirty="0">
                <a:solidFill>
                  <a:schemeClr val="tx1"/>
                </a:solidFill>
              </a:rPr>
              <a:t>Forgetting to scale</a:t>
            </a:r>
            <a:endParaRPr lang="en-US" sz="1600" dirty="0"/>
          </a:p>
        </p:txBody>
      </p:sp>
      <p:sp>
        <p:nvSpPr>
          <p:cNvPr id="7" name="txt_255"/>
          <p:cNvSpPr txBox="1"/>
          <p:nvPr/>
        </p:nvSpPr>
        <p:spPr>
          <a:xfrm>
            <a:off x="777240" y="2331720"/>
            <a:ext cx="3099816" cy="1234440"/>
          </a:xfrm>
          <a:prstGeom prst="rect">
            <a:avLst/>
          </a:prstGeom>
          <a:noFill/>
          <a:ln/>
        </p:spPr>
        <p:txBody>
          <a:bodyPr wrap="square" lIns="0" tIns="0" rIns="0" bIns="0" rtlCol="0" anchor="t"/>
          <a:lstStyle/>
          <a:p>
            <a:pPr marL="0" indent="0">
              <a:buNone/>
            </a:pPr>
            <a:r>
              <a:rPr lang="en-US" sz="1600" dirty="0">
                <a:solidFill>
                  <a:schemeClr val="tx1"/>
                </a:solidFill>
              </a:rPr>
              <a:t>Unscaled features are penalized unevenly. Standardize inside a Pipeline.</a:t>
            </a:r>
            <a:endParaRPr lang="en-US" sz="1600" dirty="0"/>
          </a:p>
        </p:txBody>
      </p:sp>
      <p:sp>
        <p:nvSpPr>
          <p:cNvPr id="8" name="card_256"/>
          <p:cNvSpPr/>
          <p:nvPr/>
        </p:nvSpPr>
        <p:spPr>
          <a:xfrm>
            <a:off x="4315968" y="1508760"/>
            <a:ext cx="3557016" cy="2194560"/>
          </a:xfrm>
          <a:prstGeom prst="roundRect">
            <a:avLst>
              <a:gd name="adj" fmla="val 3333"/>
            </a:avLst>
          </a:prstGeom>
          <a:solidFill>
            <a:schemeClr val="bg2"/>
          </a:solidFill>
          <a:ln/>
        </p:spPr>
        <p:txBody>
          <a:bodyPr/>
          <a:lstStyle/>
          <a:p>
            <a:endParaRPr lang="en-US"/>
          </a:p>
        </p:txBody>
      </p:sp>
      <p:sp>
        <p:nvSpPr>
          <p:cNvPr id="9" name="badge_257"/>
          <p:cNvSpPr txBox="1"/>
          <p:nvPr/>
        </p:nvSpPr>
        <p:spPr>
          <a:xfrm>
            <a:off x="4498848" y="1673352"/>
            <a:ext cx="457200" cy="45720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0" name="txt_258"/>
          <p:cNvSpPr txBox="1"/>
          <p:nvPr/>
        </p:nvSpPr>
        <p:spPr>
          <a:xfrm>
            <a:off x="5093208" y="1673352"/>
            <a:ext cx="2596896" cy="457200"/>
          </a:xfrm>
          <a:prstGeom prst="rect">
            <a:avLst/>
          </a:prstGeom>
          <a:noFill/>
          <a:ln/>
        </p:spPr>
        <p:txBody>
          <a:bodyPr wrap="square" lIns="0" tIns="0" rIns="0" bIns="0" rtlCol="0" anchor="ctr"/>
          <a:lstStyle/>
          <a:p>
            <a:pPr marL="0" indent="0">
              <a:buNone/>
            </a:pPr>
            <a:r>
              <a:rPr lang="en-US" sz="1600" b="1" dirty="0">
                <a:solidFill>
                  <a:schemeClr val="tx1"/>
                </a:solidFill>
              </a:rPr>
              <a:t>Tuning α on the test set</a:t>
            </a:r>
            <a:endParaRPr lang="en-US" sz="1600" dirty="0"/>
          </a:p>
        </p:txBody>
      </p:sp>
      <p:sp>
        <p:nvSpPr>
          <p:cNvPr id="11" name="txt_259"/>
          <p:cNvSpPr txBox="1"/>
          <p:nvPr/>
        </p:nvSpPr>
        <p:spPr>
          <a:xfrm>
            <a:off x="4544568" y="2331720"/>
            <a:ext cx="3099816" cy="1234440"/>
          </a:xfrm>
          <a:prstGeom prst="rect">
            <a:avLst/>
          </a:prstGeom>
          <a:noFill/>
          <a:ln/>
        </p:spPr>
        <p:txBody>
          <a:bodyPr wrap="square" lIns="0" tIns="0" rIns="0" bIns="0" rtlCol="0" anchor="t"/>
          <a:lstStyle/>
          <a:p>
            <a:pPr marL="0" indent="0">
              <a:buNone/>
            </a:pPr>
            <a:r>
              <a:rPr lang="en-US" sz="1600" dirty="0">
                <a:solidFill>
                  <a:schemeClr val="tx1"/>
                </a:solidFill>
              </a:rPr>
              <a:t>Pick α by cross-validation on training data. Touch the test set once. (data leakage!!)</a:t>
            </a:r>
            <a:endParaRPr lang="en-US" sz="1600" dirty="0"/>
          </a:p>
        </p:txBody>
      </p:sp>
      <p:sp>
        <p:nvSpPr>
          <p:cNvPr id="12" name="card_260"/>
          <p:cNvSpPr/>
          <p:nvPr/>
        </p:nvSpPr>
        <p:spPr>
          <a:xfrm>
            <a:off x="8083296" y="1508760"/>
            <a:ext cx="3557016" cy="2194560"/>
          </a:xfrm>
          <a:prstGeom prst="roundRect">
            <a:avLst>
              <a:gd name="adj" fmla="val 3333"/>
            </a:avLst>
          </a:prstGeom>
          <a:solidFill>
            <a:schemeClr val="bg2"/>
          </a:solidFill>
          <a:ln/>
        </p:spPr>
        <p:txBody>
          <a:bodyPr/>
          <a:lstStyle/>
          <a:p>
            <a:endParaRPr lang="en-US"/>
          </a:p>
        </p:txBody>
      </p:sp>
      <p:sp>
        <p:nvSpPr>
          <p:cNvPr id="13" name="badge_261"/>
          <p:cNvSpPr txBox="1"/>
          <p:nvPr/>
        </p:nvSpPr>
        <p:spPr>
          <a:xfrm>
            <a:off x="8266176" y="1673352"/>
            <a:ext cx="457200" cy="45720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4" name="txt_262"/>
          <p:cNvSpPr txBox="1"/>
          <p:nvPr/>
        </p:nvSpPr>
        <p:spPr>
          <a:xfrm>
            <a:off x="8860536" y="1673352"/>
            <a:ext cx="2596896" cy="457200"/>
          </a:xfrm>
          <a:prstGeom prst="rect">
            <a:avLst/>
          </a:prstGeom>
          <a:noFill/>
          <a:ln/>
        </p:spPr>
        <p:txBody>
          <a:bodyPr wrap="square" lIns="0" tIns="0" rIns="0" bIns="0" rtlCol="0" anchor="ctr"/>
          <a:lstStyle/>
          <a:p>
            <a:pPr marL="0" indent="0">
              <a:buNone/>
            </a:pPr>
            <a:r>
              <a:rPr lang="en-US" sz="1600" b="1" dirty="0">
                <a:solidFill>
                  <a:schemeClr val="tx1"/>
                </a:solidFill>
              </a:rPr>
              <a:t>Reading zeros as “unimportant”</a:t>
            </a:r>
            <a:endParaRPr lang="en-US" sz="1600" dirty="0"/>
          </a:p>
        </p:txBody>
      </p:sp>
      <p:sp>
        <p:nvSpPr>
          <p:cNvPr id="15" name="txt_263"/>
          <p:cNvSpPr txBox="1"/>
          <p:nvPr/>
        </p:nvSpPr>
        <p:spPr>
          <a:xfrm>
            <a:off x="8311896" y="2331720"/>
            <a:ext cx="3099816" cy="1234440"/>
          </a:xfrm>
          <a:prstGeom prst="rect">
            <a:avLst/>
          </a:prstGeom>
          <a:noFill/>
          <a:ln/>
        </p:spPr>
        <p:txBody>
          <a:bodyPr wrap="square" lIns="0" tIns="0" rIns="0" bIns="0" rtlCol="0" anchor="t"/>
          <a:lstStyle/>
          <a:p>
            <a:r>
              <a:rPr lang="en-US" sz="1600" dirty="0">
                <a:solidFill>
                  <a:schemeClr val="tx1"/>
                </a:solidFill>
              </a:rPr>
              <a:t>Correlated features can swap places and α changes who survives. Selection is not causation. </a:t>
            </a:r>
            <a:r>
              <a:rPr lang="en-US" sz="1600" dirty="0"/>
              <a:t>(interpretation)</a:t>
            </a:r>
          </a:p>
        </p:txBody>
      </p:sp>
      <p:sp>
        <p:nvSpPr>
          <p:cNvPr id="16" name="card_264"/>
          <p:cNvSpPr/>
          <p:nvPr/>
        </p:nvSpPr>
        <p:spPr>
          <a:xfrm>
            <a:off x="548640" y="3931920"/>
            <a:ext cx="3557016" cy="2194560"/>
          </a:xfrm>
          <a:prstGeom prst="roundRect">
            <a:avLst>
              <a:gd name="adj" fmla="val 3333"/>
            </a:avLst>
          </a:prstGeom>
          <a:solidFill>
            <a:schemeClr val="bg2"/>
          </a:solidFill>
          <a:ln/>
        </p:spPr>
        <p:txBody>
          <a:bodyPr/>
          <a:lstStyle/>
          <a:p>
            <a:endParaRPr lang="en-US"/>
          </a:p>
        </p:txBody>
      </p:sp>
      <p:sp>
        <p:nvSpPr>
          <p:cNvPr id="17" name="badge_265"/>
          <p:cNvSpPr txBox="1"/>
          <p:nvPr/>
        </p:nvSpPr>
        <p:spPr>
          <a:xfrm>
            <a:off x="731520" y="4096512"/>
            <a:ext cx="457200" cy="45720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8" name="txt_266"/>
          <p:cNvSpPr txBox="1"/>
          <p:nvPr/>
        </p:nvSpPr>
        <p:spPr>
          <a:xfrm>
            <a:off x="1325880" y="4096512"/>
            <a:ext cx="2596896" cy="457200"/>
          </a:xfrm>
          <a:prstGeom prst="rect">
            <a:avLst/>
          </a:prstGeom>
          <a:noFill/>
          <a:ln/>
        </p:spPr>
        <p:txBody>
          <a:bodyPr wrap="square" lIns="0" tIns="0" rIns="0" bIns="0" rtlCol="0" anchor="ctr"/>
          <a:lstStyle/>
          <a:p>
            <a:pPr marL="0" indent="0">
              <a:buNone/>
            </a:pPr>
            <a:r>
              <a:rPr lang="en-US" sz="1600" b="1" dirty="0">
                <a:solidFill>
                  <a:schemeClr val="tx1"/>
                </a:solidFill>
              </a:rPr>
              <a:t>Mixing up the names</a:t>
            </a:r>
            <a:endParaRPr lang="en-US" sz="1600" dirty="0"/>
          </a:p>
        </p:txBody>
      </p:sp>
      <p:sp>
        <p:nvSpPr>
          <p:cNvPr id="19" name="txt_267"/>
          <p:cNvSpPr txBox="1"/>
          <p:nvPr/>
        </p:nvSpPr>
        <p:spPr>
          <a:xfrm>
            <a:off x="777240" y="4754880"/>
            <a:ext cx="3099816" cy="1234440"/>
          </a:xfrm>
          <a:prstGeom prst="rect">
            <a:avLst/>
          </a:prstGeom>
          <a:noFill/>
          <a:ln/>
        </p:spPr>
        <p:txBody>
          <a:bodyPr wrap="square" lIns="0" tIns="0" rIns="0" bIns="0" rtlCol="0" anchor="t"/>
          <a:lstStyle/>
          <a:p>
            <a:pPr marL="0" indent="0">
              <a:buNone/>
            </a:pPr>
            <a:r>
              <a:rPr lang="en-US" sz="1600" dirty="0">
                <a:solidFill>
                  <a:schemeClr val="tx1"/>
                </a:solidFill>
              </a:rPr>
              <a:t>ISLP’s λ is scikit-learn’s alpha. In LogisticRegression, C is the inverse: small C = strong penalty.</a:t>
            </a:r>
            <a:endParaRPr lang="en-US" sz="1600" dirty="0"/>
          </a:p>
        </p:txBody>
      </p:sp>
      <p:sp>
        <p:nvSpPr>
          <p:cNvPr id="20" name="card_268"/>
          <p:cNvSpPr/>
          <p:nvPr/>
        </p:nvSpPr>
        <p:spPr>
          <a:xfrm>
            <a:off x="4315968" y="3931920"/>
            <a:ext cx="3557016" cy="2194560"/>
          </a:xfrm>
          <a:prstGeom prst="roundRect">
            <a:avLst>
              <a:gd name="adj" fmla="val 3333"/>
            </a:avLst>
          </a:prstGeom>
          <a:solidFill>
            <a:schemeClr val="bg2"/>
          </a:solidFill>
          <a:ln/>
        </p:spPr>
        <p:txBody>
          <a:bodyPr/>
          <a:lstStyle/>
          <a:p>
            <a:endParaRPr lang="en-US"/>
          </a:p>
        </p:txBody>
      </p:sp>
      <p:sp>
        <p:nvSpPr>
          <p:cNvPr id="21" name="badge_269"/>
          <p:cNvSpPr txBox="1"/>
          <p:nvPr/>
        </p:nvSpPr>
        <p:spPr>
          <a:xfrm>
            <a:off x="4498848" y="4096512"/>
            <a:ext cx="457200" cy="45720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2" name="txt_270"/>
          <p:cNvSpPr txBox="1"/>
          <p:nvPr/>
        </p:nvSpPr>
        <p:spPr>
          <a:xfrm>
            <a:off x="5093208" y="4096512"/>
            <a:ext cx="2596896" cy="457200"/>
          </a:xfrm>
          <a:prstGeom prst="rect">
            <a:avLst/>
          </a:prstGeom>
          <a:noFill/>
          <a:ln/>
        </p:spPr>
        <p:txBody>
          <a:bodyPr wrap="square" lIns="0" tIns="0" rIns="0" bIns="0" rtlCol="0" anchor="ctr"/>
          <a:lstStyle/>
          <a:p>
            <a:pPr marL="0" indent="0">
              <a:buNone/>
            </a:pPr>
            <a:r>
              <a:rPr lang="en-US" sz="1600" b="1" dirty="0">
                <a:solidFill>
                  <a:schemeClr val="tx1"/>
                </a:solidFill>
              </a:rPr>
              <a:t>Judging by training error</a:t>
            </a:r>
            <a:endParaRPr lang="en-US" sz="1600" dirty="0"/>
          </a:p>
        </p:txBody>
      </p:sp>
      <p:sp>
        <p:nvSpPr>
          <p:cNvPr id="23" name="txt_271"/>
          <p:cNvSpPr txBox="1"/>
          <p:nvPr/>
        </p:nvSpPr>
        <p:spPr>
          <a:xfrm>
            <a:off x="4544568" y="4754880"/>
            <a:ext cx="3099816" cy="1234440"/>
          </a:xfrm>
          <a:prstGeom prst="rect">
            <a:avLst/>
          </a:prstGeom>
          <a:noFill/>
          <a:ln/>
        </p:spPr>
        <p:txBody>
          <a:bodyPr wrap="square" lIns="0" tIns="0" rIns="0" bIns="0" rtlCol="0" anchor="t"/>
          <a:lstStyle/>
          <a:p>
            <a:pPr marL="0" indent="0">
              <a:buNone/>
            </a:pPr>
            <a:r>
              <a:rPr lang="en-US" sz="1600" dirty="0">
                <a:solidFill>
                  <a:schemeClr val="tx1"/>
                </a:solidFill>
              </a:rPr>
              <a:t>A penalized fit always looks worse on training data. Compare on test or CV error.</a:t>
            </a:r>
            <a:endParaRPr lang="en-US" sz="1600" dirty="0"/>
          </a:p>
        </p:txBody>
      </p:sp>
      <p:sp>
        <p:nvSpPr>
          <p:cNvPr id="24" name="card_272"/>
          <p:cNvSpPr/>
          <p:nvPr/>
        </p:nvSpPr>
        <p:spPr>
          <a:xfrm>
            <a:off x="8083296" y="3931920"/>
            <a:ext cx="3557016" cy="2194560"/>
          </a:xfrm>
          <a:prstGeom prst="roundRect">
            <a:avLst>
              <a:gd name="adj" fmla="val 3333"/>
            </a:avLst>
          </a:prstGeom>
          <a:solidFill>
            <a:schemeClr val="bg2"/>
          </a:solidFill>
          <a:ln/>
        </p:spPr>
        <p:txBody>
          <a:bodyPr/>
          <a:lstStyle/>
          <a:p>
            <a:endParaRPr lang="en-US"/>
          </a:p>
        </p:txBody>
      </p:sp>
      <p:sp>
        <p:nvSpPr>
          <p:cNvPr id="25" name="badge_273"/>
          <p:cNvSpPr txBox="1"/>
          <p:nvPr/>
        </p:nvSpPr>
        <p:spPr>
          <a:xfrm>
            <a:off x="8266176" y="4096512"/>
            <a:ext cx="457200" cy="45720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26" name="txt_274"/>
          <p:cNvSpPr txBox="1"/>
          <p:nvPr/>
        </p:nvSpPr>
        <p:spPr>
          <a:xfrm>
            <a:off x="8860536" y="4096512"/>
            <a:ext cx="2779776" cy="457200"/>
          </a:xfrm>
          <a:prstGeom prst="rect">
            <a:avLst/>
          </a:prstGeom>
          <a:noFill/>
          <a:ln/>
        </p:spPr>
        <p:txBody>
          <a:bodyPr wrap="square" lIns="0" tIns="0" rIns="0" bIns="0" rtlCol="0" anchor="ctr"/>
          <a:lstStyle/>
          <a:p>
            <a:r>
              <a:rPr lang="en-US" sz="1600" b="1" dirty="0"/>
              <a:t>Regularization Does Not Always Improve Performance</a:t>
            </a:r>
          </a:p>
        </p:txBody>
      </p:sp>
      <p:sp>
        <p:nvSpPr>
          <p:cNvPr id="27" name="txt_275"/>
          <p:cNvSpPr txBox="1"/>
          <p:nvPr/>
        </p:nvSpPr>
        <p:spPr>
          <a:xfrm>
            <a:off x="8311896" y="4754880"/>
            <a:ext cx="3099816" cy="1234440"/>
          </a:xfrm>
          <a:prstGeom prst="rect">
            <a:avLst/>
          </a:prstGeom>
          <a:noFill/>
          <a:ln/>
        </p:spPr>
        <p:txBody>
          <a:bodyPr wrap="square" lIns="0" tIns="0" rIns="0" bIns="0" rtlCol="0" anchor="t"/>
          <a:lstStyle/>
          <a:p>
            <a:pPr marL="0" indent="0">
              <a:buNone/>
            </a:pPr>
            <a:r>
              <a:rPr lang="en-US" sz="1600" dirty="0">
                <a:solidFill>
                  <a:schemeClr val="tx1"/>
                </a:solidFill>
              </a:rPr>
              <a:t>With many rows and few features, plain least squares is already stable (our diabetes example).</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914400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QUICK CHECK · DISCUSS IN PAIRS</a:t>
            </a:r>
            <a:endParaRPr lang="en-US" sz="1200" dirty="0"/>
          </a:p>
        </p:txBody>
      </p:sp>
      <p:sp>
        <p:nvSpPr>
          <p:cNvPr id="3" name="Text 0"/>
          <p:cNvSpPr>
            <a:spLocks noGrp="1"/>
          </p:cNvSpPr>
          <p:nvPr>
            <p:ph type="title" idx="101"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tx1"/>
                </a:solidFill>
              </a:rPr>
              <a:t>Which approach, and why?</a:t>
            </a:r>
            <a:endParaRPr lang="en-US" sz="3000" dirty="0"/>
          </a:p>
        </p:txBody>
      </p:sp>
      <p:sp>
        <p:nvSpPr>
          <p:cNvPr id="4" name="card_276"/>
          <p:cNvSpPr/>
          <p:nvPr/>
        </p:nvSpPr>
        <p:spPr>
          <a:xfrm>
            <a:off x="548640" y="1508760"/>
            <a:ext cx="5440680" cy="2148840"/>
          </a:xfrm>
          <a:prstGeom prst="roundRect">
            <a:avLst>
              <a:gd name="adj" fmla="val 3404"/>
            </a:avLst>
          </a:prstGeom>
          <a:solidFill>
            <a:schemeClr val="bg2"/>
          </a:solidFill>
          <a:ln/>
        </p:spPr>
        <p:txBody>
          <a:bodyPr/>
          <a:lstStyle/>
          <a:p>
            <a:endParaRPr lang="en-US"/>
          </a:p>
        </p:txBody>
      </p:sp>
      <p:sp>
        <p:nvSpPr>
          <p:cNvPr id="5" name="badge_277"/>
          <p:cNvSpPr txBox="1"/>
          <p:nvPr/>
        </p:nvSpPr>
        <p:spPr>
          <a:xfrm>
            <a:off x="731520" y="1673352"/>
            <a:ext cx="457200" cy="45720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A</a:t>
            </a:r>
            <a:endParaRPr lang="en-US" sz="1800" dirty="0"/>
          </a:p>
        </p:txBody>
      </p:sp>
      <p:sp>
        <p:nvSpPr>
          <p:cNvPr id="6" name="txt_278"/>
          <p:cNvSpPr txBox="1"/>
          <p:nvPr/>
        </p:nvSpPr>
        <p:spPr>
          <a:xfrm>
            <a:off x="1325880" y="1673352"/>
            <a:ext cx="4480560" cy="457200"/>
          </a:xfrm>
          <a:prstGeom prst="rect">
            <a:avLst/>
          </a:prstGeom>
          <a:noFill/>
          <a:ln/>
        </p:spPr>
        <p:txBody>
          <a:bodyPr wrap="square" lIns="0" tIns="0" rIns="0" bIns="0" rtlCol="0" anchor="ctr"/>
          <a:lstStyle/>
          <a:p>
            <a:pPr marL="0" indent="0">
              <a:buNone/>
            </a:pPr>
            <a:r>
              <a:rPr lang="en-US" sz="1800" b="1" dirty="0">
                <a:solidFill>
                  <a:schemeClr val="tx1"/>
                </a:solidFill>
              </a:rPr>
              <a:t>Scenario A</a:t>
            </a:r>
            <a:endParaRPr lang="en-US" sz="1800" dirty="0"/>
          </a:p>
        </p:txBody>
      </p:sp>
      <p:sp>
        <p:nvSpPr>
          <p:cNvPr id="7" name="txt_279"/>
          <p:cNvSpPr txBox="1"/>
          <p:nvPr/>
        </p:nvSpPr>
        <p:spPr>
          <a:xfrm>
            <a:off x="777240" y="2331720"/>
            <a:ext cx="4983480" cy="1188720"/>
          </a:xfrm>
          <a:prstGeom prst="rect">
            <a:avLst/>
          </a:prstGeom>
          <a:noFill/>
          <a:ln/>
        </p:spPr>
        <p:txBody>
          <a:bodyPr wrap="square" lIns="0" tIns="0" rIns="0" bIns="0" rtlCol="0" anchor="t"/>
          <a:lstStyle/>
          <a:p>
            <a:pPr marL="0" indent="0">
              <a:buNone/>
            </a:pPr>
            <a:r>
              <a:rPr lang="en-US" sz="1800" dirty="0">
                <a:solidFill>
                  <a:schemeClr val="tx1"/>
                </a:solidFill>
              </a:rPr>
              <a:t>30 patients, 500 gene measurements. Goal: shortlist a few genes for follow-up. Which penalty?</a:t>
            </a:r>
            <a:endParaRPr lang="en-US" sz="1800" dirty="0"/>
          </a:p>
        </p:txBody>
      </p:sp>
      <p:sp>
        <p:nvSpPr>
          <p:cNvPr id="8" name="card_280"/>
          <p:cNvSpPr/>
          <p:nvPr/>
        </p:nvSpPr>
        <p:spPr>
          <a:xfrm>
            <a:off x="6199632" y="1508760"/>
            <a:ext cx="5440680" cy="2148840"/>
          </a:xfrm>
          <a:prstGeom prst="roundRect">
            <a:avLst>
              <a:gd name="adj" fmla="val 3404"/>
            </a:avLst>
          </a:prstGeom>
          <a:solidFill>
            <a:schemeClr val="bg2"/>
          </a:solidFill>
          <a:ln/>
        </p:spPr>
        <p:txBody>
          <a:bodyPr/>
          <a:lstStyle/>
          <a:p>
            <a:endParaRPr lang="en-US"/>
          </a:p>
        </p:txBody>
      </p:sp>
      <p:sp>
        <p:nvSpPr>
          <p:cNvPr id="9" name="badge_281"/>
          <p:cNvSpPr txBox="1"/>
          <p:nvPr/>
        </p:nvSpPr>
        <p:spPr>
          <a:xfrm>
            <a:off x="6382512" y="1673352"/>
            <a:ext cx="457200" cy="45720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1"/>
                </a:solidFill>
              </a:rPr>
              <a:t>B</a:t>
            </a:r>
            <a:endParaRPr lang="en-US" sz="1800" dirty="0"/>
          </a:p>
        </p:txBody>
      </p:sp>
      <p:sp>
        <p:nvSpPr>
          <p:cNvPr id="10" name="txt_282"/>
          <p:cNvSpPr txBox="1"/>
          <p:nvPr/>
        </p:nvSpPr>
        <p:spPr>
          <a:xfrm>
            <a:off x="6976872" y="1673352"/>
            <a:ext cx="4480560" cy="457200"/>
          </a:xfrm>
          <a:prstGeom prst="rect">
            <a:avLst/>
          </a:prstGeom>
          <a:noFill/>
          <a:ln/>
        </p:spPr>
        <p:txBody>
          <a:bodyPr wrap="square" lIns="0" tIns="0" rIns="0" bIns="0" rtlCol="0" anchor="ctr"/>
          <a:lstStyle/>
          <a:p>
            <a:pPr marL="0" indent="0">
              <a:buNone/>
            </a:pPr>
            <a:r>
              <a:rPr lang="en-US" sz="1800" b="1" dirty="0">
                <a:solidFill>
                  <a:schemeClr val="tx1"/>
                </a:solidFill>
              </a:rPr>
              <a:t>Scenario B</a:t>
            </a:r>
            <a:endParaRPr lang="en-US" sz="1800" dirty="0"/>
          </a:p>
        </p:txBody>
      </p:sp>
      <p:sp>
        <p:nvSpPr>
          <p:cNvPr id="11" name="txt_283"/>
          <p:cNvSpPr txBox="1"/>
          <p:nvPr/>
        </p:nvSpPr>
        <p:spPr>
          <a:xfrm>
            <a:off x="6428232" y="2331720"/>
            <a:ext cx="4983480" cy="1188720"/>
          </a:xfrm>
          <a:prstGeom prst="rect">
            <a:avLst/>
          </a:prstGeom>
          <a:noFill/>
          <a:ln/>
        </p:spPr>
        <p:txBody>
          <a:bodyPr wrap="square" lIns="0" tIns="0" rIns="0" bIns="0" rtlCol="0" anchor="t"/>
          <a:lstStyle/>
          <a:p>
            <a:pPr marL="0" indent="0">
              <a:buNone/>
            </a:pPr>
            <a:r>
              <a:rPr lang="en-US" sz="1800" dirty="0">
                <a:solidFill>
                  <a:schemeClr val="tx1"/>
                </a:solidFill>
              </a:rPr>
              <a:t>5,000 customers, 25 strongly correlated features. Goal: best predictions; every feature is cheap to keep. Which penalty?</a:t>
            </a:r>
            <a:endParaRPr lang="en-US" sz="1800" dirty="0"/>
          </a:p>
        </p:txBody>
      </p:sp>
      <p:sp>
        <p:nvSpPr>
          <p:cNvPr id="12" name="card_284"/>
          <p:cNvSpPr/>
          <p:nvPr/>
        </p:nvSpPr>
        <p:spPr>
          <a:xfrm>
            <a:off x="548640" y="3840480"/>
            <a:ext cx="5440680" cy="2148840"/>
          </a:xfrm>
          <a:prstGeom prst="roundRect">
            <a:avLst>
              <a:gd name="adj" fmla="val 3404"/>
            </a:avLst>
          </a:prstGeom>
          <a:solidFill>
            <a:schemeClr val="bg2"/>
          </a:solidFill>
          <a:ln/>
        </p:spPr>
        <p:txBody>
          <a:bodyPr/>
          <a:lstStyle/>
          <a:p>
            <a:endParaRPr lang="en-US"/>
          </a:p>
        </p:txBody>
      </p:sp>
      <p:sp>
        <p:nvSpPr>
          <p:cNvPr id="13" name="badge_285"/>
          <p:cNvSpPr txBox="1"/>
          <p:nvPr/>
        </p:nvSpPr>
        <p:spPr>
          <a:xfrm>
            <a:off x="731520" y="4005072"/>
            <a:ext cx="457200" cy="457200"/>
          </a:xfrm>
          <a:prstGeom prst="ellipse">
            <a:avLst/>
          </a:prstGeom>
          <a:solidFill>
            <a:schemeClr val="accent4"/>
          </a:solidFill>
          <a:ln/>
        </p:spPr>
        <p:txBody>
          <a:bodyPr wrap="square" lIns="0" tIns="0" rIns="0" bIns="0" rtlCol="0" anchor="ctr"/>
          <a:lstStyle/>
          <a:p>
            <a:pPr marL="0" indent="0" algn="ctr">
              <a:buNone/>
            </a:pPr>
            <a:r>
              <a:rPr lang="en-US" sz="1800" b="1" dirty="0">
                <a:solidFill>
                  <a:schemeClr val="bg1"/>
                </a:solidFill>
              </a:rPr>
              <a:t>C</a:t>
            </a:r>
            <a:endParaRPr lang="en-US" sz="1800" dirty="0"/>
          </a:p>
        </p:txBody>
      </p:sp>
      <p:sp>
        <p:nvSpPr>
          <p:cNvPr id="14" name="txt_286"/>
          <p:cNvSpPr txBox="1"/>
          <p:nvPr/>
        </p:nvSpPr>
        <p:spPr>
          <a:xfrm>
            <a:off x="1325880" y="4005072"/>
            <a:ext cx="4480560" cy="457200"/>
          </a:xfrm>
          <a:prstGeom prst="rect">
            <a:avLst/>
          </a:prstGeom>
          <a:noFill/>
          <a:ln/>
        </p:spPr>
        <p:txBody>
          <a:bodyPr wrap="square" lIns="0" tIns="0" rIns="0" bIns="0" rtlCol="0" anchor="ctr"/>
          <a:lstStyle/>
          <a:p>
            <a:pPr marL="0" indent="0">
              <a:buNone/>
            </a:pPr>
            <a:r>
              <a:rPr lang="en-US" sz="1800" b="1" dirty="0">
                <a:solidFill>
                  <a:schemeClr val="tx1"/>
                </a:solidFill>
              </a:rPr>
              <a:t>Scenario C</a:t>
            </a:r>
            <a:endParaRPr lang="en-US" sz="1800" dirty="0"/>
          </a:p>
        </p:txBody>
      </p:sp>
      <p:sp>
        <p:nvSpPr>
          <p:cNvPr id="15" name="txt_287"/>
          <p:cNvSpPr txBox="1"/>
          <p:nvPr/>
        </p:nvSpPr>
        <p:spPr>
          <a:xfrm>
            <a:off x="777240" y="4663440"/>
            <a:ext cx="4983480" cy="1188720"/>
          </a:xfrm>
          <a:prstGeom prst="rect">
            <a:avLst/>
          </a:prstGeom>
          <a:noFill/>
          <a:ln/>
        </p:spPr>
        <p:txBody>
          <a:bodyPr wrap="square" lIns="0" tIns="0" rIns="0" bIns="0" rtlCol="0" anchor="t"/>
          <a:lstStyle/>
          <a:p>
            <a:pPr marL="0" indent="0">
              <a:buNone/>
            </a:pPr>
            <a:r>
              <a:rPr lang="en-US" sz="1800" dirty="0">
                <a:solidFill>
                  <a:schemeClr val="tx1"/>
                </a:solidFill>
              </a:rPr>
              <a:t>10,000 rows, 3 features, a roughly linear relationship. Will ridge or lasso help much?</a:t>
            </a:r>
            <a:endParaRPr lang="en-US" sz="1800" dirty="0"/>
          </a:p>
        </p:txBody>
      </p:sp>
      <p:sp>
        <p:nvSpPr>
          <p:cNvPr id="16" name="card_288"/>
          <p:cNvSpPr/>
          <p:nvPr/>
        </p:nvSpPr>
        <p:spPr>
          <a:xfrm>
            <a:off x="6199632" y="3840480"/>
            <a:ext cx="5440680" cy="2148840"/>
          </a:xfrm>
          <a:prstGeom prst="roundRect">
            <a:avLst>
              <a:gd name="adj" fmla="val 3404"/>
            </a:avLst>
          </a:prstGeom>
          <a:solidFill>
            <a:schemeClr val="bg2"/>
          </a:solidFill>
          <a:ln/>
        </p:spPr>
        <p:txBody>
          <a:bodyPr/>
          <a:lstStyle/>
          <a:p>
            <a:endParaRPr lang="en-US"/>
          </a:p>
        </p:txBody>
      </p:sp>
      <p:sp>
        <p:nvSpPr>
          <p:cNvPr id="17" name="badge_289"/>
          <p:cNvSpPr txBox="1"/>
          <p:nvPr/>
        </p:nvSpPr>
        <p:spPr>
          <a:xfrm>
            <a:off x="6382512" y="4005072"/>
            <a:ext cx="457200" cy="457200"/>
          </a:xfrm>
          <a:prstGeom prst="ellipse">
            <a:avLst/>
          </a:prstGeom>
          <a:solidFill>
            <a:schemeClr val="accent3"/>
          </a:solidFill>
          <a:ln/>
        </p:spPr>
        <p:txBody>
          <a:bodyPr wrap="square" lIns="0" tIns="0" rIns="0" bIns="0" rtlCol="0" anchor="ctr"/>
          <a:lstStyle/>
          <a:p>
            <a:pPr marL="0" indent="0" algn="ctr">
              <a:buNone/>
            </a:pPr>
            <a:r>
              <a:rPr lang="en-US" sz="1800" b="1" dirty="0">
                <a:solidFill>
                  <a:schemeClr val="bg1"/>
                </a:solidFill>
              </a:rPr>
              <a:t>D</a:t>
            </a:r>
            <a:endParaRPr lang="en-US" sz="1800" dirty="0"/>
          </a:p>
        </p:txBody>
      </p:sp>
      <p:sp>
        <p:nvSpPr>
          <p:cNvPr id="18" name="txt_290"/>
          <p:cNvSpPr txBox="1"/>
          <p:nvPr/>
        </p:nvSpPr>
        <p:spPr>
          <a:xfrm>
            <a:off x="6976872" y="4005072"/>
            <a:ext cx="4480560" cy="457200"/>
          </a:xfrm>
          <a:prstGeom prst="rect">
            <a:avLst/>
          </a:prstGeom>
          <a:noFill/>
          <a:ln/>
        </p:spPr>
        <p:txBody>
          <a:bodyPr wrap="square" lIns="0" tIns="0" rIns="0" bIns="0" rtlCol="0" anchor="ctr"/>
          <a:lstStyle/>
          <a:p>
            <a:pPr marL="0" indent="0">
              <a:buNone/>
            </a:pPr>
            <a:r>
              <a:rPr lang="en-US" sz="1800" b="1" dirty="0">
                <a:solidFill>
                  <a:schemeClr val="tx1"/>
                </a:solidFill>
              </a:rPr>
              <a:t>Scenario D</a:t>
            </a:r>
            <a:endParaRPr lang="en-US" sz="1800" dirty="0"/>
          </a:p>
        </p:txBody>
      </p:sp>
      <p:sp>
        <p:nvSpPr>
          <p:cNvPr id="19" name="txt_291"/>
          <p:cNvSpPr txBox="1"/>
          <p:nvPr/>
        </p:nvSpPr>
        <p:spPr>
          <a:xfrm>
            <a:off x="6428232" y="4663440"/>
            <a:ext cx="4983480" cy="1188720"/>
          </a:xfrm>
          <a:prstGeom prst="rect">
            <a:avLst/>
          </a:prstGeom>
          <a:noFill/>
          <a:ln/>
        </p:spPr>
        <p:txBody>
          <a:bodyPr wrap="square" lIns="0" tIns="0" rIns="0" bIns="0" rtlCol="0" anchor="t"/>
          <a:lstStyle/>
          <a:p>
            <a:pPr marL="0" indent="0">
              <a:buNone/>
            </a:pPr>
            <a:r>
              <a:rPr lang="en-US" sz="1800" dirty="0">
                <a:solidFill>
                  <a:schemeClr val="tx1"/>
                </a:solidFill>
              </a:rPr>
              <a:t>Lasso sets age to exactly 0. Can we say age does not matter?</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29184"/>
            <a:ext cx="9144000" cy="274320"/>
          </a:xfrm>
          <a:prstGeom prst="rect">
            <a:avLst/>
          </a:prstGeom>
          <a:noFill/>
          <a:ln/>
        </p:spPr>
        <p:txBody>
          <a:bodyPr wrap="square" lIns="0" tIns="0" rIns="0" bIns="0" rtlCol="0"/>
          <a:lstStyle/>
          <a:p>
            <a:pPr marL="0" indent="0">
              <a:buNone/>
            </a:pPr>
            <a:r>
              <a:rPr lang="en-US" sz="1200" b="1" kern="0" spc="200" dirty="0">
                <a:solidFill>
                  <a:schemeClr val="accent2"/>
                </a:solidFill>
              </a:rPr>
              <a:t>SUMMARY</a:t>
            </a:r>
            <a:endParaRPr lang="en-US" sz="1200" dirty="0"/>
          </a:p>
        </p:txBody>
      </p:sp>
      <p:sp>
        <p:nvSpPr>
          <p:cNvPr id="3" name="Text 1"/>
          <p:cNvSpPr>
            <a:spLocks noGrp="1"/>
          </p:cNvSpPr>
          <p:nvPr>
            <p:ph type="title" idx="102" hasCustomPrompt="1"/>
          </p:nvPr>
        </p:nvSpPr>
        <p:spPr>
          <a:xfrm>
            <a:off x="548640" y="603504"/>
            <a:ext cx="11091672" cy="731520"/>
          </a:xfrm>
          <a:prstGeom prst="rect">
            <a:avLst/>
          </a:prstGeom>
          <a:noFill/>
          <a:ln/>
        </p:spPr>
        <p:txBody>
          <a:bodyPr wrap="square" lIns="0" tIns="0" rIns="0" bIns="0" rtlCol="0" anchor="t"/>
          <a:lstStyle/>
          <a:p>
            <a:pPr marL="0" indent="0" algn="l">
              <a:buNone/>
            </a:pPr>
            <a:r>
              <a:rPr lang="en-US" sz="3000" b="1" dirty="0">
                <a:solidFill>
                  <a:schemeClr val="bg1"/>
                </a:solidFill>
              </a:rPr>
              <a:t>Key takeaways</a:t>
            </a:r>
            <a:endParaRPr lang="en-US" sz="3000" dirty="0"/>
          </a:p>
        </p:txBody>
      </p:sp>
      <p:sp>
        <p:nvSpPr>
          <p:cNvPr id="4" name="card_292"/>
          <p:cNvSpPr/>
          <p:nvPr/>
        </p:nvSpPr>
        <p:spPr>
          <a:xfrm>
            <a:off x="548640" y="1600200"/>
            <a:ext cx="5440680" cy="1783080"/>
          </a:xfrm>
          <a:prstGeom prst="roundRect">
            <a:avLst>
              <a:gd name="adj" fmla="val 4103"/>
            </a:avLst>
          </a:prstGeom>
          <a:solidFill>
            <a:schemeClr val="accent1"/>
          </a:solidFill>
          <a:ln/>
        </p:spPr>
        <p:txBody>
          <a:bodyPr/>
          <a:lstStyle/>
          <a:p>
            <a:endParaRPr lang="en-US"/>
          </a:p>
        </p:txBody>
      </p:sp>
      <p:sp>
        <p:nvSpPr>
          <p:cNvPr id="5" name="cardtext_293"/>
          <p:cNvSpPr txBox="1"/>
          <p:nvPr/>
        </p:nvSpPr>
        <p:spPr>
          <a:xfrm>
            <a:off x="731520" y="1728216"/>
            <a:ext cx="5074920" cy="1527048"/>
          </a:xfrm>
          <a:prstGeom prst="rect">
            <a:avLst/>
          </a:prstGeom>
          <a:noFill/>
          <a:ln/>
        </p:spPr>
        <p:txBody>
          <a:bodyPr wrap="square" lIns="0" tIns="0" rIns="0" bIns="0" rtlCol="0" anchor="t"/>
          <a:lstStyle/>
          <a:p>
            <a:pPr marL="0" indent="0">
              <a:spcAft>
                <a:spcPts val="400"/>
              </a:spcAft>
              <a:buNone/>
            </a:pPr>
            <a:r>
              <a:rPr lang="en-US" sz="2000" b="1" dirty="0">
                <a:solidFill>
                  <a:schemeClr val="bg1"/>
                </a:solidFill>
              </a:rPr>
              <a:t>Overfitting is variance. Underfitting is bias.</a:t>
            </a:r>
            <a:endParaRPr lang="en-US" sz="2000" dirty="0"/>
          </a:p>
          <a:p>
            <a:pPr marL="0" indent="0">
              <a:spcAft>
                <a:spcPts val="400"/>
              </a:spcAft>
              <a:buNone/>
            </a:pPr>
            <a:r>
              <a:rPr lang="en-US" sz="1800" dirty="0">
                <a:solidFill>
                  <a:schemeClr val="bg1"/>
                </a:solidFill>
              </a:rPr>
              <a:t>The strength α trades one for the other.</a:t>
            </a:r>
            <a:endParaRPr lang="en-US" sz="2000" dirty="0"/>
          </a:p>
        </p:txBody>
      </p:sp>
      <p:sp>
        <p:nvSpPr>
          <p:cNvPr id="6" name="card_294"/>
          <p:cNvSpPr/>
          <p:nvPr/>
        </p:nvSpPr>
        <p:spPr>
          <a:xfrm>
            <a:off x="6199632" y="1600200"/>
            <a:ext cx="5440680" cy="1783080"/>
          </a:xfrm>
          <a:prstGeom prst="roundRect">
            <a:avLst>
              <a:gd name="adj" fmla="val 4103"/>
            </a:avLst>
          </a:prstGeom>
          <a:solidFill>
            <a:schemeClr val="accent1"/>
          </a:solidFill>
          <a:ln/>
        </p:spPr>
        <p:txBody>
          <a:bodyPr/>
          <a:lstStyle/>
          <a:p>
            <a:endParaRPr lang="en-US"/>
          </a:p>
        </p:txBody>
      </p:sp>
      <p:sp>
        <p:nvSpPr>
          <p:cNvPr id="7" name="cardtext_295"/>
          <p:cNvSpPr txBox="1"/>
          <p:nvPr/>
        </p:nvSpPr>
        <p:spPr>
          <a:xfrm>
            <a:off x="6382512" y="1728216"/>
            <a:ext cx="5074920" cy="1527048"/>
          </a:xfrm>
          <a:prstGeom prst="rect">
            <a:avLst/>
          </a:prstGeom>
          <a:noFill/>
          <a:ln/>
        </p:spPr>
        <p:txBody>
          <a:bodyPr wrap="square" lIns="0" tIns="0" rIns="0" bIns="0" rtlCol="0" anchor="t"/>
          <a:lstStyle/>
          <a:p>
            <a:pPr marL="0" indent="0">
              <a:spcAft>
                <a:spcPts val="400"/>
              </a:spcAft>
              <a:buNone/>
            </a:pPr>
            <a:r>
              <a:rPr lang="en-US" sz="2000" b="1" dirty="0">
                <a:solidFill>
                  <a:schemeClr val="bg1"/>
                </a:solidFill>
              </a:rPr>
              <a:t>Ridge shrinks. Lasso shrinks and selects.</a:t>
            </a:r>
            <a:endParaRPr lang="en-US" sz="2000" dirty="0"/>
          </a:p>
          <a:p>
            <a:pPr marL="0" indent="0">
              <a:spcAft>
                <a:spcPts val="400"/>
              </a:spcAft>
              <a:buNone/>
            </a:pPr>
            <a:r>
              <a:rPr lang="en-US" sz="1800" dirty="0">
                <a:solidFill>
                  <a:schemeClr val="bg1"/>
                </a:solidFill>
              </a:rPr>
              <a:t>L2 keeps every feature; L1 sets some to exactly 0.</a:t>
            </a:r>
            <a:endParaRPr lang="en-US" sz="2000" dirty="0"/>
          </a:p>
        </p:txBody>
      </p:sp>
      <p:sp>
        <p:nvSpPr>
          <p:cNvPr id="8" name="card_296"/>
          <p:cNvSpPr/>
          <p:nvPr/>
        </p:nvSpPr>
        <p:spPr>
          <a:xfrm>
            <a:off x="548640" y="3566160"/>
            <a:ext cx="5440680" cy="1783080"/>
          </a:xfrm>
          <a:prstGeom prst="roundRect">
            <a:avLst>
              <a:gd name="adj" fmla="val 4103"/>
            </a:avLst>
          </a:prstGeom>
          <a:solidFill>
            <a:schemeClr val="accent1"/>
          </a:solidFill>
          <a:ln/>
        </p:spPr>
        <p:txBody>
          <a:bodyPr/>
          <a:lstStyle/>
          <a:p>
            <a:endParaRPr lang="en-US"/>
          </a:p>
        </p:txBody>
      </p:sp>
      <p:sp>
        <p:nvSpPr>
          <p:cNvPr id="9" name="cardtext_297"/>
          <p:cNvSpPr txBox="1"/>
          <p:nvPr/>
        </p:nvSpPr>
        <p:spPr>
          <a:xfrm>
            <a:off x="731520" y="3694176"/>
            <a:ext cx="5074920" cy="1527048"/>
          </a:xfrm>
          <a:prstGeom prst="rect">
            <a:avLst/>
          </a:prstGeom>
          <a:noFill/>
          <a:ln/>
        </p:spPr>
        <p:txBody>
          <a:bodyPr wrap="square" lIns="0" tIns="0" rIns="0" bIns="0" rtlCol="0" anchor="t"/>
          <a:lstStyle/>
          <a:p>
            <a:pPr marL="0" indent="0">
              <a:spcAft>
                <a:spcPts val="400"/>
              </a:spcAft>
              <a:buNone/>
            </a:pPr>
            <a:r>
              <a:rPr lang="en-US" sz="2000" b="1" dirty="0">
                <a:solidFill>
                  <a:schemeClr val="bg1"/>
                </a:solidFill>
              </a:rPr>
              <a:t>Scale, then tune α with cross-validation.</a:t>
            </a:r>
            <a:endParaRPr lang="en-US" sz="2000" dirty="0"/>
          </a:p>
          <a:p>
            <a:pPr marL="0" indent="0">
              <a:spcAft>
                <a:spcPts val="400"/>
              </a:spcAft>
              <a:buNone/>
            </a:pPr>
            <a:r>
              <a:rPr lang="en-US" sz="1800" dirty="0">
                <a:solidFill>
                  <a:schemeClr val="bg1"/>
                </a:solidFill>
              </a:rPr>
              <a:t>Use a Pipeline so scaling is learned from training folds only.</a:t>
            </a:r>
            <a:endParaRPr lang="en-US" sz="2000" dirty="0"/>
          </a:p>
        </p:txBody>
      </p:sp>
      <p:sp>
        <p:nvSpPr>
          <p:cNvPr id="10" name="card_298"/>
          <p:cNvSpPr/>
          <p:nvPr/>
        </p:nvSpPr>
        <p:spPr>
          <a:xfrm>
            <a:off x="6199632" y="3566160"/>
            <a:ext cx="5440680" cy="1783080"/>
          </a:xfrm>
          <a:prstGeom prst="roundRect">
            <a:avLst>
              <a:gd name="adj" fmla="val 4103"/>
            </a:avLst>
          </a:prstGeom>
          <a:solidFill>
            <a:schemeClr val="accent1"/>
          </a:solidFill>
          <a:ln/>
        </p:spPr>
        <p:txBody>
          <a:bodyPr/>
          <a:lstStyle/>
          <a:p>
            <a:endParaRPr lang="en-US"/>
          </a:p>
        </p:txBody>
      </p:sp>
      <p:sp>
        <p:nvSpPr>
          <p:cNvPr id="11" name="cardtext_299"/>
          <p:cNvSpPr txBox="1"/>
          <p:nvPr/>
        </p:nvSpPr>
        <p:spPr>
          <a:xfrm>
            <a:off x="6382512" y="3694176"/>
            <a:ext cx="5074920" cy="1527048"/>
          </a:xfrm>
          <a:prstGeom prst="rect">
            <a:avLst/>
          </a:prstGeom>
          <a:noFill/>
          <a:ln/>
        </p:spPr>
        <p:txBody>
          <a:bodyPr wrap="square" lIns="0" tIns="0" rIns="0" bIns="0" rtlCol="0" anchor="t"/>
          <a:lstStyle/>
          <a:p>
            <a:pPr marL="0" indent="0">
              <a:spcAft>
                <a:spcPts val="400"/>
              </a:spcAft>
              <a:buNone/>
            </a:pPr>
            <a:r>
              <a:rPr lang="en-US" sz="2000" b="1" dirty="0">
                <a:solidFill>
                  <a:schemeClr val="bg1"/>
                </a:solidFill>
              </a:rPr>
              <a:t>Simpler can be better.</a:t>
            </a:r>
            <a:endParaRPr lang="en-US" sz="2000" dirty="0"/>
          </a:p>
          <a:p>
            <a:pPr marL="0" indent="0">
              <a:spcAft>
                <a:spcPts val="400"/>
              </a:spcAft>
              <a:buNone/>
            </a:pPr>
            <a:r>
              <a:rPr lang="en-US" sz="1800" dirty="0">
                <a:solidFill>
                  <a:schemeClr val="bg1"/>
                </a:solidFill>
              </a:rPr>
              <a:t>A little bias buys a lot less variance, and a model that is easier to explain.</a:t>
            </a:r>
            <a:endParaRPr lang="en-US" sz="2000" dirty="0"/>
          </a:p>
        </p:txBody>
      </p:sp>
      <p:sp>
        <p:nvSpPr>
          <p:cNvPr id="12" name="chip_300"/>
          <p:cNvSpPr txBox="1"/>
          <p:nvPr/>
        </p:nvSpPr>
        <p:spPr>
          <a:xfrm>
            <a:off x="548640" y="5669280"/>
            <a:ext cx="11091672" cy="640080"/>
          </a:xfrm>
          <a:prstGeom prst="roundRect">
            <a:avLst>
              <a:gd name="adj" fmla="val 14286"/>
            </a:avLst>
          </a:prstGeom>
          <a:solidFill>
            <a:schemeClr val="accent2"/>
          </a:solidFill>
          <a:ln/>
        </p:spPr>
        <p:txBody>
          <a:bodyPr wrap="square" lIns="50800" tIns="50800" rIns="50800" bIns="50800" rtlCol="0" anchor="ctr"/>
          <a:lstStyle/>
          <a:p>
            <a:pPr marL="0" indent="0" algn="ctr">
              <a:buNone/>
            </a:pPr>
            <a:r>
              <a:rPr lang="en-US" sz="1800" b="1" dirty="0">
                <a:solidFill>
                  <a:schemeClr val="tx1"/>
                </a:solidFill>
              </a:rPr>
              <a:t>Next: hands-on lab</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526</TotalTime>
  <Words>3570</Words>
  <Application>Microsoft Office PowerPoint</Application>
  <PresentationFormat>Widescreen</PresentationFormat>
  <Paragraphs>475</Paragraphs>
  <Slides>30</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Aptos Display</vt:lpstr>
      <vt:lpstr>Arial</vt:lpstr>
      <vt:lpstr>Cambria Math</vt:lpstr>
      <vt:lpstr>Courier New</vt:lpstr>
      <vt:lpstr>Office Theme</vt:lpstr>
      <vt:lpstr>PowerPoint Presentation</vt:lpstr>
      <vt:lpstr>From choosing a model to controlling its complexity</vt:lpstr>
      <vt:lpstr>PowerPoint Presentation</vt:lpstr>
      <vt:lpstr>Linear regression: a weighted sum of features</vt:lpstr>
      <vt:lpstr>With many features, least squares overfits</vt:lpstr>
      <vt:lpstr>Bias and variance: two ways a model can be wrong</vt:lpstr>
      <vt:lpstr>Bias–variance in models you already know</vt:lpstr>
      <vt:lpstr>Interpretability vs. flexibility</vt:lpstr>
      <vt:lpstr>PowerPoint Presentation</vt:lpstr>
      <vt:lpstr>The big idea: fit the data, but pay for complexity</vt:lpstr>
      <vt:lpstr>PowerPoint Presentation</vt:lpstr>
      <vt:lpstr>PowerPoint Presentation</vt:lpstr>
      <vt:lpstr>Ridge regression (L2 penalty)</vt:lpstr>
      <vt:lpstr>Ridge in action: coefficients shrink as α grows</vt:lpstr>
      <vt:lpstr>Lasso regression (L1 penalty)</vt:lpstr>
      <vt:lpstr>Lasso in action: features drop out one by one</vt:lpstr>
      <vt:lpstr>Why does lasso give exact zeros?</vt:lpstr>
      <vt:lpstr>Ridge vs. lasso: which one, when?</vt:lpstr>
      <vt:lpstr>PowerPoint Presentation</vt:lpstr>
      <vt:lpstr>Scale first: the penalty is blind to units</vt:lpstr>
      <vt:lpstr>Choosing α with cross-validation</vt:lpstr>
      <vt:lpstr>When it pays off: many features, few rows</vt:lpstr>
      <vt:lpstr>α is the bias–variance dial</vt:lpstr>
      <vt:lpstr>Interpretation: what do the coefficients say?</vt:lpstr>
      <vt:lpstr>Regularization for classification: logistic regression</vt:lpstr>
      <vt:lpstr>Other roads in the chapter (a short tour)</vt:lpstr>
      <vt:lpstr>A practical recipe</vt:lpstr>
      <vt:lpstr>Pitfalls to avoid</vt:lpstr>
      <vt:lpstr>Which approach, and why?</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Alraee, Mais M</dc:creator>
  <cp:lastModifiedBy>Alraee, Mais M</cp:lastModifiedBy>
  <cp:revision>5</cp:revision>
  <dcterms:created xsi:type="dcterms:W3CDTF">2026-10-18T15:09:53Z</dcterms:created>
  <dcterms:modified xsi:type="dcterms:W3CDTF">2026-10-22T11:17:53Z</dcterms:modified>
</cp:coreProperties>
</file>